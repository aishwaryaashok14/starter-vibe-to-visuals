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f78250e23754e3a" /><Relationship Type="http://schemas.openxmlformats.org/officeDocument/2006/relationships/extended-properties" Target="/docProps/app.xml" Id="R9dbc66b33d8c4218" /><Relationship Type="http://schemas.openxmlformats.org/officeDocument/2006/relationships/officeDocument" Target="/ppt/presentation.xml" Id="R6ee0174badd14e6b" /></Relationships>
</file>

<file path=ppt/presentation.xml><?xml version="1.0" encoding="utf-8"?>
<p:presentation xmlns:p="http://schemas.openxmlformats.org/presentationml/2006/main">
  <p:sldMasterIdLst>
    <p:sldMasterId xmlns:r="http://schemas.openxmlformats.org/officeDocument/2006/relationships" id="2147483648" r:id="Rdc45dbe274114538"/>
  </p:sldMasterIdLst>
  <p:notesMasterIdLst>
    <p:notesMasterId xmlns:r="http://schemas.openxmlformats.org/officeDocument/2006/relationships" r:id="Rca932275c3354863"/>
  </p:notesMasterIdLst>
  <p:sldIdLst>
    <p:sldId xmlns:r="http://schemas.openxmlformats.org/officeDocument/2006/relationships" id="256" r:id="R5ffda56b726445b4"/>
    <p:sldId xmlns:r="http://schemas.openxmlformats.org/officeDocument/2006/relationships" id="257" r:id="R1862f094cdbc4d31"/>
    <p:sldId xmlns:r="http://schemas.openxmlformats.org/officeDocument/2006/relationships" id="258" r:id="R38ed5f6797174e44"/>
    <p:sldId xmlns:r="http://schemas.openxmlformats.org/officeDocument/2006/relationships" id="259" r:id="R4d5b484b1fa24f3a"/>
    <p:sldId xmlns:r="http://schemas.openxmlformats.org/officeDocument/2006/relationships" id="260" r:id="R7040c2c11af84d1c"/>
    <p:sldId xmlns:r="http://schemas.openxmlformats.org/officeDocument/2006/relationships" id="261" r:id="Re216c0d480794625"/>
    <p:sldId xmlns:r="http://schemas.openxmlformats.org/officeDocument/2006/relationships" id="262" r:id="Rca27598b5e914064"/>
    <p:sldId xmlns:r="http://schemas.openxmlformats.org/officeDocument/2006/relationships" id="263" r:id="R62659d6a04c24370"/>
    <p:sldId xmlns:r="http://schemas.openxmlformats.org/officeDocument/2006/relationships" id="264" r:id="Rb7005d2d993b44db"/>
    <p:sldId xmlns:r="http://schemas.openxmlformats.org/officeDocument/2006/relationships" id="265" r:id="R5325ddd0381f4299"/>
    <p:sldId xmlns:r="http://schemas.openxmlformats.org/officeDocument/2006/relationships" id="266" r:id="Rf0c5a1e659df4245"/>
    <p:sldId xmlns:r="http://schemas.openxmlformats.org/officeDocument/2006/relationships" id="267" r:id="R080a456268de4038"/>
    <p:sldId xmlns:r="http://schemas.openxmlformats.org/officeDocument/2006/relationships" id="268" r:id="R53bf2e57688248c2"/>
    <p:sldId xmlns:r="http://schemas.openxmlformats.org/officeDocument/2006/relationships" id="269" r:id="Rd272b93a29c445ce"/>
    <p:sldId xmlns:r="http://schemas.openxmlformats.org/officeDocument/2006/relationships" id="270" r:id="Rb169d886a3504c7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259917116ec4558" /><Relationship Type="http://schemas.openxmlformats.org/officeDocument/2006/relationships/slideMaster" Target="/ppt/slideMasters/slideMaster1.xml" Id="Rdc45dbe274114538" /><Relationship Type="http://schemas.openxmlformats.org/officeDocument/2006/relationships/notesMaster" Target="/ppt/notesMasters/notesMaster1.xml" Id="Rca932275c3354863" /><Relationship Type="http://schemas.openxmlformats.org/officeDocument/2006/relationships/presProps" Target="/ppt/presProps.xml" Id="R9d347dc1b17f4fa2" /><Relationship Type="http://schemas.openxmlformats.org/officeDocument/2006/relationships/tableStyles" Target="/ppt/tableStyles.xml" Id="Rd5fdb4804fcc4340" /><Relationship Type="http://schemas.openxmlformats.org/officeDocument/2006/relationships/slide" Target="/ppt/slides/slide1.xml" Id="R5ffda56b726445b4" /><Relationship Type="http://schemas.openxmlformats.org/officeDocument/2006/relationships/slide" Target="/ppt/slides/slide2.xml" Id="R1862f094cdbc4d31" /><Relationship Type="http://schemas.openxmlformats.org/officeDocument/2006/relationships/slide" Target="/ppt/slides/slide3.xml" Id="R38ed5f6797174e44" /><Relationship Type="http://schemas.openxmlformats.org/officeDocument/2006/relationships/slide" Target="/ppt/slides/slide4.xml" Id="R4d5b484b1fa24f3a" /><Relationship Type="http://schemas.openxmlformats.org/officeDocument/2006/relationships/slide" Target="/ppt/slides/slide5.xml" Id="R7040c2c11af84d1c" /><Relationship Type="http://schemas.openxmlformats.org/officeDocument/2006/relationships/slide" Target="/ppt/slides/slide6.xml" Id="Re216c0d480794625" /><Relationship Type="http://schemas.openxmlformats.org/officeDocument/2006/relationships/slide" Target="/ppt/slides/slide7.xml" Id="Rca27598b5e914064" /><Relationship Type="http://schemas.openxmlformats.org/officeDocument/2006/relationships/slide" Target="/ppt/slides/slide8.xml" Id="R62659d6a04c24370" /><Relationship Type="http://schemas.openxmlformats.org/officeDocument/2006/relationships/slide" Target="/ppt/slides/slide9.xml" Id="Rb7005d2d993b44db" /><Relationship Type="http://schemas.openxmlformats.org/officeDocument/2006/relationships/slide" Target="/ppt/slides/slide10.xml" Id="R5325ddd0381f4299" /><Relationship Type="http://schemas.openxmlformats.org/officeDocument/2006/relationships/slide" Target="/ppt/slides/slide11.xml" Id="Rf0c5a1e659df4245" /><Relationship Type="http://schemas.openxmlformats.org/officeDocument/2006/relationships/slide" Target="/ppt/slides/slide12.xml" Id="R080a456268de4038" /><Relationship Type="http://schemas.openxmlformats.org/officeDocument/2006/relationships/slide" Target="/ppt/slides/slide13.xml" Id="R53bf2e57688248c2" /><Relationship Type="http://schemas.openxmlformats.org/officeDocument/2006/relationships/slide" Target="/ppt/slides/slide14.xml" Id="Rd272b93a29c445ce" /><Relationship Type="http://schemas.openxmlformats.org/officeDocument/2006/relationships/slide" Target="/ppt/slides/slide15.xml" Id="Rb169d886a3504c7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eb2cd9dac5b487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0d3afca9fae4a85" /><Relationship Type="http://schemas.openxmlformats.org/officeDocument/2006/relationships/notesMaster" Target="/ppt/notesMasters/notesMaster1.xml" Id="Rac2cf40a40c340ff" /></Relationships>
</file>

<file path=ppt/notesSlides/_rels/notesSlide2.xml.rels>&#65279;<?xml version="1.0" encoding="utf-8"?><Relationships xmlns="http://schemas.openxmlformats.org/package/2006/relationships"><Relationship Type="http://schemas.openxmlformats.org/officeDocument/2006/relationships/slide" Target="/ppt/slides/slide2.xml" Id="R9fc5a02a417849f2" /><Relationship Type="http://schemas.openxmlformats.org/officeDocument/2006/relationships/notesMaster" Target="/ppt/notesMasters/notesMaster1.xml" Id="R257eae5445734624" /></Relationships>
</file>

<file path=ppt/notesSlides/_rels/notesSlide3.xml.rels>&#65279;<?xml version="1.0" encoding="utf-8"?><Relationships xmlns="http://schemas.openxmlformats.org/package/2006/relationships"><Relationship Type="http://schemas.openxmlformats.org/officeDocument/2006/relationships/slide" Target="/ppt/slides/slide3.xml" Id="Ra41b763b8e494153" /><Relationship Type="http://schemas.openxmlformats.org/officeDocument/2006/relationships/notesMaster" Target="/ppt/notesMasters/notesMaster1.xml" Id="R144cb6a4eda94a35" /></Relationships>
</file>

<file path=ppt/notesSlides/_rels/notesSlide4.xml.rels>&#65279;<?xml version="1.0" encoding="utf-8"?><Relationships xmlns="http://schemas.openxmlformats.org/package/2006/relationships"><Relationship Type="http://schemas.openxmlformats.org/officeDocument/2006/relationships/slide" Target="/ppt/slides/slide4.xml" Id="R26600f257463416c" /><Relationship Type="http://schemas.openxmlformats.org/officeDocument/2006/relationships/notesMaster" Target="/ppt/notesMasters/notesMaster1.xml" Id="R4fc558177bb1409e" /></Relationships>
</file>

<file path=ppt/notesSlides/_rels/notesSlide5.xml.rels>&#65279;<?xml version="1.0" encoding="utf-8"?><Relationships xmlns="http://schemas.openxmlformats.org/package/2006/relationships"><Relationship Type="http://schemas.openxmlformats.org/officeDocument/2006/relationships/slide" Target="/ppt/slides/slide5.xml" Id="Ra433f837ddaf4880" /><Relationship Type="http://schemas.openxmlformats.org/officeDocument/2006/relationships/notesMaster" Target="/ppt/notesMasters/notesMaster1.xml" Id="R91baabff2022477d" /></Relationships>
</file>

<file path=ppt/notesSlides/_rels/notesSlide6.xml.rels>&#65279;<?xml version="1.0" encoding="utf-8"?><Relationships xmlns="http://schemas.openxmlformats.org/package/2006/relationships"><Relationship Type="http://schemas.openxmlformats.org/officeDocument/2006/relationships/slide" Target="/ppt/slides/slide6.xml" Id="Rc0ec31b22d4a46ff" /><Relationship Type="http://schemas.openxmlformats.org/officeDocument/2006/relationships/notesMaster" Target="/ppt/notesMasters/notesMaster1.xml" Id="R141f184a98f04e05" /></Relationships>
</file>

<file path=ppt/notesSlides/_rels/notesSlide7.xml.rels>&#65279;<?xml version="1.0" encoding="utf-8"?><Relationships xmlns="http://schemas.openxmlformats.org/package/2006/relationships"><Relationship Type="http://schemas.openxmlformats.org/officeDocument/2006/relationships/slide" Target="/ppt/slides/slide7.xml" Id="Rfed2f1082f1c443c" /><Relationship Type="http://schemas.openxmlformats.org/officeDocument/2006/relationships/notesMaster" Target="/ppt/notesMasters/notesMaster1.xml" Id="R445b54c20839411b" /></Relationships>
</file>

<file path=ppt/notesSlides/_rels/notesSlide8.xml.rels>&#65279;<?xml version="1.0" encoding="utf-8"?><Relationships xmlns="http://schemas.openxmlformats.org/package/2006/relationships"><Relationship Type="http://schemas.openxmlformats.org/officeDocument/2006/relationships/slide" Target="/ppt/slides/slide8.xml" Id="R10baf87f06e740f7" /><Relationship Type="http://schemas.openxmlformats.org/officeDocument/2006/relationships/notesMaster" Target="/ppt/notesMasters/notesMaster1.xml" Id="R736cf7c6f10b46bb" /></Relationships>
</file>

<file path=ppt/notesSlides/_rels/notesSlide9.xml.rels>&#65279;<?xml version="1.0" encoding="utf-8"?><Relationships xmlns="http://schemas.openxmlformats.org/package/2006/relationships"><Relationship Type="http://schemas.openxmlformats.org/officeDocument/2006/relationships/slide" Target="/ppt/slides/slide9.xml" Id="R1631171a9d0d4896" /><Relationship Type="http://schemas.openxmlformats.org/officeDocument/2006/relationships/notesMaster" Target="/ppt/notesMasters/notesMaster1.xml" Id="Rdf68ecaf7dcb49c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252d62c321948d2" /><Relationship Type="http://schemas.openxmlformats.org/officeDocument/2006/relationships/notesMaster" Target="/ppt/notesMasters/notesMaster1.xml" Id="R75a65928131543a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76cd9d9b1c3456e" /><Relationship Type="http://schemas.openxmlformats.org/officeDocument/2006/relationships/notesMaster" Target="/ppt/notesMasters/notesMaster1.xml" Id="Rd4d41fc3e4344f8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e68b17a0c2f4936" /><Relationship Type="http://schemas.openxmlformats.org/officeDocument/2006/relationships/notesMaster" Target="/ppt/notesMasters/notesMaster1.xml" Id="R4e3621fb5f52428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a07dd049cf045db" /><Relationship Type="http://schemas.openxmlformats.org/officeDocument/2006/relationships/notesMaster" Target="/ppt/notesMasters/notesMaster1.xml" Id="Re1b6ff1dfcc345f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72533cc93584072" /><Relationship Type="http://schemas.openxmlformats.org/officeDocument/2006/relationships/notesMaster" Target="/ppt/notesMasters/notesMaster1.xml" Id="R7a813b7edcbb41c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0455378d5db4d78" /><Relationship Type="http://schemas.openxmlformats.org/officeDocument/2006/relationships/notesMaster" Target="/ppt/notesMasters/notesMaster1.xml" Id="R68e6c304eb0d474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0:00–0:01 — Open with the outcome: today the room will create one store and three connected artifacts. Keep the opening practical. Do not tour tools or front-load theory.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0:01–0:03 — Name the evidence gate: one Store Kit, one product-family reference, website, social image, short video or animatic, and consistency check. Finished means coherent, working, and saved together.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0:03–0:04 — Show one workflow and one evidence gate. ChatGPT Sites is the core website route. The supplied HTML stays in the recovery path. The Store Kit, product reference, dimensions, three-beat structure, and consistency check remain unchanged. Apply the two-minute switch rule if Sites or another optional tool is unavailable.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0:04–0:05 — Introduce Soft Hours as the instructor example and recovery route. The products have simple geometry, a fixed palette, and an explicit light rule. Promise: small objects for a slower evening. Avoid spa clichés, dried botanicals, all-beige minimalism, and luxury cosmetics styling.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0:05–0:08 — Compare a weak answer with a useful answer. Lifestyle products for Gen Z gives neither objects nor a moment. A timer, pen rest, and tray for students resetting a crowded desk before late study provides usable constraints. The taste boundary adds commercial position, one quality to preserve, and one thing to avoid.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0:08–0:15 — WATCH 2: Enter the Soft Hours inputs. BUILD 4: Students use the Project instructions or skill and receive three visual directions. CHECK 1: Confirm the routes differ in more than colour. Allow one revision. Recovery: use the Soft Hours Store Kit if setup or choice runs long.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0:15–0:16 — Ask students to choose and lock one direction. Confirm exactly three complete products inside one STORE-KIT.md. Students do not need pre-existing typography or photography knowledge because the routes explain the consequences before they choose.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0:16–0:26 — WATCH 2: Generate the complete Soft Hours product family. Name the identity checks: silhouette, material, colour, and count. BUILD 6: Students make one family image. CHECK 2: Partners point to all three Store Kit products and name any mismatch. Recovery: use a plain surface and one light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0:26–0:30 — Demonstrate the three-question test on the Soft Hours site. Payment processing, accounts, testimonials, and additional pages stay outside the core route. The goal is a coherent shopping flow that the room can 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0:30–0:46 — WATCH 3: In the ChatGPT Project, ask Sites to build the Soft Hours store from STORE-KIT.md and product-family.png. Test a product view, add one item, confirm the count and total, inspect mobile, and publish privately. BUILD 10: Students create and test their Sites. CHECK 3: A partner repeats the same checks. Recovery: if Sites is unavailable or a repair request fails, use website-starter/index.html with the same bounded prompt and omit publishing. New Sites remain private unless the student explicitly changes the audience.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0:46–0:58 — WATCH 3: Demonstrate the prompt-plus-reference social route. BUILD 7: Students may use the same route, Pomelli with a publicly accessible Sites URL, or a free editor such as Adobe Express. CHECK 2: Compare product identity and the approved social line against STORE-KIT.md and product-family.png. Do not change a private Site's audience only to keep pace with the class. If public sharing is not allowed, use another social route. Pomelli reference: https://blog.google/innovation-and-ai/models-and-research/google-labs/pomelli/ . Adobe Express plans: https://www.adobe.com/express/pricing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0:58–1:01 — Play the Soft Hours storyboard as three static frames first. Ask what new information appears at each beat. A moving poster does not count as progression. The core route is silent and lasts 6–8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1:01–1:13 — WATCH 2: Demonstrate one three-beat route. BUILD 8: Students may use Google Flow with reference images, assemble three stills in CapCut or Adobe Express, or replace the assets in the browser loop. CHECK 2: Play muted; a partner names the store, product, and ending. Preflight the exact Flow accounts because access and credits evolve; current official help describes daily non-subscriber credits, peak-hour limits, country availability, and a visible watermark in India. References: https://support.google.com/flow/answer/16526234?hl=en and https://support.google.com/flow/answer/16353544?hl=en . CapCut editor reference: https://www.capcut.com/features/free-ai-video-editor . Recovery: accept the browser loop or a three-frame animatic.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1:13–1:23 — WATCH 2: Find one deliberate mismatch and show how STORE-KIT.md or product-family.png identifies it. BUILD 6: Students score the three artifacts and repair the lowest item. CHECK 2: A partner verifies the repair. Stop after one meaningful change.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1:23–1:30 — Use the remaining time for 30-second shares and submission. If the room is slower, skip shares and preserve the evidence gate. Students save STORE-KIT.md, product-family.png, website, social image, video or animatic, and the completed consistency check together.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ca85caf177c4e0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f068b2765f549fb" /><Relationship Type="http://schemas.openxmlformats.org/officeDocument/2006/relationships/slideLayout" Target="/ppt/slideLayouts/slideLayout1.xml" Id="R39c145e209ad44d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9c145e209ad44d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a6eaaf683594cf9" /><Relationship Type="http://schemas.openxmlformats.org/officeDocument/2006/relationships/notesSlide" Target="/ppt/notesSlides/notesSlide1.xml" Id="R0e2359e189a74d9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986db4a69604298" /><Relationship Type="http://schemas.openxmlformats.org/officeDocument/2006/relationships/notesSlide" Target="/ppt/notesSlides/notesSlide2.xml" Id="Rf59788ef3e8e49d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dc66ea062e247dd" /><Relationship Type="http://schemas.openxmlformats.org/officeDocument/2006/relationships/notesSlide" Target="/ppt/notesSlides/notesSlide3.xml" Id="R2240bd66e77a4ce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4f0ed12a0d14232" /><Relationship Type="http://schemas.openxmlformats.org/officeDocument/2006/relationships/image" Target="/ppt/media/image.png" Id="R596e0573f49445c8" /><Relationship Type="http://schemas.openxmlformats.org/officeDocument/2006/relationships/notesSlide" Target="/ppt/notesSlides/notesSlide4.xml" Id="Rbdf528bb4c9e4ab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9d18ea191b444a9" /><Relationship Type="http://schemas.openxmlformats.org/officeDocument/2006/relationships/notesSlide" Target="/ppt/notesSlides/notesSlide5.xml" Id="Rad07362054d54f9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93f1184f32e4e03" /><Relationship Type="http://schemas.openxmlformats.org/officeDocument/2006/relationships/notesSlide" Target="/ppt/notesSlides/notesSlide6.xml" Id="R35477186b8d0458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c0fa453df024ef3" /><Relationship Type="http://schemas.openxmlformats.org/officeDocument/2006/relationships/notesSlide" Target="/ppt/notesSlides/notesSlide7.xml" Id="Rcbbea844b42b4fc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76786c2b3cf4e4d" /><Relationship Type="http://schemas.openxmlformats.org/officeDocument/2006/relationships/image" Target="/ppt/media/image2.png" Id="R35f2801ac6ec453d" /><Relationship Type="http://schemas.openxmlformats.org/officeDocument/2006/relationships/notesSlide" Target="/ppt/notesSlides/notesSlide8.xml" Id="Rdcbea6f7401f4ad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92b49d02ce44885" /><Relationship Type="http://schemas.openxmlformats.org/officeDocument/2006/relationships/image" Target="/ppt/media/image3.png" Id="R962ac0eef70b4be0" /><Relationship Type="http://schemas.openxmlformats.org/officeDocument/2006/relationships/notesSlide" Target="/ppt/notesSlides/notesSlide9.xml" Id="Re1888f1104c248f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83951fa77894a5a" /><Relationship Type="http://schemas.openxmlformats.org/officeDocument/2006/relationships/notesSlide" Target="/ppt/notesSlides/notesSlide10.xml" Id="R5ec0e34910a9488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68452e0925c4a0f" /><Relationship Type="http://schemas.openxmlformats.org/officeDocument/2006/relationships/image" Target="/ppt/media/image4.png" Id="R47a3671d274e407e" /><Relationship Type="http://schemas.openxmlformats.org/officeDocument/2006/relationships/notesSlide" Target="/ppt/notesSlides/notesSlide11.xml" Id="Rb7c2adfecc49492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8f3235d63e44db5" /><Relationship Type="http://schemas.openxmlformats.org/officeDocument/2006/relationships/image" Target="/ppt/media/image5.png" Id="R5574578ec9694865" /><Relationship Type="http://schemas.openxmlformats.org/officeDocument/2006/relationships/notesSlide" Target="/ppt/notesSlides/notesSlide12.xml" Id="R813a6d1cf55d455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281bae8d1914e8d" /><Relationship Type="http://schemas.openxmlformats.org/officeDocument/2006/relationships/image" Target="/ppt/media/image6.png" Id="R7eb9e14e81ff440a" /><Relationship Type="http://schemas.openxmlformats.org/officeDocument/2006/relationships/notesSlide" Target="/ppt/notesSlides/notesSlide13.xml" Id="Rce4d33c31529401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92880a3dfb846b2" /><Relationship Type="http://schemas.openxmlformats.org/officeDocument/2006/relationships/notesSlide" Target="/ppt/notesSlides/notesSlide14.xml" Id="R252d9a85c93e4b1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b96b0769ea84bac" /><Relationship Type="http://schemas.openxmlformats.org/officeDocument/2006/relationships/notesSlide" Target="/ppt/notesSlides/notesSlide15.xml" Id="R7aad1ff909334061" /></Relationships>
</file>

<file path=ppt/slides/slide1.xml><?xml version="1.0" encoding="utf-8"?>
<p:sld xmlns:p="http://schemas.openxmlformats.org/presentationml/2006/main">
  <p:cSld>
    <p:bg>
      <p:bgPr>
        <a:solidFill xmlns:a="http://schemas.openxmlformats.org/drawingml/2006/main">
          <a:srgbClr val="F5EDDD"/>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94F55D5-4EB5-4EC6-933F-10358BEDB200}"/>
              </a:ext>
            </a:extLst>
          </p:cNvPr>
          <p:cNvSpPr>
            <a:spLocks xmlns:a="http://schemas.openxmlformats.org/drawingml/2006/main" noGrp="1"/>
          </p:cNvSpPr>
          <p:nvPr/>
        </p:nvSpPr>
        <p:spPr>
          <a:xfrm xmlns:a="http://schemas.openxmlformats.org/drawingml/2006/main">
            <a:off x="7429500" y="0"/>
            <a:ext cx="4762500" cy="6858000"/>
          </a:xfrm>
          <a:prstGeom xmlns:a="http://schemas.openxmlformats.org/drawingml/2006/main" prst="rect">
            <a:avLst/>
          </a:prstGeom>
          <a:solidFill xmlns:a="http://schemas.openxmlformats.org/drawingml/2006/main">
            <a:srgbClr val="C9473D"/>
          </a:solidFill>
          <a:ln xmlns:a="http://schemas.openxmlformats.org/drawingml/2006/main" w="14288">
            <a:solidFill>
              <a:srgbClr val="C9473D"/>
            </a:solidFill>
          </a:ln>
        </p:spPr>
      </p:sp>
      <p:sp>
        <p:nvSpPr>
          <p:cNvPr id="2" name="">
            <a:extLst xmlns:a="http://schemas.openxmlformats.org/drawingml/2006/main">
              <a:ext uri="{FF2B5EF4-FFF2-40B4-BE49-F238E27FC236}">
                <a16:creationId xmlns:a16="http://schemas.microsoft.com/office/drawing/2014/main" id="{4AFCC5E2-8BBE-4E36-B2AB-EE99AA4AF439}"/>
              </a:ext>
            </a:extLst>
          </p:cNvPr>
          <p:cNvSpPr>
            <a:spLocks xmlns:a="http://schemas.openxmlformats.org/drawingml/2006/main" noGrp="1"/>
          </p:cNvSpPr>
          <p:nvPr/>
        </p:nvSpPr>
        <p:spPr>
          <a:xfrm xmlns:a="http://schemas.openxmlformats.org/drawingml/2006/main">
            <a:off x="723900" y="1428750"/>
            <a:ext cx="65722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6450" b="1" i="0">
                <a:solidFill>
                  <a:srgbClr val="2B241A"/>
                </a:solidFill>
                <a:latin typeface="Georgia"/>
                <a:ea typeface="Georgia"/>
                <a:cs typeface="Georgia"/>
              </a:defRPr>
            </a:pPr>
            <a:r>
              <a:rPr sz="6450" b="1" i="0">
                <a:solidFill>
                  <a:srgbClr val="2B241A"/>
                </a:solidFill>
                <a:latin typeface="Georgia"/>
                <a:ea typeface="Georgia"/>
                <a:cs typeface="Georgia"/>
              </a:rPr>
              <a:t>Vibe to</a:t>
            </a:r>
          </a:p>
          <a:p xmlns:a="http://schemas.openxmlformats.org/drawingml/2006/main">
            <a:pPr algn="l">
              <a:buNone/>
              <a:defRPr sz="6450" b="1" i="0">
                <a:solidFill>
                  <a:srgbClr val="2B241A"/>
                </a:solidFill>
                <a:latin typeface="Georgia"/>
                <a:ea typeface="Georgia"/>
                <a:cs typeface="Georgia"/>
              </a:defRPr>
            </a:pPr>
            <a:r>
              <a:rPr sz="6450" b="1" i="0">
                <a:solidFill>
                  <a:srgbClr val="2B241A"/>
                </a:solidFill>
                <a:latin typeface="Georgia"/>
                <a:ea typeface="Georgia"/>
                <a:cs typeface="Georgia"/>
              </a:rPr>
              <a:t>Visuals</a:t>
            </a:r>
          </a:p>
        </p:txBody>
      </p:sp>
      <p:sp>
        <p:nvSpPr>
          <p:cNvPr id="3" name="">
            <a:extLst xmlns:a="http://schemas.openxmlformats.org/drawingml/2006/main">
              <a:ext uri="{FF2B5EF4-FFF2-40B4-BE49-F238E27FC236}">
                <a16:creationId xmlns:a16="http://schemas.microsoft.com/office/drawing/2014/main" id="{949F93EE-6EDD-465F-8200-5291BD19C6B2}"/>
              </a:ext>
            </a:extLst>
          </p:cNvPr>
          <p:cNvSpPr>
            <a:spLocks xmlns:a="http://schemas.openxmlformats.org/drawingml/2006/main" noGrp="1"/>
          </p:cNvSpPr>
          <p:nvPr/>
        </p:nvSpPr>
        <p:spPr>
          <a:xfrm xmlns:a="http://schemas.openxmlformats.org/drawingml/2006/main">
            <a:off x="781050" y="3714750"/>
            <a:ext cx="5429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025" b="1" i="0">
                <a:solidFill>
                  <a:srgbClr val="315E82"/>
                </a:solidFill>
                <a:latin typeface="Avenir Next"/>
                <a:ea typeface="Avenir Next"/>
                <a:cs typeface="Avenir Next"/>
              </a:defRPr>
            </a:pPr>
            <a:r>
              <a:rPr sz="2025" b="1" i="0">
                <a:solidFill>
                  <a:srgbClr val="315E82"/>
                </a:solidFill>
                <a:latin typeface="Avenir Next"/>
                <a:ea typeface="Avenir Next"/>
                <a:cs typeface="Avenir Next"/>
              </a:rPr>
              <a:t>A live build-along workshop</a:t>
            </a:r>
          </a:p>
        </p:txBody>
      </p:sp>
      <p:sp>
        <p:nvSpPr>
          <p:cNvPr id="4" name="">
            <a:extLst xmlns:a="http://schemas.openxmlformats.org/drawingml/2006/main">
              <a:ext uri="{FF2B5EF4-FFF2-40B4-BE49-F238E27FC236}">
                <a16:creationId xmlns:a16="http://schemas.microsoft.com/office/drawing/2014/main" id="{7378F560-4D77-4578-AF03-F56EA70DB982}"/>
              </a:ext>
            </a:extLst>
          </p:cNvPr>
          <p:cNvSpPr>
            <a:spLocks xmlns:a="http://schemas.openxmlformats.org/drawingml/2006/main" noGrp="1"/>
          </p:cNvSpPr>
          <p:nvPr/>
        </p:nvSpPr>
        <p:spPr>
          <a:xfrm xmlns:a="http://schemas.openxmlformats.org/drawingml/2006/main">
            <a:off x="781050" y="4267200"/>
            <a:ext cx="5429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50" b="0" i="0">
                <a:solidFill>
                  <a:srgbClr val="6A6054"/>
                </a:solidFill>
                <a:latin typeface="Avenir Next"/>
                <a:ea typeface="Avenir Next"/>
                <a:cs typeface="Avenir Next"/>
              </a:defRPr>
            </a:pPr>
            <a:r>
              <a:rPr sz="1650" b="0" i="0">
                <a:solidFill>
                  <a:srgbClr val="6A6054"/>
                </a:solidFill>
                <a:latin typeface="Avenir Next"/>
                <a:ea typeface="Avenir Next"/>
                <a:cs typeface="Avenir Next"/>
              </a:rPr>
              <a:t>One idea becomes a website, a social image, and a short video.</a:t>
            </a:r>
          </a:p>
        </p:txBody>
      </p:sp>
      <p:sp>
        <p:nvSpPr>
          <p:cNvPr id="5" name="">
            <a:extLst xmlns:a="http://schemas.openxmlformats.org/drawingml/2006/main">
              <a:ext uri="{FF2B5EF4-FFF2-40B4-BE49-F238E27FC236}">
                <a16:creationId xmlns:a16="http://schemas.microsoft.com/office/drawing/2014/main" id="{BA89CE14-A5E8-4EB4-892D-2FF407FB3624}"/>
              </a:ext>
            </a:extLst>
          </p:cNvPr>
          <p:cNvSpPr>
            <a:spLocks xmlns:a="http://schemas.openxmlformats.org/drawingml/2006/main" noGrp="1"/>
          </p:cNvSpPr>
          <p:nvPr/>
        </p:nvSpPr>
        <p:spPr>
          <a:xfrm xmlns:a="http://schemas.openxmlformats.org/drawingml/2006/main">
            <a:off x="8096250" y="1219200"/>
            <a:ext cx="3143250" cy="1809750"/>
          </a:xfrm>
          <a:prstGeom xmlns:a="http://schemas.openxmlformats.org/drawingml/2006/main" prst="roundRect">
            <a:avLst>
              <a:gd name="adj" fmla="val 4211"/>
            </a:avLst>
          </a:prstGeom>
          <a:solidFill xmlns:a="http://schemas.openxmlformats.org/drawingml/2006/main">
            <a:srgbClr val="FFFDF8"/>
          </a:solidFill>
          <a:ln xmlns:a="http://schemas.openxmlformats.org/drawingml/2006/main" w="14288">
            <a:solidFill>
              <a:srgbClr val="2B241A"/>
            </a:solidFill>
          </a:ln>
        </p:spPr>
      </p:sp>
      <p:sp>
        <p:nvSpPr>
          <p:cNvPr id="6" name="">
            <a:extLst xmlns:a="http://schemas.openxmlformats.org/drawingml/2006/main">
              <a:ext uri="{FF2B5EF4-FFF2-40B4-BE49-F238E27FC236}">
                <a16:creationId xmlns:a16="http://schemas.microsoft.com/office/drawing/2014/main" id="{BC650B38-E3DD-434D-828B-0BD05A8AA312}"/>
              </a:ext>
            </a:extLst>
          </p:cNvPr>
          <p:cNvSpPr>
            <a:spLocks xmlns:a="http://schemas.openxmlformats.org/drawingml/2006/main" noGrp="1"/>
          </p:cNvSpPr>
          <p:nvPr/>
        </p:nvSpPr>
        <p:spPr>
          <a:xfrm xmlns:a="http://schemas.openxmlformats.org/drawingml/2006/main">
            <a:off x="8334375" y="1524000"/>
            <a:ext cx="1809750" cy="171450"/>
          </a:xfrm>
          <a:prstGeom xmlns:a="http://schemas.openxmlformats.org/drawingml/2006/main" prst="roundRect">
            <a:avLst>
              <a:gd name="adj" fmla="val 44444"/>
            </a:avLst>
          </a:prstGeom>
          <a:solidFill xmlns:a="http://schemas.openxmlformats.org/drawingml/2006/main">
            <a:srgbClr val="2B241A"/>
          </a:solidFill>
          <a:ln xmlns:a="http://schemas.openxmlformats.org/drawingml/2006/main" w="14288">
            <a:solidFill>
              <a:srgbClr val="2B241A"/>
            </a:solidFill>
          </a:ln>
        </p:spPr>
      </p:sp>
      <p:sp>
        <p:nvSpPr>
          <p:cNvPr id="7" name="">
            <a:extLst xmlns:a="http://schemas.openxmlformats.org/drawingml/2006/main">
              <a:ext uri="{FF2B5EF4-FFF2-40B4-BE49-F238E27FC236}">
                <a16:creationId xmlns:a16="http://schemas.microsoft.com/office/drawing/2014/main" id="{DD705281-427C-4904-8CE0-D826D910C3D8}"/>
              </a:ext>
            </a:extLst>
          </p:cNvPr>
          <p:cNvSpPr>
            <a:spLocks xmlns:a="http://schemas.openxmlformats.org/drawingml/2006/main" noGrp="1"/>
          </p:cNvSpPr>
          <p:nvPr/>
        </p:nvSpPr>
        <p:spPr>
          <a:xfrm xmlns:a="http://schemas.openxmlformats.org/drawingml/2006/main">
            <a:off x="8334375" y="1847850"/>
            <a:ext cx="2381250" cy="95250"/>
          </a:xfrm>
          <a:prstGeom xmlns:a="http://schemas.openxmlformats.org/drawingml/2006/main" prst="roundRect">
            <a:avLst>
              <a:gd name="adj" fmla="val 50000"/>
            </a:avLst>
          </a:prstGeom>
          <a:solidFill xmlns:a="http://schemas.openxmlformats.org/drawingml/2006/main">
            <a:srgbClr val="C8DCE8"/>
          </a:solidFill>
          <a:ln xmlns:a="http://schemas.openxmlformats.org/drawingml/2006/main" w="14288">
            <a:solidFill>
              <a:srgbClr val="C8DCE8"/>
            </a:solidFill>
          </a:ln>
        </p:spPr>
      </p:sp>
      <p:sp>
        <p:nvSpPr>
          <p:cNvPr id="8" name="">
            <a:extLst xmlns:a="http://schemas.openxmlformats.org/drawingml/2006/main">
              <a:ext uri="{FF2B5EF4-FFF2-40B4-BE49-F238E27FC236}">
                <a16:creationId xmlns:a16="http://schemas.microsoft.com/office/drawing/2014/main" id="{93C23109-2EBF-491D-B0DF-1D177F923C0F}"/>
              </a:ext>
            </a:extLst>
          </p:cNvPr>
          <p:cNvSpPr>
            <a:spLocks xmlns:a="http://schemas.openxmlformats.org/drawingml/2006/main" noGrp="1"/>
          </p:cNvSpPr>
          <p:nvPr/>
        </p:nvSpPr>
        <p:spPr>
          <a:xfrm xmlns:a="http://schemas.openxmlformats.org/drawingml/2006/main">
            <a:off x="8334375" y="2095500"/>
            <a:ext cx="2095500" cy="95250"/>
          </a:xfrm>
          <a:prstGeom xmlns:a="http://schemas.openxmlformats.org/drawingml/2006/main" prst="roundRect">
            <a:avLst>
              <a:gd name="adj" fmla="val 50000"/>
            </a:avLst>
          </a:prstGeom>
          <a:solidFill xmlns:a="http://schemas.openxmlformats.org/drawingml/2006/main">
            <a:srgbClr val="C8DCE8"/>
          </a:solidFill>
          <a:ln xmlns:a="http://schemas.openxmlformats.org/drawingml/2006/main" w="14288">
            <a:solidFill>
              <a:srgbClr val="C8DCE8"/>
            </a:solidFill>
          </a:ln>
        </p:spPr>
      </p:sp>
      <p:sp>
        <p:nvSpPr>
          <p:cNvPr id="9" name="">
            <a:extLst xmlns:a="http://schemas.openxmlformats.org/drawingml/2006/main">
              <a:ext uri="{FF2B5EF4-FFF2-40B4-BE49-F238E27FC236}">
                <a16:creationId xmlns:a16="http://schemas.microsoft.com/office/drawing/2014/main" id="{E369FE85-41F8-4B4B-98D9-A12D9DC333A1}"/>
              </a:ext>
            </a:extLst>
          </p:cNvPr>
          <p:cNvSpPr>
            <a:spLocks xmlns:a="http://schemas.openxmlformats.org/drawingml/2006/main" noGrp="1"/>
          </p:cNvSpPr>
          <p:nvPr/>
        </p:nvSpPr>
        <p:spPr>
          <a:xfrm xmlns:a="http://schemas.openxmlformats.org/drawingml/2006/main">
            <a:off x="8334375" y="2400300"/>
            <a:ext cx="1066800" cy="323850"/>
          </a:xfrm>
          <a:prstGeom xmlns:a="http://schemas.openxmlformats.org/drawingml/2006/main" prst="roundRect">
            <a:avLst>
              <a:gd name="adj" fmla="val 23529"/>
            </a:avLst>
          </a:prstGeom>
          <a:solidFill xmlns:a="http://schemas.openxmlformats.org/drawingml/2006/main">
            <a:srgbClr val="BDD4BD"/>
          </a:solidFill>
          <a:ln xmlns:a="http://schemas.openxmlformats.org/drawingml/2006/main" w="14288">
            <a:solidFill>
              <a:srgbClr val="BDD4BD"/>
            </a:solidFill>
          </a:ln>
        </p:spPr>
      </p:sp>
      <p:sp>
        <p:nvSpPr>
          <p:cNvPr id="10" name="">
            <a:extLst xmlns:a="http://schemas.openxmlformats.org/drawingml/2006/main">
              <a:ext uri="{FF2B5EF4-FFF2-40B4-BE49-F238E27FC236}">
                <a16:creationId xmlns:a16="http://schemas.microsoft.com/office/drawing/2014/main" id="{1FE5152B-84A5-4DD6-BEBB-2F7CB0182EE4}"/>
              </a:ext>
            </a:extLst>
          </p:cNvPr>
          <p:cNvSpPr>
            <a:spLocks xmlns:a="http://schemas.openxmlformats.org/drawingml/2006/main" noGrp="1"/>
          </p:cNvSpPr>
          <p:nvPr/>
        </p:nvSpPr>
        <p:spPr>
          <a:xfrm xmlns:a="http://schemas.openxmlformats.org/drawingml/2006/main">
            <a:off x="7981950" y="3429000"/>
            <a:ext cx="1657350" cy="1657350"/>
          </a:xfrm>
          <a:prstGeom xmlns:a="http://schemas.openxmlformats.org/drawingml/2006/main" prst="roundRect">
            <a:avLst>
              <a:gd name="adj" fmla="val 4598"/>
            </a:avLst>
          </a:prstGeom>
          <a:solidFill xmlns:a="http://schemas.openxmlformats.org/drawingml/2006/main">
            <a:srgbClr val="E8D98E"/>
          </a:solidFill>
          <a:ln xmlns:a="http://schemas.openxmlformats.org/drawingml/2006/main" w="14288">
            <a:solidFill>
              <a:srgbClr val="2B241A"/>
            </a:solidFill>
          </a:ln>
        </p:spPr>
      </p:sp>
      <p:sp>
        <p:nvSpPr>
          <p:cNvPr id="11" name="">
            <a:extLst xmlns:a="http://schemas.openxmlformats.org/drawingml/2006/main">
              <a:ext uri="{FF2B5EF4-FFF2-40B4-BE49-F238E27FC236}">
                <a16:creationId xmlns:a16="http://schemas.microsoft.com/office/drawing/2014/main" id="{D64CBAB3-BF94-4BDE-834B-6A3A077C0DCB}"/>
              </a:ext>
            </a:extLst>
          </p:cNvPr>
          <p:cNvSpPr>
            <a:spLocks xmlns:a="http://schemas.openxmlformats.org/drawingml/2006/main" noGrp="1"/>
          </p:cNvSpPr>
          <p:nvPr/>
        </p:nvSpPr>
        <p:spPr>
          <a:xfrm xmlns:a="http://schemas.openxmlformats.org/drawingml/2006/main">
            <a:off x="8115300" y="3857625"/>
            <a:ext cx="13906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i="0">
                <a:solidFill>
                  <a:srgbClr val="2B241A"/>
                </a:solidFill>
                <a:latin typeface="Georgia"/>
                <a:ea typeface="Georgia"/>
                <a:cs typeface="Georgia"/>
              </a:defRPr>
            </a:pPr>
            <a:r>
              <a:rPr sz="1650" b="1" i="0">
                <a:solidFill>
                  <a:srgbClr val="2B241A"/>
                </a:solidFill>
                <a:latin typeface="Georgia"/>
                <a:ea typeface="Georgia"/>
                <a:cs typeface="Georgia"/>
              </a:rPr>
              <a:t>ONE</a:t>
            </a:r>
          </a:p>
          <a:p xmlns:a="http://schemas.openxmlformats.org/drawingml/2006/main">
            <a:pPr algn="ctr">
              <a:buNone/>
              <a:defRPr sz="1650" b="1" i="0">
                <a:solidFill>
                  <a:srgbClr val="2B241A"/>
                </a:solidFill>
                <a:latin typeface="Georgia"/>
                <a:ea typeface="Georgia"/>
                <a:cs typeface="Georgia"/>
              </a:defRPr>
            </a:pPr>
            <a:r>
              <a:rPr sz="1650" b="1" i="0">
                <a:solidFill>
                  <a:srgbClr val="2B241A"/>
                </a:solidFill>
                <a:latin typeface="Georgia"/>
                <a:ea typeface="Georgia"/>
                <a:cs typeface="Georgia"/>
              </a:rPr>
              <a:t>MESSAGE</a:t>
            </a:r>
          </a:p>
        </p:txBody>
      </p:sp>
      <p:sp>
        <p:nvSpPr>
          <p:cNvPr id="12" name="">
            <a:extLst xmlns:a="http://schemas.openxmlformats.org/drawingml/2006/main">
              <a:ext uri="{FF2B5EF4-FFF2-40B4-BE49-F238E27FC236}">
                <a16:creationId xmlns:a16="http://schemas.microsoft.com/office/drawing/2014/main" id="{9D2B5DF5-D853-4265-A31F-83294A4841A8}"/>
              </a:ext>
            </a:extLst>
          </p:cNvPr>
          <p:cNvSpPr>
            <a:spLocks xmlns:a="http://schemas.openxmlformats.org/drawingml/2006/main" noGrp="1"/>
          </p:cNvSpPr>
          <p:nvPr/>
        </p:nvSpPr>
        <p:spPr>
          <a:xfrm xmlns:a="http://schemas.openxmlformats.org/drawingml/2006/main">
            <a:off x="9829800" y="3429000"/>
            <a:ext cx="1657350" cy="1657350"/>
          </a:xfrm>
          <a:prstGeom xmlns:a="http://schemas.openxmlformats.org/drawingml/2006/main" prst="roundRect">
            <a:avLst>
              <a:gd name="adj" fmla="val 4598"/>
            </a:avLst>
          </a:prstGeom>
          <a:solidFill xmlns:a="http://schemas.openxmlformats.org/drawingml/2006/main">
            <a:srgbClr val="2B241A"/>
          </a:solidFill>
          <a:ln xmlns:a="http://schemas.openxmlformats.org/drawingml/2006/main" w="14288">
            <a:solidFill>
              <a:srgbClr val="2B241A"/>
            </a:solidFill>
          </a:ln>
        </p:spPr>
      </p:sp>
      <p:sp>
        <p:nvSpPr>
          <p:cNvPr id="13" name="">
            <a:extLst xmlns:a="http://schemas.openxmlformats.org/drawingml/2006/main">
              <a:ext uri="{FF2B5EF4-FFF2-40B4-BE49-F238E27FC236}">
                <a16:creationId xmlns:a16="http://schemas.microsoft.com/office/drawing/2014/main" id="{9C487A00-9F53-4216-A965-8F3E601B34D3}"/>
              </a:ext>
            </a:extLst>
          </p:cNvPr>
          <p:cNvSpPr>
            <a:spLocks xmlns:a="http://schemas.openxmlformats.org/drawingml/2006/main" noGrp="1"/>
          </p:cNvSpPr>
          <p:nvPr/>
        </p:nvSpPr>
        <p:spPr>
          <a:xfrm xmlns:a="http://schemas.openxmlformats.org/drawingml/2006/main">
            <a:off x="10029825" y="3667125"/>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350" b="1" i="0">
                <a:solidFill>
                  <a:srgbClr val="FFFDF8"/>
                </a:solidFill>
                <a:latin typeface="Menlo"/>
                <a:ea typeface="Menlo"/>
                <a:cs typeface="Menlo"/>
              </a:defRPr>
            </a:pPr>
            <a:r>
              <a:rPr sz="1350" b="1" i="0">
                <a:solidFill>
                  <a:srgbClr val="FFFDF8"/>
                </a:solidFill>
                <a:latin typeface="Menlo"/>
                <a:ea typeface="Menlo"/>
                <a:cs typeface="Menlo"/>
              </a:rPr>
              <a:t>0:08</a:t>
            </a:r>
          </a:p>
        </p:txBody>
      </p:sp>
      <p:sp>
        <p:nvSpPr>
          <p:cNvPr id="14" name="">
            <a:extLst xmlns:a="http://schemas.openxmlformats.org/drawingml/2006/main">
              <a:ext uri="{FF2B5EF4-FFF2-40B4-BE49-F238E27FC236}">
                <a16:creationId xmlns:a16="http://schemas.microsoft.com/office/drawing/2014/main" id="{C5D62F93-7EDE-4D74-B6C1-154EFDEC9EC1}"/>
              </a:ext>
            </a:extLst>
          </p:cNvPr>
          <p:cNvSpPr>
            <a:spLocks xmlns:a="http://schemas.openxmlformats.org/drawingml/2006/main" noGrp="1"/>
          </p:cNvSpPr>
          <p:nvPr/>
        </p:nvSpPr>
        <p:spPr>
          <a:xfrm xmlns:a="http://schemas.openxmlformats.org/drawingml/2006/main">
            <a:off x="10306050" y="4171950"/>
            <a:ext cx="685800" cy="47625"/>
          </a:xfrm>
          <a:prstGeom xmlns:a="http://schemas.openxmlformats.org/drawingml/2006/main" prst="roundRect">
            <a:avLst>
              <a:gd name="adj" fmla="val 50000"/>
            </a:avLst>
          </a:prstGeom>
          <a:solidFill xmlns:a="http://schemas.openxmlformats.org/drawingml/2006/main">
            <a:srgbClr val="FFFDF8"/>
          </a:solidFill>
          <a:ln xmlns:a="http://schemas.openxmlformats.org/drawingml/2006/main" w="14288">
            <a:solidFill>
              <a:srgbClr val="FFFDF8"/>
            </a:solidFill>
          </a:ln>
        </p:spPr>
      </p:sp>
      <p:sp>
        <p:nvSpPr>
          <p:cNvPr id="15" name="">
            <a:extLst xmlns:a="http://schemas.openxmlformats.org/drawingml/2006/main">
              <a:ext uri="{FF2B5EF4-FFF2-40B4-BE49-F238E27FC236}">
                <a16:creationId xmlns:a16="http://schemas.microsoft.com/office/drawing/2014/main" id="{73E2DC50-EAAB-4BB4-8107-09A002B00DA5}"/>
              </a:ext>
            </a:extLst>
          </p:cNvPr>
          <p:cNvSpPr>
            <a:spLocks xmlns:a="http://schemas.openxmlformats.org/drawingml/2006/main" noGrp="1"/>
          </p:cNvSpPr>
          <p:nvPr/>
        </p:nvSpPr>
        <p:spPr>
          <a:xfrm xmlns:a="http://schemas.openxmlformats.org/drawingml/2006/main">
            <a:off x="10610850" y="3971925"/>
            <a:ext cx="76200" cy="457200"/>
          </a:xfrm>
          <a:prstGeom xmlns:a="http://schemas.openxmlformats.org/drawingml/2006/main" prst="roundRect">
            <a:avLst>
              <a:gd name="adj" fmla="val 50000"/>
            </a:avLst>
          </a:prstGeom>
          <a:solidFill xmlns:a="http://schemas.openxmlformats.org/drawingml/2006/main">
            <a:srgbClr val="FFFDF8"/>
          </a:solidFill>
          <a:ln xmlns:a="http://schemas.openxmlformats.org/drawingml/2006/main" w="14288">
            <a:solidFill>
              <a:srgbClr val="FFFDF8"/>
            </a:solidFill>
          </a:ln>
        </p:spPr>
      </p:sp>
    </p:spTree>
    <p:extLst>
      <p:ext uri="{BB962C8B-B14F-4D97-AF65-F5344CB8AC3E}">
        <p14:creationId xmlns:p14="http://schemas.microsoft.com/office/powerpoint/2010/main" val="1812061513"/>
      </p:ext>
    </p:extLst>
  </p:cSld>
</p:sld>
</file>

<file path=ppt/slides/slide2.xml><?xml version="1.0" encoding="utf-8"?>
<p:sld xmlns:p="http://schemas.openxmlformats.org/presentationml/2006/main">
  <p:cSld>
    <p:bg>
      <p:bgPr>
        <a:solidFill xmlns:a="http://schemas.openxmlformats.org/drawingml/2006/main">
          <a:srgbClr val="F5EDDD"/>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09756F83-2BA5-4145-8D90-6E6738097AC8}"/>
              </a:ext>
            </a:extLst>
          </p:cNvPr>
          <p:cNvSpPr>
            <a:spLocks xmlns:a="http://schemas.openxmlformats.org/drawingml/2006/main" noGrp="1"/>
          </p:cNvSpPr>
          <p:nvPr/>
        </p:nvSpPr>
        <p:spPr>
          <a:xfrm xmlns:a="http://schemas.openxmlformats.org/drawingml/2006/main">
            <a:off x="723900" y="514350"/>
            <a:ext cx="10744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3000" b="1" i="0">
                <a:solidFill>
                  <a:srgbClr val="2B241A"/>
                </a:solidFill>
                <a:latin typeface="Georgia"/>
                <a:ea typeface="Georgia"/>
                <a:cs typeface="Georgia"/>
              </a:defRPr>
            </a:pPr>
            <a:r>
              <a:rPr sz="3000" b="1" i="0">
                <a:solidFill>
                  <a:srgbClr val="2B241A"/>
                </a:solidFill>
                <a:latin typeface="Georgia"/>
                <a:ea typeface="Georgia"/>
                <a:cs typeface="Georgia"/>
              </a:rPr>
              <a:t>Today’s finish line</a:t>
            </a:r>
          </a:p>
        </p:txBody>
      </p:sp>
      <p:sp>
        <p:nvSpPr>
          <p:cNvPr id="2" name="">
            <a:extLst xmlns:a="http://schemas.openxmlformats.org/drawingml/2006/main">
              <a:ext uri="{FF2B5EF4-FFF2-40B4-BE49-F238E27FC236}">
                <a16:creationId xmlns:a16="http://schemas.microsoft.com/office/drawing/2014/main" id="{60299659-E33D-4F51-A390-9E42BA85DE4D}"/>
              </a:ext>
            </a:extLst>
          </p:cNvPr>
          <p:cNvSpPr>
            <a:spLocks xmlns:a="http://schemas.openxmlformats.org/drawingml/2006/main" noGrp="1"/>
          </p:cNvSpPr>
          <p:nvPr/>
        </p:nvSpPr>
        <p:spPr>
          <a:xfrm xmlns:a="http://schemas.openxmlformats.org/drawingml/2006/main">
            <a:off x="742950" y="1257300"/>
            <a:ext cx="1000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i="0">
                <a:solidFill>
                  <a:srgbClr val="6A6054"/>
                </a:solidFill>
                <a:latin typeface="Avenir Next"/>
                <a:ea typeface="Avenir Next"/>
                <a:cs typeface="Avenir Next"/>
              </a:defRPr>
            </a:pPr>
            <a:r>
              <a:rPr sz="1350" b="0" i="0">
                <a:solidFill>
                  <a:srgbClr val="6A6054"/>
                </a:solidFill>
                <a:latin typeface="Avenir Next"/>
                <a:ea typeface="Avenir Next"/>
                <a:cs typeface="Avenir Next"/>
              </a:rPr>
              <a:t>Three usable outputs and one small system that keeps them consistent</a:t>
            </a:r>
          </a:p>
        </p:txBody>
      </p:sp>
      <p:sp>
        <p:nvSpPr>
          <p:cNvPr id="3" name="">
            <a:extLst xmlns:a="http://schemas.openxmlformats.org/drawingml/2006/main">
              <a:ext uri="{FF2B5EF4-FFF2-40B4-BE49-F238E27FC236}">
                <a16:creationId xmlns:a16="http://schemas.microsoft.com/office/drawing/2014/main" id="{619D5CD6-882E-4EFF-AD3B-78E503257BAC}"/>
              </a:ext>
            </a:extLst>
          </p:cNvPr>
          <p:cNvSpPr>
            <a:spLocks xmlns:a="http://schemas.openxmlformats.org/drawingml/2006/main" noGrp="1"/>
          </p:cNvSpPr>
          <p:nvPr/>
        </p:nvSpPr>
        <p:spPr>
          <a:xfrm xmlns:a="http://schemas.openxmlformats.org/drawingml/2006/main">
            <a:off x="723900" y="2095500"/>
            <a:ext cx="3257550" cy="2647950"/>
          </a:xfrm>
          <a:prstGeom xmlns:a="http://schemas.openxmlformats.org/drawingml/2006/main" prst="roundRect">
            <a:avLst>
              <a:gd name="adj" fmla="val 2878"/>
            </a:avLst>
          </a:prstGeom>
          <a:solidFill xmlns:a="http://schemas.openxmlformats.org/drawingml/2006/main">
            <a:srgbClr val="C8DCE8"/>
          </a:solidFill>
          <a:ln xmlns:a="http://schemas.openxmlformats.org/drawingml/2006/main" w="14288">
            <a:solidFill>
              <a:srgbClr val="2B241A"/>
            </a:solidFill>
          </a:ln>
        </p:spPr>
      </p:sp>
      <p:sp>
        <p:nvSpPr>
          <p:cNvPr id="4" name="">
            <a:extLst xmlns:a="http://schemas.openxmlformats.org/drawingml/2006/main">
              <a:ext uri="{FF2B5EF4-FFF2-40B4-BE49-F238E27FC236}">
                <a16:creationId xmlns:a16="http://schemas.microsoft.com/office/drawing/2014/main" id="{D79FE5FD-269D-4986-B9D3-15867BEB9435}"/>
              </a:ext>
            </a:extLst>
          </p:cNvPr>
          <p:cNvSpPr>
            <a:spLocks xmlns:a="http://schemas.openxmlformats.org/drawingml/2006/main" noGrp="1"/>
          </p:cNvSpPr>
          <p:nvPr/>
        </p:nvSpPr>
        <p:spPr>
          <a:xfrm xmlns:a="http://schemas.openxmlformats.org/drawingml/2006/main">
            <a:off x="971550" y="2324100"/>
            <a:ext cx="66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350" b="1" i="0">
                <a:solidFill>
                  <a:srgbClr val="2B241A"/>
                </a:solidFill>
                <a:latin typeface="Menlo"/>
                <a:ea typeface="Menlo"/>
                <a:cs typeface="Menlo"/>
              </a:defRPr>
            </a:pPr>
            <a:r>
              <a:rPr sz="1350" b="1" i="0">
                <a:solidFill>
                  <a:srgbClr val="2B241A"/>
                </a:solidFill>
                <a:latin typeface="Menlo"/>
                <a:ea typeface="Menlo"/>
                <a:cs typeface="Menlo"/>
              </a:rPr>
              <a:t>01</a:t>
            </a:r>
          </a:p>
        </p:txBody>
      </p:sp>
      <p:sp>
        <p:nvSpPr>
          <p:cNvPr id="5" name="">
            <a:extLst xmlns:a="http://schemas.openxmlformats.org/drawingml/2006/main">
              <a:ext uri="{FF2B5EF4-FFF2-40B4-BE49-F238E27FC236}">
                <a16:creationId xmlns:a16="http://schemas.microsoft.com/office/drawing/2014/main" id="{BCAF1388-ADA7-4D16-80F7-9D859ECB4766}"/>
              </a:ext>
            </a:extLst>
          </p:cNvPr>
          <p:cNvSpPr>
            <a:spLocks xmlns:a="http://schemas.openxmlformats.org/drawingml/2006/main" noGrp="1"/>
          </p:cNvSpPr>
          <p:nvPr/>
        </p:nvSpPr>
        <p:spPr>
          <a:xfrm xmlns:a="http://schemas.openxmlformats.org/drawingml/2006/main">
            <a:off x="971550" y="2857500"/>
            <a:ext cx="2714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765"/>
          </a:bodyPr>
          <a:lstStyle xmlns:a="http://schemas.openxmlformats.org/drawingml/2006/main"/>
          <a:p xmlns:a="http://schemas.openxmlformats.org/drawingml/2006/main">
            <a:pPr algn="l">
              <a:buNone/>
              <a:defRPr sz="2550" b="1" i="0">
                <a:solidFill>
                  <a:srgbClr val="2B241A"/>
                </a:solidFill>
                <a:latin typeface="Georgia"/>
                <a:ea typeface="Georgia"/>
                <a:cs typeface="Georgia"/>
              </a:defRPr>
            </a:pPr>
            <a:r>
              <a:rPr sz="2550" b="1" i="0">
                <a:solidFill>
                  <a:srgbClr val="2B241A"/>
                </a:solidFill>
                <a:latin typeface="Georgia"/>
                <a:ea typeface="Georgia"/>
                <a:cs typeface="Georgia"/>
              </a:rPr>
              <a:t>STORE</a:t>
            </a:r>
          </a:p>
        </p:txBody>
      </p:sp>
      <p:sp>
        <p:nvSpPr>
          <p:cNvPr id="6" name="">
            <a:extLst xmlns:a="http://schemas.openxmlformats.org/drawingml/2006/main">
              <a:ext uri="{FF2B5EF4-FFF2-40B4-BE49-F238E27FC236}">
                <a16:creationId xmlns:a16="http://schemas.microsoft.com/office/drawing/2014/main" id="{F42C2482-12D6-412C-A192-51F4424E3BCB}"/>
              </a:ext>
            </a:extLst>
          </p:cNvPr>
          <p:cNvSpPr>
            <a:spLocks xmlns:a="http://schemas.openxmlformats.org/drawingml/2006/main" noGrp="1"/>
          </p:cNvSpPr>
          <p:nvPr/>
        </p:nvSpPr>
        <p:spPr>
          <a:xfrm xmlns:a="http://schemas.openxmlformats.org/drawingml/2006/main">
            <a:off x="971550" y="3524250"/>
            <a:ext cx="2714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575" b="0" i="0">
                <a:solidFill>
                  <a:srgbClr val="2B241A"/>
                </a:solidFill>
                <a:latin typeface="Avenir Next"/>
                <a:ea typeface="Avenir Next"/>
                <a:cs typeface="Avenir Next"/>
              </a:defRPr>
            </a:pPr>
            <a:r>
              <a:rPr sz="1575" b="0" i="0">
                <a:solidFill>
                  <a:srgbClr val="2B241A"/>
                </a:solidFill>
                <a:latin typeface="Avenir Next"/>
                <a:ea typeface="Avenir Next"/>
                <a:cs typeface="Avenir Next"/>
              </a:rPr>
              <a:t>A small storefront people can browse</a:t>
            </a:r>
          </a:p>
        </p:txBody>
      </p:sp>
      <p:sp>
        <p:nvSpPr>
          <p:cNvPr id="7" name="">
            <a:extLst xmlns:a="http://schemas.openxmlformats.org/drawingml/2006/main">
              <a:ext uri="{FF2B5EF4-FFF2-40B4-BE49-F238E27FC236}">
                <a16:creationId xmlns:a16="http://schemas.microsoft.com/office/drawing/2014/main" id="{A66E9D03-9F7E-49E1-B629-438351A9CA56}"/>
              </a:ext>
            </a:extLst>
          </p:cNvPr>
          <p:cNvSpPr>
            <a:spLocks xmlns:a="http://schemas.openxmlformats.org/drawingml/2006/main" noGrp="1"/>
          </p:cNvSpPr>
          <p:nvPr/>
        </p:nvSpPr>
        <p:spPr>
          <a:xfrm xmlns:a="http://schemas.openxmlformats.org/drawingml/2006/main">
            <a:off x="4400550" y="2095500"/>
            <a:ext cx="3257550" cy="2647950"/>
          </a:xfrm>
          <a:prstGeom xmlns:a="http://schemas.openxmlformats.org/drawingml/2006/main" prst="roundRect">
            <a:avLst>
              <a:gd name="adj" fmla="val 2878"/>
            </a:avLst>
          </a:prstGeom>
          <a:solidFill xmlns:a="http://schemas.openxmlformats.org/drawingml/2006/main">
            <a:srgbClr val="EEC7C2"/>
          </a:solidFill>
          <a:ln xmlns:a="http://schemas.openxmlformats.org/drawingml/2006/main" w="14288">
            <a:solidFill>
              <a:srgbClr val="2B241A"/>
            </a:solidFill>
          </a:ln>
        </p:spPr>
      </p:sp>
      <p:sp>
        <p:nvSpPr>
          <p:cNvPr id="8" name="">
            <a:extLst xmlns:a="http://schemas.openxmlformats.org/drawingml/2006/main">
              <a:ext uri="{FF2B5EF4-FFF2-40B4-BE49-F238E27FC236}">
                <a16:creationId xmlns:a16="http://schemas.microsoft.com/office/drawing/2014/main" id="{D36B8F0B-F4F3-46EE-939E-66277B1FE5C3}"/>
              </a:ext>
            </a:extLst>
          </p:cNvPr>
          <p:cNvSpPr>
            <a:spLocks xmlns:a="http://schemas.openxmlformats.org/drawingml/2006/main" noGrp="1"/>
          </p:cNvSpPr>
          <p:nvPr/>
        </p:nvSpPr>
        <p:spPr>
          <a:xfrm xmlns:a="http://schemas.openxmlformats.org/drawingml/2006/main">
            <a:off x="4648200" y="2324100"/>
            <a:ext cx="66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350" b="1" i="0">
                <a:solidFill>
                  <a:srgbClr val="2B241A"/>
                </a:solidFill>
                <a:latin typeface="Menlo"/>
                <a:ea typeface="Menlo"/>
                <a:cs typeface="Menlo"/>
              </a:defRPr>
            </a:pPr>
            <a:r>
              <a:rPr sz="1350" b="1" i="0">
                <a:solidFill>
                  <a:srgbClr val="2B241A"/>
                </a:solidFill>
                <a:latin typeface="Menlo"/>
                <a:ea typeface="Menlo"/>
                <a:cs typeface="Menlo"/>
              </a:rPr>
              <a:t>02</a:t>
            </a:r>
          </a:p>
        </p:txBody>
      </p:sp>
      <p:sp>
        <p:nvSpPr>
          <p:cNvPr id="9" name="">
            <a:extLst xmlns:a="http://schemas.openxmlformats.org/drawingml/2006/main">
              <a:ext uri="{FF2B5EF4-FFF2-40B4-BE49-F238E27FC236}">
                <a16:creationId xmlns:a16="http://schemas.microsoft.com/office/drawing/2014/main" id="{DB1A0706-6E92-435A-9C73-E396E91CD459}"/>
              </a:ext>
            </a:extLst>
          </p:cNvPr>
          <p:cNvSpPr>
            <a:spLocks xmlns:a="http://schemas.openxmlformats.org/drawingml/2006/main" noGrp="1"/>
          </p:cNvSpPr>
          <p:nvPr/>
        </p:nvSpPr>
        <p:spPr>
          <a:xfrm xmlns:a="http://schemas.openxmlformats.org/drawingml/2006/main">
            <a:off x="4648200" y="2857500"/>
            <a:ext cx="2714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765"/>
          </a:bodyPr>
          <a:lstStyle xmlns:a="http://schemas.openxmlformats.org/drawingml/2006/main"/>
          <a:p xmlns:a="http://schemas.openxmlformats.org/drawingml/2006/main">
            <a:pPr algn="l">
              <a:buNone/>
              <a:defRPr sz="2550" b="1" i="0">
                <a:solidFill>
                  <a:srgbClr val="2B241A"/>
                </a:solidFill>
                <a:latin typeface="Georgia"/>
                <a:ea typeface="Georgia"/>
                <a:cs typeface="Georgia"/>
              </a:defRPr>
            </a:pPr>
            <a:r>
              <a:rPr sz="2550" b="1" i="0">
                <a:solidFill>
                  <a:srgbClr val="2B241A"/>
                </a:solidFill>
                <a:latin typeface="Georgia"/>
                <a:ea typeface="Georgia"/>
                <a:cs typeface="Georgia"/>
              </a:rPr>
              <a:t>SOCIAL</a:t>
            </a:r>
          </a:p>
        </p:txBody>
      </p:sp>
      <p:sp>
        <p:nvSpPr>
          <p:cNvPr id="10" name="">
            <a:extLst xmlns:a="http://schemas.openxmlformats.org/drawingml/2006/main">
              <a:ext uri="{FF2B5EF4-FFF2-40B4-BE49-F238E27FC236}">
                <a16:creationId xmlns:a16="http://schemas.microsoft.com/office/drawing/2014/main" id="{74D29218-B70B-4690-951A-E44BA5D1B99A}"/>
              </a:ext>
            </a:extLst>
          </p:cNvPr>
          <p:cNvSpPr>
            <a:spLocks xmlns:a="http://schemas.openxmlformats.org/drawingml/2006/main" noGrp="1"/>
          </p:cNvSpPr>
          <p:nvPr/>
        </p:nvSpPr>
        <p:spPr>
          <a:xfrm xmlns:a="http://schemas.openxmlformats.org/drawingml/2006/main">
            <a:off x="4648200" y="3524250"/>
            <a:ext cx="2714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575" b="0" i="0">
                <a:solidFill>
                  <a:srgbClr val="2B241A"/>
                </a:solidFill>
                <a:latin typeface="Avenir Next"/>
                <a:ea typeface="Avenir Next"/>
                <a:cs typeface="Avenir Next"/>
              </a:defRPr>
            </a:pPr>
            <a:r>
              <a:rPr sz="1575" b="0" i="0">
                <a:solidFill>
                  <a:srgbClr val="2B241A"/>
                </a:solidFill>
                <a:latin typeface="Avenir Next"/>
                <a:ea typeface="Avenir Next"/>
                <a:cs typeface="Avenir Next"/>
              </a:rPr>
              <a:t>One clear message in one frame</a:t>
            </a:r>
          </a:p>
        </p:txBody>
      </p:sp>
      <p:sp>
        <p:nvSpPr>
          <p:cNvPr id="11" name="">
            <a:extLst xmlns:a="http://schemas.openxmlformats.org/drawingml/2006/main">
              <a:ext uri="{FF2B5EF4-FFF2-40B4-BE49-F238E27FC236}">
                <a16:creationId xmlns:a16="http://schemas.microsoft.com/office/drawing/2014/main" id="{030F5815-3B0B-42E4-8C36-539FB885D112}"/>
              </a:ext>
            </a:extLst>
          </p:cNvPr>
          <p:cNvSpPr>
            <a:spLocks xmlns:a="http://schemas.openxmlformats.org/drawingml/2006/main" noGrp="1"/>
          </p:cNvSpPr>
          <p:nvPr/>
        </p:nvSpPr>
        <p:spPr>
          <a:xfrm xmlns:a="http://schemas.openxmlformats.org/drawingml/2006/main">
            <a:off x="8077200" y="2095500"/>
            <a:ext cx="3257550" cy="2647950"/>
          </a:xfrm>
          <a:prstGeom xmlns:a="http://schemas.openxmlformats.org/drawingml/2006/main" prst="roundRect">
            <a:avLst>
              <a:gd name="adj" fmla="val 2878"/>
            </a:avLst>
          </a:prstGeom>
          <a:solidFill xmlns:a="http://schemas.openxmlformats.org/drawingml/2006/main">
            <a:srgbClr val="BDD4BD"/>
          </a:solidFill>
          <a:ln xmlns:a="http://schemas.openxmlformats.org/drawingml/2006/main" w="14288">
            <a:solidFill>
              <a:srgbClr val="2B241A"/>
            </a:solidFill>
          </a:ln>
        </p:spPr>
      </p:sp>
      <p:sp>
        <p:nvSpPr>
          <p:cNvPr id="12" name="">
            <a:extLst xmlns:a="http://schemas.openxmlformats.org/drawingml/2006/main">
              <a:ext uri="{FF2B5EF4-FFF2-40B4-BE49-F238E27FC236}">
                <a16:creationId xmlns:a16="http://schemas.microsoft.com/office/drawing/2014/main" id="{69379327-3B9A-4249-8DC9-E1599DC74E29}"/>
              </a:ext>
            </a:extLst>
          </p:cNvPr>
          <p:cNvSpPr>
            <a:spLocks xmlns:a="http://schemas.openxmlformats.org/drawingml/2006/main" noGrp="1"/>
          </p:cNvSpPr>
          <p:nvPr/>
        </p:nvSpPr>
        <p:spPr>
          <a:xfrm xmlns:a="http://schemas.openxmlformats.org/drawingml/2006/main">
            <a:off x="8324850" y="2324100"/>
            <a:ext cx="66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350" b="1" i="0">
                <a:solidFill>
                  <a:srgbClr val="2B241A"/>
                </a:solidFill>
                <a:latin typeface="Menlo"/>
                <a:ea typeface="Menlo"/>
                <a:cs typeface="Menlo"/>
              </a:defRPr>
            </a:pPr>
            <a:r>
              <a:rPr sz="1350" b="1" i="0">
                <a:solidFill>
                  <a:srgbClr val="2B241A"/>
                </a:solidFill>
                <a:latin typeface="Menlo"/>
                <a:ea typeface="Menlo"/>
                <a:cs typeface="Menlo"/>
              </a:rPr>
              <a:t>03</a:t>
            </a:r>
          </a:p>
        </p:txBody>
      </p:sp>
      <p:sp>
        <p:nvSpPr>
          <p:cNvPr id="13" name="">
            <a:extLst xmlns:a="http://schemas.openxmlformats.org/drawingml/2006/main">
              <a:ext uri="{FF2B5EF4-FFF2-40B4-BE49-F238E27FC236}">
                <a16:creationId xmlns:a16="http://schemas.microsoft.com/office/drawing/2014/main" id="{3AA573ED-047E-42D8-AD98-007E41F0A50E}"/>
              </a:ext>
            </a:extLst>
          </p:cNvPr>
          <p:cNvSpPr>
            <a:spLocks xmlns:a="http://schemas.openxmlformats.org/drawingml/2006/main" noGrp="1"/>
          </p:cNvSpPr>
          <p:nvPr/>
        </p:nvSpPr>
        <p:spPr>
          <a:xfrm xmlns:a="http://schemas.openxmlformats.org/drawingml/2006/main">
            <a:off x="8324850" y="2857500"/>
            <a:ext cx="2714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765"/>
          </a:bodyPr>
          <a:lstStyle xmlns:a="http://schemas.openxmlformats.org/drawingml/2006/main"/>
          <a:p xmlns:a="http://schemas.openxmlformats.org/drawingml/2006/main">
            <a:pPr algn="l">
              <a:buNone/>
              <a:defRPr sz="2550" b="1" i="0">
                <a:solidFill>
                  <a:srgbClr val="2B241A"/>
                </a:solidFill>
                <a:latin typeface="Georgia"/>
                <a:ea typeface="Georgia"/>
                <a:cs typeface="Georgia"/>
              </a:defRPr>
            </a:pPr>
            <a:r>
              <a:rPr sz="2550" b="1" i="0">
                <a:solidFill>
                  <a:srgbClr val="2B241A"/>
                </a:solidFill>
                <a:latin typeface="Georgia"/>
                <a:ea typeface="Georgia"/>
                <a:cs typeface="Georgia"/>
              </a:rPr>
              <a:t>VIDEO</a:t>
            </a:r>
          </a:p>
        </p:txBody>
      </p:sp>
      <p:sp>
        <p:nvSpPr>
          <p:cNvPr id="14" name="">
            <a:extLst xmlns:a="http://schemas.openxmlformats.org/drawingml/2006/main">
              <a:ext uri="{FF2B5EF4-FFF2-40B4-BE49-F238E27FC236}">
                <a16:creationId xmlns:a16="http://schemas.microsoft.com/office/drawing/2014/main" id="{B8C33D53-ADEE-4CC0-BC08-2197CFFC6DE8}"/>
              </a:ext>
            </a:extLst>
          </p:cNvPr>
          <p:cNvSpPr>
            <a:spLocks xmlns:a="http://schemas.openxmlformats.org/drawingml/2006/main" noGrp="1"/>
          </p:cNvSpPr>
          <p:nvPr/>
        </p:nvSpPr>
        <p:spPr>
          <a:xfrm xmlns:a="http://schemas.openxmlformats.org/drawingml/2006/main">
            <a:off x="8324850" y="3524250"/>
            <a:ext cx="2714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575" b="0" i="0">
                <a:solidFill>
                  <a:srgbClr val="2B241A"/>
                </a:solidFill>
                <a:latin typeface="Avenir Next"/>
                <a:ea typeface="Avenir Next"/>
                <a:cs typeface="Avenir Next"/>
              </a:defRPr>
            </a:pPr>
            <a:r>
              <a:rPr sz="1575" b="0" i="0">
                <a:solidFill>
                  <a:srgbClr val="2B241A"/>
                </a:solidFill>
                <a:latin typeface="Avenir Next"/>
                <a:ea typeface="Avenir Next"/>
                <a:cs typeface="Avenir Next"/>
              </a:rPr>
              <a:t>A 6–8 second sequence with a payoff</a:t>
            </a:r>
          </a:p>
        </p:txBody>
      </p:sp>
      <p:sp>
        <p:nvSpPr>
          <p:cNvPr id="15" name="">
            <a:extLst xmlns:a="http://schemas.openxmlformats.org/drawingml/2006/main">
              <a:ext uri="{FF2B5EF4-FFF2-40B4-BE49-F238E27FC236}">
                <a16:creationId xmlns:a16="http://schemas.microsoft.com/office/drawing/2014/main" id="{9EE97466-46B3-4065-AA14-0B58414F74F9}"/>
              </a:ext>
            </a:extLst>
          </p:cNvPr>
          <p:cNvSpPr>
            <a:spLocks xmlns:a="http://schemas.openxmlformats.org/drawingml/2006/main" noGrp="1"/>
          </p:cNvSpPr>
          <p:nvPr/>
        </p:nvSpPr>
        <p:spPr>
          <a:xfrm xmlns:a="http://schemas.openxmlformats.org/drawingml/2006/main">
            <a:off x="723900" y="5314950"/>
            <a:ext cx="10744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575" b="1" i="0">
                <a:solidFill>
                  <a:srgbClr val="C9473D"/>
                </a:solidFill>
                <a:latin typeface="Avenir Next"/>
                <a:ea typeface="Avenir Next"/>
                <a:cs typeface="Avenir Next"/>
              </a:defRPr>
            </a:pPr>
            <a:r>
              <a:rPr sz="1575" b="1" i="0">
                <a:solidFill>
                  <a:srgbClr val="C9473D"/>
                </a:solidFill>
                <a:latin typeface="Avenir Next"/>
                <a:ea typeface="Avenir Next"/>
                <a:cs typeface="Avenir Next"/>
              </a:rPr>
              <a:t>Evidence gate: Store Kit + reference + website + social + video + consistency check</a:t>
            </a:r>
          </a:p>
        </p:txBody>
      </p:sp>
    </p:spTree>
    <p:extLst>
      <p:ext uri="{BB962C8B-B14F-4D97-AF65-F5344CB8AC3E}">
        <p14:creationId xmlns:p14="http://schemas.microsoft.com/office/powerpoint/2010/main" val="266500405"/>
      </p:ext>
    </p:extLst>
  </p:cSld>
</p:sld>
</file>

<file path=ppt/slides/slide3.xml><?xml version="1.0" encoding="utf-8"?>
<p:sld xmlns:p="http://schemas.openxmlformats.org/presentationml/2006/main">
  <p:cSld>
    <p:bg>
      <p:bgPr>
        <a:solidFill xmlns:a="http://schemas.openxmlformats.org/drawingml/2006/main">
          <a:srgbClr val="F5EDDD"/>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5B6F292A-02A0-4B28-B102-1E85662BB754}"/>
              </a:ext>
            </a:extLst>
          </p:cNvPr>
          <p:cNvSpPr>
            <a:spLocks xmlns:a="http://schemas.openxmlformats.org/drawingml/2006/main" noGrp="1"/>
          </p:cNvSpPr>
          <p:nvPr/>
        </p:nvSpPr>
        <p:spPr>
          <a:xfrm xmlns:a="http://schemas.openxmlformats.org/drawingml/2006/main">
            <a:off x="723900" y="514350"/>
            <a:ext cx="10744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3000" b="1" i="0">
                <a:solidFill>
                  <a:srgbClr val="2B241A"/>
                </a:solidFill>
                <a:latin typeface="Georgia"/>
                <a:ea typeface="Georgia"/>
                <a:cs typeface="Georgia"/>
              </a:defRPr>
            </a:pPr>
            <a:r>
              <a:rPr sz="3000" b="1" i="0">
                <a:solidFill>
                  <a:srgbClr val="2B241A"/>
                </a:solidFill>
                <a:latin typeface="Georgia"/>
                <a:ea typeface="Georgia"/>
                <a:cs typeface="Georgia"/>
              </a:rPr>
              <a:t>The build path</a:t>
            </a:r>
          </a:p>
        </p:txBody>
      </p:sp>
      <p:sp>
        <p:nvSpPr>
          <p:cNvPr id="2" name="">
            <a:extLst xmlns:a="http://schemas.openxmlformats.org/drawingml/2006/main">
              <a:ext uri="{FF2B5EF4-FFF2-40B4-BE49-F238E27FC236}">
                <a16:creationId xmlns:a16="http://schemas.microsoft.com/office/drawing/2014/main" id="{B0158400-D7F9-4DFA-BD61-CEC2BBF9E8B6}"/>
              </a:ext>
            </a:extLst>
          </p:cNvPr>
          <p:cNvSpPr>
            <a:spLocks xmlns:a="http://schemas.openxmlformats.org/drawingml/2006/main" noGrp="1"/>
          </p:cNvSpPr>
          <p:nvPr/>
        </p:nvSpPr>
        <p:spPr>
          <a:xfrm xmlns:a="http://schemas.openxmlformats.org/drawingml/2006/main">
            <a:off x="742950" y="1257300"/>
            <a:ext cx="1000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i="0">
                <a:solidFill>
                  <a:srgbClr val="6A6054"/>
                </a:solidFill>
                <a:latin typeface="Avenir Next"/>
                <a:ea typeface="Avenir Next"/>
                <a:cs typeface="Avenir Next"/>
              </a:defRPr>
            </a:pPr>
            <a:r>
              <a:rPr sz="1350" b="0" i="0">
                <a:solidFill>
                  <a:srgbClr val="6A6054"/>
                </a:solidFill>
                <a:latin typeface="Avenir Next"/>
                <a:ea typeface="Avenir Next"/>
                <a:cs typeface="Avenir Next"/>
              </a:rPr>
              <a:t>One Store Kit becomes the written source of truth for every artifact</a:t>
            </a:r>
          </a:p>
        </p:txBody>
      </p:sp>
      <p:sp>
        <p:nvSpPr>
          <p:cNvPr id="3" name="">
            <a:extLst xmlns:a="http://schemas.openxmlformats.org/drawingml/2006/main">
              <a:ext uri="{FF2B5EF4-FFF2-40B4-BE49-F238E27FC236}">
                <a16:creationId xmlns:a16="http://schemas.microsoft.com/office/drawing/2014/main" id="{564A1FE7-35CF-4E82-9680-F14EA12E5B4F}"/>
              </a:ext>
            </a:extLst>
          </p:cNvPr>
          <p:cNvSpPr>
            <a:spLocks xmlns:a="http://schemas.openxmlformats.org/drawingml/2006/main" noGrp="1"/>
          </p:cNvSpPr>
          <p:nvPr/>
        </p:nvSpPr>
        <p:spPr>
          <a:xfrm xmlns:a="http://schemas.openxmlformats.org/drawingml/2006/main">
            <a:off x="723900" y="2266950"/>
            <a:ext cx="400050" cy="400050"/>
          </a:xfrm>
          <a:prstGeom xmlns:a="http://schemas.openxmlformats.org/drawingml/2006/main" prst="roundRect">
            <a:avLst>
              <a:gd name="adj" fmla="val 19048"/>
            </a:avLst>
          </a:prstGeom>
          <a:solidFill xmlns:a="http://schemas.openxmlformats.org/drawingml/2006/main">
            <a:srgbClr val="C9473D"/>
          </a:solidFill>
          <a:ln xmlns:a="http://schemas.openxmlformats.org/drawingml/2006/main" w="14288">
            <a:solidFill>
              <a:srgbClr val="C9473D"/>
            </a:solidFill>
          </a:ln>
        </p:spPr>
      </p:sp>
      <p:sp>
        <p:nvSpPr>
          <p:cNvPr id="4" name="">
            <a:extLst xmlns:a="http://schemas.openxmlformats.org/drawingml/2006/main">
              <a:ext uri="{FF2B5EF4-FFF2-40B4-BE49-F238E27FC236}">
                <a16:creationId xmlns:a16="http://schemas.microsoft.com/office/drawing/2014/main" id="{59E0D254-A653-4799-8A86-90C4C123CEE1}"/>
              </a:ext>
            </a:extLst>
          </p:cNvPr>
          <p:cNvSpPr>
            <a:spLocks xmlns:a="http://schemas.openxmlformats.org/drawingml/2006/main" noGrp="1"/>
          </p:cNvSpPr>
          <p:nvPr/>
        </p:nvSpPr>
        <p:spPr>
          <a:xfrm xmlns:a="http://schemas.openxmlformats.org/drawingml/2006/main">
            <a:off x="723900" y="225742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1" i="0">
                <a:solidFill>
                  <a:srgbClr val="FFFDF8"/>
                </a:solidFill>
                <a:latin typeface="Menlo"/>
                <a:ea typeface="Menlo"/>
                <a:cs typeface="Menlo"/>
              </a:defRPr>
            </a:pPr>
            <a:r>
              <a:rPr sz="1200" b="1" i="0">
                <a:solidFill>
                  <a:srgbClr val="FFFDF8"/>
                </a:solidFill>
                <a:latin typeface="Menlo"/>
                <a:ea typeface="Menlo"/>
                <a:cs typeface="Menlo"/>
              </a:rPr>
              <a:t>1</a:t>
            </a:r>
          </a:p>
        </p:txBody>
      </p:sp>
      <p:sp>
        <p:nvSpPr>
          <p:cNvPr id="5" name="">
            <a:extLst xmlns:a="http://schemas.openxmlformats.org/drawingml/2006/main">
              <a:ext uri="{FF2B5EF4-FFF2-40B4-BE49-F238E27FC236}">
                <a16:creationId xmlns:a16="http://schemas.microsoft.com/office/drawing/2014/main" id="{54CE3B3B-2A1E-46DD-BDAA-57A4E038DB07}"/>
              </a:ext>
            </a:extLst>
          </p:cNvPr>
          <p:cNvSpPr>
            <a:spLocks xmlns:a="http://schemas.openxmlformats.org/drawingml/2006/main" noGrp="1"/>
          </p:cNvSpPr>
          <p:nvPr/>
        </p:nvSpPr>
        <p:spPr>
          <a:xfrm xmlns:a="http://schemas.openxmlformats.org/drawingml/2006/main">
            <a:off x="704850" y="2895600"/>
            <a:ext cx="1571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buNone/>
              <a:defRPr sz="1650" b="1" i="0">
                <a:solidFill>
                  <a:srgbClr val="2B241A"/>
                </a:solidFill>
                <a:latin typeface="Georgia"/>
                <a:ea typeface="Georgia"/>
                <a:cs typeface="Georgia"/>
              </a:defRPr>
            </a:pPr>
            <a:r>
              <a:rPr sz="1650" b="1" i="0">
                <a:solidFill>
                  <a:srgbClr val="2B241A"/>
                </a:solidFill>
                <a:latin typeface="Georgia"/>
                <a:ea typeface="Georgia"/>
                <a:cs typeface="Georgia"/>
              </a:rPr>
              <a:t>CREATE</a:t>
            </a:r>
          </a:p>
        </p:txBody>
      </p:sp>
      <p:sp>
        <p:nvSpPr>
          <p:cNvPr id="6" name="">
            <a:extLst xmlns:a="http://schemas.openxmlformats.org/drawingml/2006/main">
              <a:ext uri="{FF2B5EF4-FFF2-40B4-BE49-F238E27FC236}">
                <a16:creationId xmlns:a16="http://schemas.microsoft.com/office/drawing/2014/main" id="{870D2306-D4CF-4464-8415-435223765488}"/>
              </a:ext>
            </a:extLst>
          </p:cNvPr>
          <p:cNvSpPr>
            <a:spLocks xmlns:a="http://schemas.openxmlformats.org/drawingml/2006/main" noGrp="1"/>
          </p:cNvSpPr>
          <p:nvPr/>
        </p:nvSpPr>
        <p:spPr>
          <a:xfrm xmlns:a="http://schemas.openxmlformats.org/drawingml/2006/main">
            <a:off x="704850" y="3295650"/>
            <a:ext cx="1571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00" b="0" i="0">
                <a:solidFill>
                  <a:srgbClr val="6A6054"/>
                </a:solidFill>
                <a:latin typeface="Avenir Next"/>
                <a:ea typeface="Avenir Next"/>
                <a:cs typeface="Avenir Next"/>
              </a:defRPr>
            </a:pPr>
            <a:r>
              <a:rPr sz="1200" b="0" i="0">
                <a:solidFill>
                  <a:srgbClr val="6A6054"/>
                </a:solidFill>
                <a:latin typeface="Avenir Next"/>
                <a:ea typeface="Avenir Next"/>
                <a:cs typeface="Avenir Next"/>
              </a:rPr>
              <a:t>Answer three detailed questions</a:t>
            </a:r>
          </a:p>
        </p:txBody>
      </p:sp>
      <p:sp>
        <p:nvSpPr>
          <p:cNvPr id="7" name="">
            <a:extLst xmlns:a="http://schemas.openxmlformats.org/drawingml/2006/main">
              <a:ext uri="{FF2B5EF4-FFF2-40B4-BE49-F238E27FC236}">
                <a16:creationId xmlns:a16="http://schemas.microsoft.com/office/drawing/2014/main" id="{C1E89E5A-81E5-41ED-838B-58387B88C817}"/>
              </a:ext>
            </a:extLst>
          </p:cNvPr>
          <p:cNvSpPr>
            <a:spLocks xmlns:a="http://schemas.openxmlformats.org/drawingml/2006/main" noGrp="1"/>
          </p:cNvSpPr>
          <p:nvPr/>
        </p:nvSpPr>
        <p:spPr>
          <a:xfrm xmlns:a="http://schemas.openxmlformats.org/drawingml/2006/main">
            <a:off x="2133600" y="2438400"/>
            <a:ext cx="314325" cy="28575"/>
          </a:xfrm>
          <a:prstGeom xmlns:a="http://schemas.openxmlformats.org/drawingml/2006/main" prst="roundRect">
            <a:avLst>
              <a:gd name="adj" fmla="val 50000"/>
            </a:avLst>
          </a:prstGeom>
          <a:solidFill xmlns:a="http://schemas.openxmlformats.org/drawingml/2006/main">
            <a:srgbClr val="2B241A"/>
          </a:solidFill>
          <a:ln xmlns:a="http://schemas.openxmlformats.org/drawingml/2006/main" w="14288">
            <a:solidFill>
              <a:srgbClr val="2B241A"/>
            </a:solidFill>
          </a:ln>
        </p:spPr>
      </p:sp>
      <p:sp>
        <p:nvSpPr>
          <p:cNvPr id="8" name="">
            <a:extLst xmlns:a="http://schemas.openxmlformats.org/drawingml/2006/main">
              <a:ext uri="{FF2B5EF4-FFF2-40B4-BE49-F238E27FC236}">
                <a16:creationId xmlns:a16="http://schemas.microsoft.com/office/drawing/2014/main" id="{0DBD9AF7-68C4-4349-B97A-A53817646922}"/>
              </a:ext>
            </a:extLst>
          </p:cNvPr>
          <p:cNvSpPr>
            <a:spLocks xmlns:a="http://schemas.openxmlformats.org/drawingml/2006/main" noGrp="1"/>
          </p:cNvSpPr>
          <p:nvPr/>
        </p:nvSpPr>
        <p:spPr>
          <a:xfrm xmlns:a="http://schemas.openxmlformats.org/drawingml/2006/main">
            <a:off x="2495550" y="2266950"/>
            <a:ext cx="400050" cy="400050"/>
          </a:xfrm>
          <a:prstGeom xmlns:a="http://schemas.openxmlformats.org/drawingml/2006/main" prst="roundRect">
            <a:avLst>
              <a:gd name="adj" fmla="val 19048"/>
            </a:avLst>
          </a:prstGeom>
          <a:solidFill xmlns:a="http://schemas.openxmlformats.org/drawingml/2006/main">
            <a:srgbClr val="315E82"/>
          </a:solidFill>
          <a:ln xmlns:a="http://schemas.openxmlformats.org/drawingml/2006/main" w="14288">
            <a:solidFill>
              <a:srgbClr val="315E82"/>
            </a:solidFill>
          </a:ln>
        </p:spPr>
      </p:sp>
      <p:sp>
        <p:nvSpPr>
          <p:cNvPr id="9" name="">
            <a:extLst xmlns:a="http://schemas.openxmlformats.org/drawingml/2006/main">
              <a:ext uri="{FF2B5EF4-FFF2-40B4-BE49-F238E27FC236}">
                <a16:creationId xmlns:a16="http://schemas.microsoft.com/office/drawing/2014/main" id="{125BF94D-85DA-49F8-825D-8BC138B37735}"/>
              </a:ext>
            </a:extLst>
          </p:cNvPr>
          <p:cNvSpPr>
            <a:spLocks xmlns:a="http://schemas.openxmlformats.org/drawingml/2006/main" noGrp="1"/>
          </p:cNvSpPr>
          <p:nvPr/>
        </p:nvSpPr>
        <p:spPr>
          <a:xfrm xmlns:a="http://schemas.openxmlformats.org/drawingml/2006/main">
            <a:off x="2495550" y="225742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1" i="0">
                <a:solidFill>
                  <a:srgbClr val="FFFDF8"/>
                </a:solidFill>
                <a:latin typeface="Menlo"/>
                <a:ea typeface="Menlo"/>
                <a:cs typeface="Menlo"/>
              </a:defRPr>
            </a:pPr>
            <a:r>
              <a:rPr sz="1200" b="1" i="0">
                <a:solidFill>
                  <a:srgbClr val="FFFDF8"/>
                </a:solidFill>
                <a:latin typeface="Menlo"/>
                <a:ea typeface="Menlo"/>
                <a:cs typeface="Menlo"/>
              </a:rPr>
              <a:t>2</a:t>
            </a:r>
          </a:p>
        </p:txBody>
      </p:sp>
      <p:sp>
        <p:nvSpPr>
          <p:cNvPr id="10" name="">
            <a:extLst xmlns:a="http://schemas.openxmlformats.org/drawingml/2006/main">
              <a:ext uri="{FF2B5EF4-FFF2-40B4-BE49-F238E27FC236}">
                <a16:creationId xmlns:a16="http://schemas.microsoft.com/office/drawing/2014/main" id="{3E4189C7-2683-4A54-95B1-B58558533DD9}"/>
              </a:ext>
            </a:extLst>
          </p:cNvPr>
          <p:cNvSpPr>
            <a:spLocks xmlns:a="http://schemas.openxmlformats.org/drawingml/2006/main" noGrp="1"/>
          </p:cNvSpPr>
          <p:nvPr/>
        </p:nvSpPr>
        <p:spPr>
          <a:xfrm xmlns:a="http://schemas.openxmlformats.org/drawingml/2006/main">
            <a:off x="2476500" y="2895600"/>
            <a:ext cx="1571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buNone/>
              <a:defRPr sz="1650" b="1" i="0">
                <a:solidFill>
                  <a:srgbClr val="2B241A"/>
                </a:solidFill>
                <a:latin typeface="Georgia"/>
                <a:ea typeface="Georgia"/>
                <a:cs typeface="Georgia"/>
              </a:defRPr>
            </a:pPr>
            <a:r>
              <a:rPr sz="1650" b="1" i="0">
                <a:solidFill>
                  <a:srgbClr val="2B241A"/>
                </a:solidFill>
                <a:latin typeface="Georgia"/>
                <a:ea typeface="Georgia"/>
                <a:cs typeface="Georgia"/>
              </a:rPr>
              <a:t>CHOOSE</a:t>
            </a:r>
          </a:p>
        </p:txBody>
      </p:sp>
      <p:sp>
        <p:nvSpPr>
          <p:cNvPr id="11" name="">
            <a:extLst xmlns:a="http://schemas.openxmlformats.org/drawingml/2006/main">
              <a:ext uri="{FF2B5EF4-FFF2-40B4-BE49-F238E27FC236}">
                <a16:creationId xmlns:a16="http://schemas.microsoft.com/office/drawing/2014/main" id="{21E61DE9-0688-4143-B5E0-F6DE8AF301C9}"/>
              </a:ext>
            </a:extLst>
          </p:cNvPr>
          <p:cNvSpPr>
            <a:spLocks xmlns:a="http://schemas.openxmlformats.org/drawingml/2006/main" noGrp="1"/>
          </p:cNvSpPr>
          <p:nvPr/>
        </p:nvSpPr>
        <p:spPr>
          <a:xfrm xmlns:a="http://schemas.openxmlformats.org/drawingml/2006/main">
            <a:off x="2476500" y="3295650"/>
            <a:ext cx="1571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00" b="0" i="0">
                <a:solidFill>
                  <a:srgbClr val="6A6054"/>
                </a:solidFill>
                <a:latin typeface="Avenir Next"/>
                <a:ea typeface="Avenir Next"/>
                <a:cs typeface="Avenir Next"/>
              </a:defRPr>
            </a:pPr>
            <a:r>
              <a:rPr sz="1200" b="0" i="0">
                <a:solidFill>
                  <a:srgbClr val="6A6054"/>
                </a:solidFill>
                <a:latin typeface="Avenir Next"/>
                <a:ea typeface="Avenir Next"/>
                <a:cs typeface="Avenir Next"/>
              </a:rPr>
              <a:t>Select one visual direction</a:t>
            </a:r>
          </a:p>
        </p:txBody>
      </p:sp>
      <p:sp>
        <p:nvSpPr>
          <p:cNvPr id="12" name="">
            <a:extLst xmlns:a="http://schemas.openxmlformats.org/drawingml/2006/main">
              <a:ext uri="{FF2B5EF4-FFF2-40B4-BE49-F238E27FC236}">
                <a16:creationId xmlns:a16="http://schemas.microsoft.com/office/drawing/2014/main" id="{EEB3498A-FB7D-4D69-AC42-1FE43AB2A829}"/>
              </a:ext>
            </a:extLst>
          </p:cNvPr>
          <p:cNvSpPr>
            <a:spLocks xmlns:a="http://schemas.openxmlformats.org/drawingml/2006/main" noGrp="1"/>
          </p:cNvSpPr>
          <p:nvPr/>
        </p:nvSpPr>
        <p:spPr>
          <a:xfrm xmlns:a="http://schemas.openxmlformats.org/drawingml/2006/main">
            <a:off x="3905250" y="2438400"/>
            <a:ext cx="314325" cy="28575"/>
          </a:xfrm>
          <a:prstGeom xmlns:a="http://schemas.openxmlformats.org/drawingml/2006/main" prst="roundRect">
            <a:avLst>
              <a:gd name="adj" fmla="val 50000"/>
            </a:avLst>
          </a:prstGeom>
          <a:solidFill xmlns:a="http://schemas.openxmlformats.org/drawingml/2006/main">
            <a:srgbClr val="2B241A"/>
          </a:solidFill>
          <a:ln xmlns:a="http://schemas.openxmlformats.org/drawingml/2006/main" w="14288">
            <a:solidFill>
              <a:srgbClr val="2B241A"/>
            </a:solidFill>
          </a:ln>
        </p:spPr>
      </p:sp>
      <p:sp>
        <p:nvSpPr>
          <p:cNvPr id="13" name="">
            <a:extLst xmlns:a="http://schemas.openxmlformats.org/drawingml/2006/main">
              <a:ext uri="{FF2B5EF4-FFF2-40B4-BE49-F238E27FC236}">
                <a16:creationId xmlns:a16="http://schemas.microsoft.com/office/drawing/2014/main" id="{2F5507F7-C6C2-4EE7-B318-53C8F456A479}"/>
              </a:ext>
            </a:extLst>
          </p:cNvPr>
          <p:cNvSpPr>
            <a:spLocks xmlns:a="http://schemas.openxmlformats.org/drawingml/2006/main" noGrp="1"/>
          </p:cNvSpPr>
          <p:nvPr/>
        </p:nvSpPr>
        <p:spPr>
          <a:xfrm xmlns:a="http://schemas.openxmlformats.org/drawingml/2006/main">
            <a:off x="4267200" y="2266950"/>
            <a:ext cx="400050" cy="400050"/>
          </a:xfrm>
          <a:prstGeom xmlns:a="http://schemas.openxmlformats.org/drawingml/2006/main" prst="roundRect">
            <a:avLst>
              <a:gd name="adj" fmla="val 19048"/>
            </a:avLst>
          </a:prstGeom>
          <a:solidFill xmlns:a="http://schemas.openxmlformats.org/drawingml/2006/main">
            <a:srgbClr val="627C55"/>
          </a:solidFill>
          <a:ln xmlns:a="http://schemas.openxmlformats.org/drawingml/2006/main" w="14288">
            <a:solidFill>
              <a:srgbClr val="627C55"/>
            </a:solidFill>
          </a:ln>
        </p:spPr>
      </p:sp>
      <p:sp>
        <p:nvSpPr>
          <p:cNvPr id="14" name="">
            <a:extLst xmlns:a="http://schemas.openxmlformats.org/drawingml/2006/main">
              <a:ext uri="{FF2B5EF4-FFF2-40B4-BE49-F238E27FC236}">
                <a16:creationId xmlns:a16="http://schemas.microsoft.com/office/drawing/2014/main" id="{66BD3964-CEB5-4ACF-9126-63C1505D1E28}"/>
              </a:ext>
            </a:extLst>
          </p:cNvPr>
          <p:cNvSpPr>
            <a:spLocks xmlns:a="http://schemas.openxmlformats.org/drawingml/2006/main" noGrp="1"/>
          </p:cNvSpPr>
          <p:nvPr/>
        </p:nvSpPr>
        <p:spPr>
          <a:xfrm xmlns:a="http://schemas.openxmlformats.org/drawingml/2006/main">
            <a:off x="4267200" y="225742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1" i="0">
                <a:solidFill>
                  <a:srgbClr val="FFFDF8"/>
                </a:solidFill>
                <a:latin typeface="Menlo"/>
                <a:ea typeface="Menlo"/>
                <a:cs typeface="Menlo"/>
              </a:defRPr>
            </a:pPr>
            <a:r>
              <a:rPr sz="1200" b="1" i="0">
                <a:solidFill>
                  <a:srgbClr val="FFFDF8"/>
                </a:solidFill>
                <a:latin typeface="Menlo"/>
                <a:ea typeface="Menlo"/>
                <a:cs typeface="Menlo"/>
              </a:rPr>
              <a:t>3</a:t>
            </a:r>
          </a:p>
        </p:txBody>
      </p:sp>
      <p:sp>
        <p:nvSpPr>
          <p:cNvPr id="15" name="">
            <a:extLst xmlns:a="http://schemas.openxmlformats.org/drawingml/2006/main">
              <a:ext uri="{FF2B5EF4-FFF2-40B4-BE49-F238E27FC236}">
                <a16:creationId xmlns:a16="http://schemas.microsoft.com/office/drawing/2014/main" id="{AF9BD3A6-EDD1-499E-8B70-42086D45CC94}"/>
              </a:ext>
            </a:extLst>
          </p:cNvPr>
          <p:cNvSpPr>
            <a:spLocks xmlns:a="http://schemas.openxmlformats.org/drawingml/2006/main" noGrp="1"/>
          </p:cNvSpPr>
          <p:nvPr/>
        </p:nvSpPr>
        <p:spPr>
          <a:xfrm xmlns:a="http://schemas.openxmlformats.org/drawingml/2006/main">
            <a:off x="4248150" y="2895600"/>
            <a:ext cx="1571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buNone/>
              <a:defRPr sz="1650" b="1" i="0">
                <a:solidFill>
                  <a:srgbClr val="2B241A"/>
                </a:solidFill>
                <a:latin typeface="Georgia"/>
                <a:ea typeface="Georgia"/>
                <a:cs typeface="Georgia"/>
              </a:defRPr>
            </a:pPr>
            <a:r>
              <a:rPr sz="1650" b="1" i="0">
                <a:solidFill>
                  <a:srgbClr val="2B241A"/>
                </a:solidFill>
                <a:latin typeface="Georgia"/>
                <a:ea typeface="Georgia"/>
                <a:cs typeface="Georgia"/>
              </a:rPr>
              <a:t>REFERENCE</a:t>
            </a:r>
          </a:p>
        </p:txBody>
      </p:sp>
      <p:sp>
        <p:nvSpPr>
          <p:cNvPr id="16" name="">
            <a:extLst xmlns:a="http://schemas.openxmlformats.org/drawingml/2006/main">
              <a:ext uri="{FF2B5EF4-FFF2-40B4-BE49-F238E27FC236}">
                <a16:creationId xmlns:a16="http://schemas.microsoft.com/office/drawing/2014/main" id="{5B6BBBC6-3F6E-446B-A67D-E8A26C8DD79C}"/>
              </a:ext>
            </a:extLst>
          </p:cNvPr>
          <p:cNvSpPr>
            <a:spLocks xmlns:a="http://schemas.openxmlformats.org/drawingml/2006/main" noGrp="1"/>
          </p:cNvSpPr>
          <p:nvPr/>
        </p:nvSpPr>
        <p:spPr>
          <a:xfrm xmlns:a="http://schemas.openxmlformats.org/drawingml/2006/main">
            <a:off x="4248150" y="3295650"/>
            <a:ext cx="1571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00" b="0" i="0">
                <a:solidFill>
                  <a:srgbClr val="6A6054"/>
                </a:solidFill>
                <a:latin typeface="Avenir Next"/>
                <a:ea typeface="Avenir Next"/>
                <a:cs typeface="Avenir Next"/>
              </a:defRPr>
            </a:pPr>
            <a:r>
              <a:rPr sz="1200" b="0" i="0">
                <a:solidFill>
                  <a:srgbClr val="6A6054"/>
                </a:solidFill>
                <a:latin typeface="Avenir Next"/>
                <a:ea typeface="Avenir Next"/>
                <a:cs typeface="Avenir Next"/>
              </a:rPr>
              <a:t>Make one product-family image</a:t>
            </a:r>
          </a:p>
        </p:txBody>
      </p:sp>
      <p:sp>
        <p:nvSpPr>
          <p:cNvPr id="17" name="">
            <a:extLst xmlns:a="http://schemas.openxmlformats.org/drawingml/2006/main">
              <a:ext uri="{FF2B5EF4-FFF2-40B4-BE49-F238E27FC236}">
                <a16:creationId xmlns:a16="http://schemas.microsoft.com/office/drawing/2014/main" id="{CC2CF7FB-7626-49FD-8F92-A19CE8051FDE}"/>
              </a:ext>
            </a:extLst>
          </p:cNvPr>
          <p:cNvSpPr>
            <a:spLocks xmlns:a="http://schemas.openxmlformats.org/drawingml/2006/main" noGrp="1"/>
          </p:cNvSpPr>
          <p:nvPr/>
        </p:nvSpPr>
        <p:spPr>
          <a:xfrm xmlns:a="http://schemas.openxmlformats.org/drawingml/2006/main">
            <a:off x="5676900" y="2438400"/>
            <a:ext cx="314325" cy="28575"/>
          </a:xfrm>
          <a:prstGeom xmlns:a="http://schemas.openxmlformats.org/drawingml/2006/main" prst="roundRect">
            <a:avLst>
              <a:gd name="adj" fmla="val 50000"/>
            </a:avLst>
          </a:prstGeom>
          <a:solidFill xmlns:a="http://schemas.openxmlformats.org/drawingml/2006/main">
            <a:srgbClr val="2B241A"/>
          </a:solidFill>
          <a:ln xmlns:a="http://schemas.openxmlformats.org/drawingml/2006/main" w="14288">
            <a:solidFill>
              <a:srgbClr val="2B241A"/>
            </a:solidFill>
          </a:ln>
        </p:spPr>
      </p:sp>
      <p:sp>
        <p:nvSpPr>
          <p:cNvPr id="18" name="">
            <a:extLst xmlns:a="http://schemas.openxmlformats.org/drawingml/2006/main">
              <a:ext uri="{FF2B5EF4-FFF2-40B4-BE49-F238E27FC236}">
                <a16:creationId xmlns:a16="http://schemas.microsoft.com/office/drawing/2014/main" id="{51BDF8F4-F882-46F9-BC23-9CB1773F7282}"/>
              </a:ext>
            </a:extLst>
          </p:cNvPr>
          <p:cNvSpPr>
            <a:spLocks xmlns:a="http://schemas.openxmlformats.org/drawingml/2006/main" noGrp="1"/>
          </p:cNvSpPr>
          <p:nvPr/>
        </p:nvSpPr>
        <p:spPr>
          <a:xfrm xmlns:a="http://schemas.openxmlformats.org/drawingml/2006/main">
            <a:off x="6038850" y="2266950"/>
            <a:ext cx="400050" cy="400050"/>
          </a:xfrm>
          <a:prstGeom xmlns:a="http://schemas.openxmlformats.org/drawingml/2006/main" prst="roundRect">
            <a:avLst>
              <a:gd name="adj" fmla="val 19048"/>
            </a:avLst>
          </a:prstGeom>
          <a:solidFill xmlns:a="http://schemas.openxmlformats.org/drawingml/2006/main">
            <a:srgbClr val="7E5A77"/>
          </a:solidFill>
          <a:ln xmlns:a="http://schemas.openxmlformats.org/drawingml/2006/main" w="14288">
            <a:solidFill>
              <a:srgbClr val="7E5A77"/>
            </a:solidFill>
          </a:ln>
        </p:spPr>
      </p:sp>
      <p:sp>
        <p:nvSpPr>
          <p:cNvPr id="19" name="">
            <a:extLst xmlns:a="http://schemas.openxmlformats.org/drawingml/2006/main">
              <a:ext uri="{FF2B5EF4-FFF2-40B4-BE49-F238E27FC236}">
                <a16:creationId xmlns:a16="http://schemas.microsoft.com/office/drawing/2014/main" id="{CDF34089-7D3D-4946-AAAC-9955D5AB4E59}"/>
              </a:ext>
            </a:extLst>
          </p:cNvPr>
          <p:cNvSpPr>
            <a:spLocks xmlns:a="http://schemas.openxmlformats.org/drawingml/2006/main" noGrp="1"/>
          </p:cNvSpPr>
          <p:nvPr/>
        </p:nvSpPr>
        <p:spPr>
          <a:xfrm xmlns:a="http://schemas.openxmlformats.org/drawingml/2006/main">
            <a:off x="6038850" y="225742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1" i="0">
                <a:solidFill>
                  <a:srgbClr val="FFFDF8"/>
                </a:solidFill>
                <a:latin typeface="Menlo"/>
                <a:ea typeface="Menlo"/>
                <a:cs typeface="Menlo"/>
              </a:defRPr>
            </a:pPr>
            <a:r>
              <a:rPr sz="1200" b="1" i="0">
                <a:solidFill>
                  <a:srgbClr val="FFFDF8"/>
                </a:solidFill>
                <a:latin typeface="Menlo"/>
                <a:ea typeface="Menlo"/>
                <a:cs typeface="Menlo"/>
              </a:rPr>
              <a:t>4</a:t>
            </a:r>
          </a:p>
        </p:txBody>
      </p:sp>
      <p:sp>
        <p:nvSpPr>
          <p:cNvPr id="20" name="">
            <a:extLst xmlns:a="http://schemas.openxmlformats.org/drawingml/2006/main">
              <a:ext uri="{FF2B5EF4-FFF2-40B4-BE49-F238E27FC236}">
                <a16:creationId xmlns:a16="http://schemas.microsoft.com/office/drawing/2014/main" id="{E3F787CB-D4AD-4EF4-BBA8-20BE4AD748C0}"/>
              </a:ext>
            </a:extLst>
          </p:cNvPr>
          <p:cNvSpPr>
            <a:spLocks xmlns:a="http://schemas.openxmlformats.org/drawingml/2006/main" noGrp="1"/>
          </p:cNvSpPr>
          <p:nvPr/>
        </p:nvSpPr>
        <p:spPr>
          <a:xfrm xmlns:a="http://schemas.openxmlformats.org/drawingml/2006/main">
            <a:off x="6019800" y="2895600"/>
            <a:ext cx="1571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buNone/>
              <a:defRPr sz="1650" b="1" i="0">
                <a:solidFill>
                  <a:srgbClr val="2B241A"/>
                </a:solidFill>
                <a:latin typeface="Georgia"/>
                <a:ea typeface="Georgia"/>
                <a:cs typeface="Georgia"/>
              </a:defRPr>
            </a:pPr>
            <a:r>
              <a:rPr sz="1650" b="1" i="0">
                <a:solidFill>
                  <a:srgbClr val="2B241A"/>
                </a:solidFill>
                <a:latin typeface="Georgia"/>
                <a:ea typeface="Georgia"/>
                <a:cs typeface="Georgia"/>
              </a:rPr>
              <a:t>STORE</a:t>
            </a:r>
          </a:p>
        </p:txBody>
      </p:sp>
      <p:sp>
        <p:nvSpPr>
          <p:cNvPr id="21" name="">
            <a:extLst xmlns:a="http://schemas.openxmlformats.org/drawingml/2006/main">
              <a:ext uri="{FF2B5EF4-FFF2-40B4-BE49-F238E27FC236}">
                <a16:creationId xmlns:a16="http://schemas.microsoft.com/office/drawing/2014/main" id="{F469A270-846E-4ABB-BF74-0C8E619024F1}"/>
              </a:ext>
            </a:extLst>
          </p:cNvPr>
          <p:cNvSpPr>
            <a:spLocks xmlns:a="http://schemas.openxmlformats.org/drawingml/2006/main" noGrp="1"/>
          </p:cNvSpPr>
          <p:nvPr/>
        </p:nvSpPr>
        <p:spPr>
          <a:xfrm xmlns:a="http://schemas.openxmlformats.org/drawingml/2006/main">
            <a:off x="6019800" y="3295650"/>
            <a:ext cx="1571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00" b="0" i="0">
                <a:solidFill>
                  <a:srgbClr val="6A6054"/>
                </a:solidFill>
                <a:latin typeface="Avenir Next"/>
                <a:ea typeface="Avenir Next"/>
                <a:cs typeface="Avenir Next"/>
              </a:defRPr>
            </a:pPr>
            <a:r>
              <a:rPr sz="1200" b="0" i="0">
                <a:solidFill>
                  <a:srgbClr val="6A6054"/>
                </a:solidFill>
                <a:latin typeface="Avenir Next"/>
                <a:ea typeface="Avenir Next"/>
                <a:cs typeface="Avenir Next"/>
              </a:rPr>
              <a:t>Build and publish with Sites</a:t>
            </a:r>
          </a:p>
        </p:txBody>
      </p:sp>
      <p:sp>
        <p:nvSpPr>
          <p:cNvPr id="22" name="">
            <a:extLst xmlns:a="http://schemas.openxmlformats.org/drawingml/2006/main">
              <a:ext uri="{FF2B5EF4-FFF2-40B4-BE49-F238E27FC236}">
                <a16:creationId xmlns:a16="http://schemas.microsoft.com/office/drawing/2014/main" id="{26FB7A08-2303-4286-91E6-08441AE263C0}"/>
              </a:ext>
            </a:extLst>
          </p:cNvPr>
          <p:cNvSpPr>
            <a:spLocks xmlns:a="http://schemas.openxmlformats.org/drawingml/2006/main" noGrp="1"/>
          </p:cNvSpPr>
          <p:nvPr/>
        </p:nvSpPr>
        <p:spPr>
          <a:xfrm xmlns:a="http://schemas.openxmlformats.org/drawingml/2006/main">
            <a:off x="7448550" y="2438400"/>
            <a:ext cx="314325" cy="28575"/>
          </a:xfrm>
          <a:prstGeom xmlns:a="http://schemas.openxmlformats.org/drawingml/2006/main" prst="roundRect">
            <a:avLst>
              <a:gd name="adj" fmla="val 50000"/>
            </a:avLst>
          </a:prstGeom>
          <a:solidFill xmlns:a="http://schemas.openxmlformats.org/drawingml/2006/main">
            <a:srgbClr val="2B241A"/>
          </a:solidFill>
          <a:ln xmlns:a="http://schemas.openxmlformats.org/drawingml/2006/main" w="14288">
            <a:solidFill>
              <a:srgbClr val="2B241A"/>
            </a:solidFill>
          </a:ln>
        </p:spPr>
      </p:sp>
      <p:sp>
        <p:nvSpPr>
          <p:cNvPr id="23" name="">
            <a:extLst xmlns:a="http://schemas.openxmlformats.org/drawingml/2006/main">
              <a:ext uri="{FF2B5EF4-FFF2-40B4-BE49-F238E27FC236}">
                <a16:creationId xmlns:a16="http://schemas.microsoft.com/office/drawing/2014/main" id="{DF9388CF-7CB1-4E37-8AEC-B898AD0AC16B}"/>
              </a:ext>
            </a:extLst>
          </p:cNvPr>
          <p:cNvSpPr>
            <a:spLocks xmlns:a="http://schemas.openxmlformats.org/drawingml/2006/main" noGrp="1"/>
          </p:cNvSpPr>
          <p:nvPr/>
        </p:nvSpPr>
        <p:spPr>
          <a:xfrm xmlns:a="http://schemas.openxmlformats.org/drawingml/2006/main">
            <a:off x="7810500" y="2266950"/>
            <a:ext cx="400050" cy="400050"/>
          </a:xfrm>
          <a:prstGeom xmlns:a="http://schemas.openxmlformats.org/drawingml/2006/main" prst="roundRect">
            <a:avLst>
              <a:gd name="adj" fmla="val 19048"/>
            </a:avLst>
          </a:prstGeom>
          <a:solidFill xmlns:a="http://schemas.openxmlformats.org/drawingml/2006/main">
            <a:srgbClr val="9A7332"/>
          </a:solidFill>
          <a:ln xmlns:a="http://schemas.openxmlformats.org/drawingml/2006/main" w="14288">
            <a:solidFill>
              <a:srgbClr val="9A7332"/>
            </a:solidFill>
          </a:ln>
        </p:spPr>
      </p:sp>
      <p:sp>
        <p:nvSpPr>
          <p:cNvPr id="24" name="">
            <a:extLst xmlns:a="http://schemas.openxmlformats.org/drawingml/2006/main">
              <a:ext uri="{FF2B5EF4-FFF2-40B4-BE49-F238E27FC236}">
                <a16:creationId xmlns:a16="http://schemas.microsoft.com/office/drawing/2014/main" id="{F6488ACF-3B61-4502-9373-BDDBA05AF0FC}"/>
              </a:ext>
            </a:extLst>
          </p:cNvPr>
          <p:cNvSpPr>
            <a:spLocks xmlns:a="http://schemas.openxmlformats.org/drawingml/2006/main" noGrp="1"/>
          </p:cNvSpPr>
          <p:nvPr/>
        </p:nvSpPr>
        <p:spPr>
          <a:xfrm xmlns:a="http://schemas.openxmlformats.org/drawingml/2006/main">
            <a:off x="7810500" y="225742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1" i="0">
                <a:solidFill>
                  <a:srgbClr val="FFFDF8"/>
                </a:solidFill>
                <a:latin typeface="Menlo"/>
                <a:ea typeface="Menlo"/>
                <a:cs typeface="Menlo"/>
              </a:defRPr>
            </a:pPr>
            <a:r>
              <a:rPr sz="1200" b="1" i="0">
                <a:solidFill>
                  <a:srgbClr val="FFFDF8"/>
                </a:solidFill>
                <a:latin typeface="Menlo"/>
                <a:ea typeface="Menlo"/>
                <a:cs typeface="Menlo"/>
              </a:rPr>
              <a:t>5</a:t>
            </a:r>
          </a:p>
        </p:txBody>
      </p:sp>
      <p:sp>
        <p:nvSpPr>
          <p:cNvPr id="25" name="">
            <a:extLst xmlns:a="http://schemas.openxmlformats.org/drawingml/2006/main">
              <a:ext uri="{FF2B5EF4-FFF2-40B4-BE49-F238E27FC236}">
                <a16:creationId xmlns:a16="http://schemas.microsoft.com/office/drawing/2014/main" id="{302B1E23-66A0-4BE1-B4BD-2220CED9976B}"/>
              </a:ext>
            </a:extLst>
          </p:cNvPr>
          <p:cNvSpPr>
            <a:spLocks xmlns:a="http://schemas.openxmlformats.org/drawingml/2006/main" noGrp="1"/>
          </p:cNvSpPr>
          <p:nvPr/>
        </p:nvSpPr>
        <p:spPr>
          <a:xfrm xmlns:a="http://schemas.openxmlformats.org/drawingml/2006/main">
            <a:off x="7791450" y="2895600"/>
            <a:ext cx="1571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buNone/>
              <a:defRPr sz="1650" b="1" i="0">
                <a:solidFill>
                  <a:srgbClr val="2B241A"/>
                </a:solidFill>
                <a:latin typeface="Georgia"/>
                <a:ea typeface="Georgia"/>
                <a:cs typeface="Georgia"/>
              </a:defRPr>
            </a:pPr>
            <a:r>
              <a:rPr sz="1650" b="1" i="0">
                <a:solidFill>
                  <a:srgbClr val="2B241A"/>
                </a:solidFill>
                <a:latin typeface="Georgia"/>
                <a:ea typeface="Georgia"/>
                <a:cs typeface="Georgia"/>
              </a:rPr>
              <a:t>CAMPAIGN</a:t>
            </a:r>
          </a:p>
        </p:txBody>
      </p:sp>
      <p:sp>
        <p:nvSpPr>
          <p:cNvPr id="26" name="">
            <a:extLst xmlns:a="http://schemas.openxmlformats.org/drawingml/2006/main">
              <a:ext uri="{FF2B5EF4-FFF2-40B4-BE49-F238E27FC236}">
                <a16:creationId xmlns:a16="http://schemas.microsoft.com/office/drawing/2014/main" id="{31FC5918-F43A-47D2-B26C-1BBECB3DD61B}"/>
              </a:ext>
            </a:extLst>
          </p:cNvPr>
          <p:cNvSpPr>
            <a:spLocks xmlns:a="http://schemas.openxmlformats.org/drawingml/2006/main" noGrp="1"/>
          </p:cNvSpPr>
          <p:nvPr/>
        </p:nvSpPr>
        <p:spPr>
          <a:xfrm xmlns:a="http://schemas.openxmlformats.org/drawingml/2006/main">
            <a:off x="7791450" y="3295650"/>
            <a:ext cx="1571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00" b="0" i="0">
                <a:solidFill>
                  <a:srgbClr val="6A6054"/>
                </a:solidFill>
                <a:latin typeface="Avenir Next"/>
                <a:ea typeface="Avenir Next"/>
                <a:cs typeface="Avenir Next"/>
              </a:defRPr>
            </a:pPr>
            <a:r>
              <a:rPr sz="1200" b="0" i="0">
                <a:solidFill>
                  <a:srgbClr val="6A6054"/>
                </a:solidFill>
                <a:latin typeface="Avenir Next"/>
                <a:ea typeface="Avenir Next"/>
                <a:cs typeface="Avenir Next"/>
              </a:rPr>
              <a:t>Choose a tool for social and video</a:t>
            </a:r>
          </a:p>
        </p:txBody>
      </p:sp>
      <p:sp>
        <p:nvSpPr>
          <p:cNvPr id="27" name="">
            <a:extLst xmlns:a="http://schemas.openxmlformats.org/drawingml/2006/main">
              <a:ext uri="{FF2B5EF4-FFF2-40B4-BE49-F238E27FC236}">
                <a16:creationId xmlns:a16="http://schemas.microsoft.com/office/drawing/2014/main" id="{85F34CC1-D9AA-4E3F-BAB9-CC80D58A488B}"/>
              </a:ext>
            </a:extLst>
          </p:cNvPr>
          <p:cNvSpPr>
            <a:spLocks xmlns:a="http://schemas.openxmlformats.org/drawingml/2006/main" noGrp="1"/>
          </p:cNvSpPr>
          <p:nvPr/>
        </p:nvSpPr>
        <p:spPr>
          <a:xfrm xmlns:a="http://schemas.openxmlformats.org/drawingml/2006/main">
            <a:off x="9220200" y="2438400"/>
            <a:ext cx="314325" cy="28575"/>
          </a:xfrm>
          <a:prstGeom xmlns:a="http://schemas.openxmlformats.org/drawingml/2006/main" prst="roundRect">
            <a:avLst>
              <a:gd name="adj" fmla="val 50000"/>
            </a:avLst>
          </a:prstGeom>
          <a:solidFill xmlns:a="http://schemas.openxmlformats.org/drawingml/2006/main">
            <a:srgbClr val="2B241A"/>
          </a:solidFill>
          <a:ln xmlns:a="http://schemas.openxmlformats.org/drawingml/2006/main" w="14288">
            <a:solidFill>
              <a:srgbClr val="2B241A"/>
            </a:solidFill>
          </a:ln>
        </p:spPr>
      </p:sp>
      <p:sp>
        <p:nvSpPr>
          <p:cNvPr id="28" name="">
            <a:extLst xmlns:a="http://schemas.openxmlformats.org/drawingml/2006/main">
              <a:ext uri="{FF2B5EF4-FFF2-40B4-BE49-F238E27FC236}">
                <a16:creationId xmlns:a16="http://schemas.microsoft.com/office/drawing/2014/main" id="{D6FA175C-C03D-4188-B73C-68D18FB4FB39}"/>
              </a:ext>
            </a:extLst>
          </p:cNvPr>
          <p:cNvSpPr>
            <a:spLocks xmlns:a="http://schemas.openxmlformats.org/drawingml/2006/main" noGrp="1"/>
          </p:cNvSpPr>
          <p:nvPr/>
        </p:nvSpPr>
        <p:spPr>
          <a:xfrm xmlns:a="http://schemas.openxmlformats.org/drawingml/2006/main">
            <a:off x="9582150" y="2266950"/>
            <a:ext cx="400050" cy="400050"/>
          </a:xfrm>
          <a:prstGeom xmlns:a="http://schemas.openxmlformats.org/drawingml/2006/main" prst="roundRect">
            <a:avLst>
              <a:gd name="adj" fmla="val 19048"/>
            </a:avLst>
          </a:prstGeom>
          <a:solidFill xmlns:a="http://schemas.openxmlformats.org/drawingml/2006/main">
            <a:srgbClr val="2B241A"/>
          </a:solidFill>
          <a:ln xmlns:a="http://schemas.openxmlformats.org/drawingml/2006/main" w="14288">
            <a:solidFill>
              <a:srgbClr val="2B241A"/>
            </a:solidFill>
          </a:ln>
        </p:spPr>
      </p:sp>
      <p:sp>
        <p:nvSpPr>
          <p:cNvPr id="29" name="">
            <a:extLst xmlns:a="http://schemas.openxmlformats.org/drawingml/2006/main">
              <a:ext uri="{FF2B5EF4-FFF2-40B4-BE49-F238E27FC236}">
                <a16:creationId xmlns:a16="http://schemas.microsoft.com/office/drawing/2014/main" id="{B8A9FF96-2135-4E12-ACB0-F084AE715AB0}"/>
              </a:ext>
            </a:extLst>
          </p:cNvPr>
          <p:cNvSpPr>
            <a:spLocks xmlns:a="http://schemas.openxmlformats.org/drawingml/2006/main" noGrp="1"/>
          </p:cNvSpPr>
          <p:nvPr/>
        </p:nvSpPr>
        <p:spPr>
          <a:xfrm xmlns:a="http://schemas.openxmlformats.org/drawingml/2006/main">
            <a:off x="9582150" y="225742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1" i="0">
                <a:solidFill>
                  <a:srgbClr val="FFFDF8"/>
                </a:solidFill>
                <a:latin typeface="Menlo"/>
                <a:ea typeface="Menlo"/>
                <a:cs typeface="Menlo"/>
              </a:defRPr>
            </a:pPr>
            <a:r>
              <a:rPr sz="1200" b="1" i="0">
                <a:solidFill>
                  <a:srgbClr val="FFFDF8"/>
                </a:solidFill>
                <a:latin typeface="Menlo"/>
                <a:ea typeface="Menlo"/>
                <a:cs typeface="Menlo"/>
              </a:rPr>
              <a:t>6</a:t>
            </a:r>
          </a:p>
        </p:txBody>
      </p:sp>
      <p:sp>
        <p:nvSpPr>
          <p:cNvPr id="30" name="">
            <a:extLst xmlns:a="http://schemas.openxmlformats.org/drawingml/2006/main">
              <a:ext uri="{FF2B5EF4-FFF2-40B4-BE49-F238E27FC236}">
                <a16:creationId xmlns:a16="http://schemas.microsoft.com/office/drawing/2014/main" id="{039E971E-A1E2-4672-8675-864F7C38EE8D}"/>
              </a:ext>
            </a:extLst>
          </p:cNvPr>
          <p:cNvSpPr>
            <a:spLocks xmlns:a="http://schemas.openxmlformats.org/drawingml/2006/main" noGrp="1"/>
          </p:cNvSpPr>
          <p:nvPr/>
        </p:nvSpPr>
        <p:spPr>
          <a:xfrm xmlns:a="http://schemas.openxmlformats.org/drawingml/2006/main">
            <a:off x="9563100" y="2895600"/>
            <a:ext cx="1571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buNone/>
              <a:defRPr sz="1650" b="1" i="0">
                <a:solidFill>
                  <a:srgbClr val="2B241A"/>
                </a:solidFill>
                <a:latin typeface="Georgia"/>
                <a:ea typeface="Georgia"/>
                <a:cs typeface="Georgia"/>
              </a:defRPr>
            </a:pPr>
            <a:r>
              <a:rPr sz="1650" b="1" i="0">
                <a:solidFill>
                  <a:srgbClr val="2B241A"/>
                </a:solidFill>
                <a:latin typeface="Georgia"/>
                <a:ea typeface="Georgia"/>
                <a:cs typeface="Georgia"/>
              </a:rPr>
              <a:t>CHECK</a:t>
            </a:r>
          </a:p>
        </p:txBody>
      </p:sp>
      <p:sp>
        <p:nvSpPr>
          <p:cNvPr id="31" name="">
            <a:extLst xmlns:a="http://schemas.openxmlformats.org/drawingml/2006/main">
              <a:ext uri="{FF2B5EF4-FFF2-40B4-BE49-F238E27FC236}">
                <a16:creationId xmlns:a16="http://schemas.microsoft.com/office/drawing/2014/main" id="{4300372D-6961-4B8A-9194-B31D9ACF555A}"/>
              </a:ext>
            </a:extLst>
          </p:cNvPr>
          <p:cNvSpPr>
            <a:spLocks xmlns:a="http://schemas.openxmlformats.org/drawingml/2006/main" noGrp="1"/>
          </p:cNvSpPr>
          <p:nvPr/>
        </p:nvSpPr>
        <p:spPr>
          <a:xfrm xmlns:a="http://schemas.openxmlformats.org/drawingml/2006/main">
            <a:off x="9563100" y="3295650"/>
            <a:ext cx="1571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00" b="0" i="0">
                <a:solidFill>
                  <a:srgbClr val="6A6054"/>
                </a:solidFill>
                <a:latin typeface="Avenir Next"/>
                <a:ea typeface="Avenir Next"/>
                <a:cs typeface="Avenir Next"/>
              </a:defRPr>
            </a:pPr>
            <a:r>
              <a:rPr sz="1200" b="0" i="0">
                <a:solidFill>
                  <a:srgbClr val="6A6054"/>
                </a:solidFill>
                <a:latin typeface="Avenir Next"/>
                <a:ea typeface="Avenir Next"/>
                <a:cs typeface="Avenir Next"/>
              </a:rPr>
              <a:t>Repair one cross-format mismatch</a:t>
            </a:r>
          </a:p>
        </p:txBody>
      </p:sp>
      <p:sp>
        <p:nvSpPr>
          <p:cNvPr id="32" name="">
            <a:extLst xmlns:a="http://schemas.openxmlformats.org/drawingml/2006/main">
              <a:ext uri="{FF2B5EF4-FFF2-40B4-BE49-F238E27FC236}">
                <a16:creationId xmlns:a16="http://schemas.microsoft.com/office/drawing/2014/main" id="{A2137F67-048C-4A68-BFA2-CD63661955FB}"/>
              </a:ext>
            </a:extLst>
          </p:cNvPr>
          <p:cNvSpPr>
            <a:spLocks xmlns:a="http://schemas.openxmlformats.org/drawingml/2006/main" noGrp="1"/>
          </p:cNvSpPr>
          <p:nvPr/>
        </p:nvSpPr>
        <p:spPr>
          <a:xfrm xmlns:a="http://schemas.openxmlformats.org/drawingml/2006/main">
            <a:off x="723900" y="4762500"/>
            <a:ext cx="10744200" cy="666750"/>
          </a:xfrm>
          <a:prstGeom xmlns:a="http://schemas.openxmlformats.org/drawingml/2006/main" prst="roundRect">
            <a:avLst>
              <a:gd name="adj" fmla="val 11429"/>
            </a:avLst>
          </a:prstGeom>
          <a:solidFill xmlns:a="http://schemas.openxmlformats.org/drawingml/2006/main">
            <a:srgbClr val="FFFDF8"/>
          </a:solidFill>
          <a:ln xmlns:a="http://schemas.openxmlformats.org/drawingml/2006/main" w="14288">
            <a:solidFill>
              <a:srgbClr val="2B241A"/>
            </a:solidFill>
          </a:ln>
        </p:spPr>
      </p:sp>
      <p:sp>
        <p:nvSpPr>
          <p:cNvPr id="33" name="">
            <a:extLst xmlns:a="http://schemas.openxmlformats.org/drawingml/2006/main">
              <a:ext uri="{FF2B5EF4-FFF2-40B4-BE49-F238E27FC236}">
                <a16:creationId xmlns:a16="http://schemas.microsoft.com/office/drawing/2014/main" id="{9862066F-B492-4E07-A2EB-B07AA2913D25}"/>
              </a:ext>
            </a:extLst>
          </p:cNvPr>
          <p:cNvSpPr>
            <a:spLocks xmlns:a="http://schemas.openxmlformats.org/drawingml/2006/main" noGrp="1"/>
          </p:cNvSpPr>
          <p:nvPr/>
        </p:nvSpPr>
        <p:spPr>
          <a:xfrm xmlns:a="http://schemas.openxmlformats.org/drawingml/2006/main">
            <a:off x="1000125" y="4876800"/>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298"/>
          </a:bodyPr>
          <a:lstStyle xmlns:a="http://schemas.openxmlformats.org/drawingml/2006/main"/>
          <a:p xmlns:a="http://schemas.openxmlformats.org/drawingml/2006/main">
            <a:pPr algn="ctr">
              <a:buNone/>
              <a:defRPr sz="1650" b="1" i="0">
                <a:solidFill>
                  <a:srgbClr val="2B241A"/>
                </a:solidFill>
                <a:latin typeface="Avenir Next"/>
                <a:ea typeface="Avenir Next"/>
                <a:cs typeface="Avenir Next"/>
              </a:defRPr>
            </a:pPr>
            <a:r>
              <a:rPr sz="1650" b="1" i="0">
                <a:solidFill>
                  <a:srgbClr val="2B241A"/>
                </a:solidFill>
                <a:latin typeface="Avenir Next"/>
                <a:ea typeface="Avenir Next"/>
                <a:cs typeface="Avenir Next"/>
              </a:rPr>
              <a:t>Soft Hours is the demonstration and fallback. Your store uses one Store Kit and the same checkpoints.</a:t>
            </a:r>
          </a:p>
        </p:txBody>
      </p:sp>
    </p:spTree>
    <p:extLst>
      <p:ext uri="{BB962C8B-B14F-4D97-AF65-F5344CB8AC3E}">
        <p14:creationId xmlns:p14="http://schemas.microsoft.com/office/powerpoint/2010/main" val="1707431947"/>
      </p:ext>
    </p:extLst>
  </p:cSld>
</p:sld>
</file>

<file path=ppt/slides/slide4.xml><?xml version="1.0" encoding="utf-8"?>
<p:sld xmlns:p="http://schemas.openxmlformats.org/presentationml/2006/main">
  <p:cSld>
    <p:bg>
      <p:bgPr>
        <a:solidFill xmlns:a="http://schemas.openxmlformats.org/drawingml/2006/main">
          <a:srgbClr val="F5EDDD"/>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9162EF71-6E19-426F-8513-5F9C053C6FFD}"/>
              </a:ext>
            </a:extLst>
          </p:cNvPr>
          <p:cNvSpPr>
            <a:spLocks xmlns:a="http://schemas.openxmlformats.org/drawingml/2006/main" noGrp="1"/>
          </p:cNvSpPr>
          <p:nvPr/>
        </p:nvSpPr>
        <p:spPr>
          <a:xfrm xmlns:a="http://schemas.openxmlformats.org/drawingml/2006/main">
            <a:off x="723900" y="514350"/>
            <a:ext cx="10744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3000" b="1" i="0">
                <a:solidFill>
                  <a:srgbClr val="2B241A"/>
                </a:solidFill>
                <a:latin typeface="Georgia"/>
                <a:ea typeface="Georgia"/>
                <a:cs typeface="Georgia"/>
              </a:defRPr>
            </a:pPr>
            <a:r>
              <a:rPr sz="3000" b="1" i="0">
                <a:solidFill>
                  <a:srgbClr val="2B241A"/>
                </a:solidFill>
                <a:latin typeface="Georgia"/>
                <a:ea typeface="Georgia"/>
                <a:cs typeface="Georgia"/>
              </a:rPr>
              <a:t>Instructor example: Soft Hours</a:t>
            </a:r>
          </a:p>
        </p:txBody>
      </p:sp>
      <p:sp>
        <p:nvSpPr>
          <p:cNvPr id="2" name="">
            <a:extLst xmlns:a="http://schemas.openxmlformats.org/drawingml/2006/main">
              <a:ext uri="{FF2B5EF4-FFF2-40B4-BE49-F238E27FC236}">
                <a16:creationId xmlns:a16="http://schemas.microsoft.com/office/drawing/2014/main" id="{95E3E4C4-1114-4DFE-8AAF-316A5AEFE85C}"/>
              </a:ext>
            </a:extLst>
          </p:cNvPr>
          <p:cNvSpPr>
            <a:spLocks xmlns:a="http://schemas.openxmlformats.org/drawingml/2006/main" noGrp="1"/>
          </p:cNvSpPr>
          <p:nvPr/>
        </p:nvSpPr>
        <p:spPr>
          <a:xfrm xmlns:a="http://schemas.openxmlformats.org/drawingml/2006/main">
            <a:off x="742950" y="1257300"/>
            <a:ext cx="1000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i="0">
                <a:solidFill>
                  <a:srgbClr val="6A6054"/>
                </a:solidFill>
                <a:latin typeface="Avenir Next"/>
                <a:ea typeface="Avenir Next"/>
                <a:cs typeface="Avenir Next"/>
              </a:defRPr>
            </a:pPr>
            <a:r>
              <a:rPr sz="1350" b="0" i="0">
                <a:solidFill>
                  <a:srgbClr val="6A6054"/>
                </a:solidFill>
                <a:latin typeface="Avenir Next"/>
                <a:ea typeface="Avenir Next"/>
                <a:cs typeface="Avenir Next"/>
              </a:rPr>
              <a:t>A fictional store with a visual world that is easy to reproduce across formats</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596e0573f49445c8"/>
          <a:srcRect xmlns:a="http://schemas.openxmlformats.org/drawingml/2006/main" l="526" t="0" r="526" b="0"/>
          <a:stretch xmlns:a="http://schemas.openxmlformats.org/drawingml/2006/main">
            <a:fillRect l="0" t="0" r="0" b="0"/>
          </a:stretch>
        </p:blipFill>
        <p:spPr>
          <a:xfrm xmlns:a="http://schemas.openxmlformats.org/drawingml/2006/main">
            <a:off x="6096000" y="1790700"/>
            <a:ext cx="5372100" cy="3619500"/>
          </a:xfrm>
          <a:prstGeom xmlns:a="http://schemas.openxmlformats.org/drawingml/2006/main" prst="roundRect">
            <a:avLst>
              <a:gd name="adj" fmla="val 3158"/>
            </a:avLst>
          </a:prstGeom>
        </p:spPr>
      </p:pic>
      <p:sp>
        <p:nvSpPr>
          <p:cNvPr id="4" name="">
            <a:extLst xmlns:a="http://schemas.openxmlformats.org/drawingml/2006/main">
              <a:ext uri="{FF2B5EF4-FFF2-40B4-BE49-F238E27FC236}">
                <a16:creationId xmlns:a16="http://schemas.microsoft.com/office/drawing/2014/main" id="{A8423684-0F71-4F90-AA48-69CD7CE8AF5C}"/>
              </a:ext>
            </a:extLst>
          </p:cNvPr>
          <p:cNvSpPr>
            <a:spLocks xmlns:a="http://schemas.openxmlformats.org/drawingml/2006/main" noGrp="1"/>
          </p:cNvSpPr>
          <p:nvPr/>
        </p:nvSpPr>
        <p:spPr>
          <a:xfrm xmlns:a="http://schemas.openxmlformats.org/drawingml/2006/main">
            <a:off x="723900" y="19240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975" b="1" i="0">
                <a:solidFill>
                  <a:srgbClr val="C9473D"/>
                </a:solidFill>
                <a:latin typeface="Menlo"/>
                <a:ea typeface="Menlo"/>
                <a:cs typeface="Menlo"/>
              </a:defRPr>
            </a:pPr>
            <a:r>
              <a:rPr sz="975" b="1" i="0">
                <a:solidFill>
                  <a:srgbClr val="C9473D"/>
                </a:solidFill>
                <a:latin typeface="Menlo"/>
                <a:ea typeface="Menlo"/>
                <a:cs typeface="Menlo"/>
              </a:rPr>
              <a:t>STORE</a:t>
            </a:r>
          </a:p>
        </p:txBody>
      </p:sp>
      <p:sp>
        <p:nvSpPr>
          <p:cNvPr id="5" name="">
            <a:extLst xmlns:a="http://schemas.openxmlformats.org/drawingml/2006/main">
              <a:ext uri="{FF2B5EF4-FFF2-40B4-BE49-F238E27FC236}">
                <a16:creationId xmlns:a16="http://schemas.microsoft.com/office/drawing/2014/main" id="{467DE53F-411E-43AA-81FF-A67B4529CC99}"/>
              </a:ext>
            </a:extLst>
          </p:cNvPr>
          <p:cNvSpPr>
            <a:spLocks xmlns:a="http://schemas.openxmlformats.org/drawingml/2006/main" noGrp="1"/>
          </p:cNvSpPr>
          <p:nvPr/>
        </p:nvSpPr>
        <p:spPr>
          <a:xfrm xmlns:a="http://schemas.openxmlformats.org/drawingml/2006/main">
            <a:off x="723900" y="2266950"/>
            <a:ext cx="4762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850" b="1" i="0">
                <a:solidFill>
                  <a:srgbClr val="2B241A"/>
                </a:solidFill>
                <a:latin typeface="Georgia"/>
                <a:ea typeface="Georgia"/>
                <a:cs typeface="Georgia"/>
              </a:defRPr>
            </a:pPr>
            <a:r>
              <a:rPr sz="2850" b="1" i="0">
                <a:solidFill>
                  <a:srgbClr val="2B241A"/>
                </a:solidFill>
                <a:latin typeface="Georgia"/>
                <a:ea typeface="Georgia"/>
                <a:cs typeface="Georgia"/>
              </a:rPr>
              <a:t>Small objects for</a:t>
            </a:r>
          </a:p>
          <a:p xmlns:a="http://schemas.openxmlformats.org/drawingml/2006/main">
            <a:pPr algn="l">
              <a:buNone/>
              <a:defRPr sz="2850" b="1" i="0">
                <a:solidFill>
                  <a:srgbClr val="2B241A"/>
                </a:solidFill>
                <a:latin typeface="Georgia"/>
                <a:ea typeface="Georgia"/>
                <a:cs typeface="Georgia"/>
              </a:defRPr>
            </a:pPr>
            <a:r>
              <a:rPr sz="2850" b="1" i="0">
                <a:solidFill>
                  <a:srgbClr val="2B241A"/>
                </a:solidFill>
                <a:latin typeface="Georgia"/>
                <a:ea typeface="Georgia"/>
                <a:cs typeface="Georgia"/>
              </a:rPr>
              <a:t>a slower evening</a:t>
            </a:r>
          </a:p>
        </p:txBody>
      </p:sp>
      <p:sp>
        <p:nvSpPr>
          <p:cNvPr id="6" name="">
            <a:extLst xmlns:a="http://schemas.openxmlformats.org/drawingml/2006/main">
              <a:ext uri="{FF2B5EF4-FFF2-40B4-BE49-F238E27FC236}">
                <a16:creationId xmlns:a16="http://schemas.microsoft.com/office/drawing/2014/main" id="{85335E58-A32A-4CB0-B069-FB41D298C942}"/>
              </a:ext>
            </a:extLst>
          </p:cNvPr>
          <p:cNvSpPr>
            <a:spLocks xmlns:a="http://schemas.openxmlformats.org/drawingml/2006/main" noGrp="1"/>
          </p:cNvSpPr>
          <p:nvPr/>
        </p:nvSpPr>
        <p:spPr>
          <a:xfrm xmlns:a="http://schemas.openxmlformats.org/drawingml/2006/main">
            <a:off x="723900" y="3581400"/>
            <a:ext cx="1123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900" b="1" i="0">
                <a:solidFill>
                  <a:srgbClr val="315E82"/>
                </a:solidFill>
                <a:latin typeface="Menlo"/>
                <a:ea typeface="Menlo"/>
                <a:cs typeface="Menlo"/>
              </a:defRPr>
            </a:pPr>
            <a:r>
              <a:rPr sz="900" b="1" i="0">
                <a:solidFill>
                  <a:srgbClr val="315E82"/>
                </a:solidFill>
                <a:latin typeface="Menlo"/>
                <a:ea typeface="Menlo"/>
                <a:cs typeface="Menlo"/>
              </a:rPr>
              <a:t>CUSTOMER</a:t>
            </a:r>
          </a:p>
        </p:txBody>
      </p:sp>
      <p:sp>
        <p:nvSpPr>
          <p:cNvPr id="7" name="">
            <a:extLst xmlns:a="http://schemas.openxmlformats.org/drawingml/2006/main">
              <a:ext uri="{FF2B5EF4-FFF2-40B4-BE49-F238E27FC236}">
                <a16:creationId xmlns:a16="http://schemas.microsoft.com/office/drawing/2014/main" id="{9262EE83-D826-4701-BEC1-057C64706899}"/>
              </a:ext>
            </a:extLst>
          </p:cNvPr>
          <p:cNvSpPr>
            <a:spLocks xmlns:a="http://schemas.openxmlformats.org/drawingml/2006/main" noGrp="1"/>
          </p:cNvSpPr>
          <p:nvPr/>
        </p:nvSpPr>
        <p:spPr>
          <a:xfrm xmlns:a="http://schemas.openxmlformats.org/drawingml/2006/main">
            <a:off x="1924050" y="3543300"/>
            <a:ext cx="3714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167"/>
          </a:bodyPr>
          <a:lstStyle xmlns:a="http://schemas.openxmlformats.org/drawingml/2006/main"/>
          <a:p xmlns:a="http://schemas.openxmlformats.org/drawingml/2006/main">
            <a:pPr algn="l">
              <a:buNone/>
              <a:defRPr sz="1200" b="1" i="0">
                <a:solidFill>
                  <a:srgbClr val="2B241A"/>
                </a:solidFill>
                <a:latin typeface="Avenir Next"/>
                <a:ea typeface="Avenir Next"/>
                <a:cs typeface="Avenir Next"/>
              </a:defRPr>
            </a:pPr>
            <a:r>
              <a:rPr sz="1200" b="1" i="0">
                <a:solidFill>
                  <a:srgbClr val="2B241A"/>
                </a:solidFill>
                <a:latin typeface="Avenir Next"/>
                <a:ea typeface="Avenir Next"/>
                <a:cs typeface="Avenir Next"/>
              </a:rPr>
              <a:t>Apartment dwellers who want an evening ritual without wellness clichés</a:t>
            </a:r>
          </a:p>
        </p:txBody>
      </p:sp>
      <p:sp>
        <p:nvSpPr>
          <p:cNvPr id="8" name="">
            <a:extLst xmlns:a="http://schemas.openxmlformats.org/drawingml/2006/main">
              <a:ext uri="{FF2B5EF4-FFF2-40B4-BE49-F238E27FC236}">
                <a16:creationId xmlns:a16="http://schemas.microsoft.com/office/drawing/2014/main" id="{79539DEC-AD12-4FCC-AFFC-A5B79D78AB0E}"/>
              </a:ext>
            </a:extLst>
          </p:cNvPr>
          <p:cNvSpPr>
            <a:spLocks xmlns:a="http://schemas.openxmlformats.org/drawingml/2006/main" noGrp="1"/>
          </p:cNvSpPr>
          <p:nvPr/>
        </p:nvSpPr>
        <p:spPr>
          <a:xfrm xmlns:a="http://schemas.openxmlformats.org/drawingml/2006/main">
            <a:off x="723900" y="4038600"/>
            <a:ext cx="1123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900" b="1" i="0">
                <a:solidFill>
                  <a:srgbClr val="315E82"/>
                </a:solidFill>
                <a:latin typeface="Menlo"/>
                <a:ea typeface="Menlo"/>
                <a:cs typeface="Menlo"/>
              </a:defRPr>
            </a:pPr>
            <a:r>
              <a:rPr sz="900" b="1" i="0">
                <a:solidFill>
                  <a:srgbClr val="315E82"/>
                </a:solidFill>
                <a:latin typeface="Menlo"/>
                <a:ea typeface="Menlo"/>
                <a:cs typeface="Menlo"/>
              </a:rPr>
              <a:t>VIBE</a:t>
            </a:r>
          </a:p>
        </p:txBody>
      </p:sp>
      <p:sp>
        <p:nvSpPr>
          <p:cNvPr id="9" name="">
            <a:extLst xmlns:a="http://schemas.openxmlformats.org/drawingml/2006/main">
              <a:ext uri="{FF2B5EF4-FFF2-40B4-BE49-F238E27FC236}">
                <a16:creationId xmlns:a16="http://schemas.microsoft.com/office/drawing/2014/main" id="{D07E9F36-E198-4888-A3AD-A555231783BE}"/>
              </a:ext>
            </a:extLst>
          </p:cNvPr>
          <p:cNvSpPr>
            <a:spLocks xmlns:a="http://schemas.openxmlformats.org/drawingml/2006/main" noGrp="1"/>
          </p:cNvSpPr>
          <p:nvPr/>
        </p:nvSpPr>
        <p:spPr>
          <a:xfrm xmlns:a="http://schemas.openxmlformats.org/drawingml/2006/main">
            <a:off x="1924050" y="4000500"/>
            <a:ext cx="3714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200" b="1" i="0">
                <a:solidFill>
                  <a:srgbClr val="2B241A"/>
                </a:solidFill>
                <a:latin typeface="Avenir Next"/>
                <a:ea typeface="Avenir Next"/>
                <a:cs typeface="Avenir Next"/>
              </a:defRPr>
            </a:pPr>
            <a:r>
              <a:rPr sz="1200" b="1" i="0">
                <a:solidFill>
                  <a:srgbClr val="2B241A"/>
                </a:solidFill>
                <a:latin typeface="Avenir Next"/>
                <a:ea typeface="Avenir Next"/>
                <a:cs typeface="Avenir Next"/>
              </a:rPr>
              <a:t>Late-afternoon · tactile · playful</a:t>
            </a:r>
          </a:p>
        </p:txBody>
      </p:sp>
      <p:sp>
        <p:nvSpPr>
          <p:cNvPr id="10" name="">
            <a:extLst xmlns:a="http://schemas.openxmlformats.org/drawingml/2006/main">
              <a:ext uri="{FF2B5EF4-FFF2-40B4-BE49-F238E27FC236}">
                <a16:creationId xmlns:a16="http://schemas.microsoft.com/office/drawing/2014/main" id="{8D90D870-319F-4BE0-B918-D0F24EC39E88}"/>
              </a:ext>
            </a:extLst>
          </p:cNvPr>
          <p:cNvSpPr>
            <a:spLocks xmlns:a="http://schemas.openxmlformats.org/drawingml/2006/main" noGrp="1"/>
          </p:cNvSpPr>
          <p:nvPr/>
        </p:nvSpPr>
        <p:spPr>
          <a:xfrm xmlns:a="http://schemas.openxmlformats.org/drawingml/2006/main">
            <a:off x="723900" y="4495800"/>
            <a:ext cx="1123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900" b="1" i="0">
                <a:solidFill>
                  <a:srgbClr val="315E82"/>
                </a:solidFill>
                <a:latin typeface="Menlo"/>
                <a:ea typeface="Menlo"/>
                <a:cs typeface="Menlo"/>
              </a:defRPr>
            </a:pPr>
            <a:r>
              <a:rPr sz="900" b="1" i="0">
                <a:solidFill>
                  <a:srgbClr val="315E82"/>
                </a:solidFill>
                <a:latin typeface="Menlo"/>
                <a:ea typeface="Menlo"/>
                <a:cs typeface="Menlo"/>
              </a:rPr>
              <a:t>PALETTE</a:t>
            </a:r>
          </a:p>
        </p:txBody>
      </p:sp>
      <p:sp>
        <p:nvSpPr>
          <p:cNvPr id="11" name="">
            <a:extLst xmlns:a="http://schemas.openxmlformats.org/drawingml/2006/main">
              <a:ext uri="{FF2B5EF4-FFF2-40B4-BE49-F238E27FC236}">
                <a16:creationId xmlns:a16="http://schemas.microsoft.com/office/drawing/2014/main" id="{46E6D279-0EC9-4F3A-A182-03D1451E1165}"/>
              </a:ext>
            </a:extLst>
          </p:cNvPr>
          <p:cNvSpPr>
            <a:spLocks xmlns:a="http://schemas.openxmlformats.org/drawingml/2006/main" noGrp="1"/>
          </p:cNvSpPr>
          <p:nvPr/>
        </p:nvSpPr>
        <p:spPr>
          <a:xfrm xmlns:a="http://schemas.openxmlformats.org/drawingml/2006/main">
            <a:off x="1924050" y="4457700"/>
            <a:ext cx="3714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200" b="1" i="0">
                <a:solidFill>
                  <a:srgbClr val="2B241A"/>
                </a:solidFill>
                <a:latin typeface="Avenir Next"/>
                <a:ea typeface="Avenir Next"/>
                <a:cs typeface="Avenir Next"/>
              </a:defRPr>
            </a:pPr>
            <a:r>
              <a:rPr sz="1200" b="1" i="0">
                <a:solidFill>
                  <a:srgbClr val="2B241A"/>
                </a:solidFill>
                <a:latin typeface="Avenir Next"/>
                <a:ea typeface="Avenir Next"/>
                <a:cs typeface="Avenir Next"/>
              </a:rPr>
              <a:t>Warm cream · oat · cobalt · sage · tomato red</a:t>
            </a:r>
          </a:p>
        </p:txBody>
      </p:sp>
      <p:sp>
        <p:nvSpPr>
          <p:cNvPr id="12" name="">
            <a:extLst xmlns:a="http://schemas.openxmlformats.org/drawingml/2006/main">
              <a:ext uri="{FF2B5EF4-FFF2-40B4-BE49-F238E27FC236}">
                <a16:creationId xmlns:a16="http://schemas.microsoft.com/office/drawing/2014/main" id="{084FDD02-4F36-4833-9E0E-C0F55F75369A}"/>
              </a:ext>
            </a:extLst>
          </p:cNvPr>
          <p:cNvSpPr>
            <a:spLocks xmlns:a="http://schemas.openxmlformats.org/drawingml/2006/main" noGrp="1"/>
          </p:cNvSpPr>
          <p:nvPr/>
        </p:nvSpPr>
        <p:spPr>
          <a:xfrm xmlns:a="http://schemas.openxmlformats.org/drawingml/2006/main">
            <a:off x="723900" y="4953000"/>
            <a:ext cx="1123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900" b="1" i="0">
                <a:solidFill>
                  <a:srgbClr val="315E82"/>
                </a:solidFill>
                <a:latin typeface="Menlo"/>
                <a:ea typeface="Menlo"/>
                <a:cs typeface="Menlo"/>
              </a:defRPr>
            </a:pPr>
            <a:r>
              <a:rPr sz="900" b="1" i="0">
                <a:solidFill>
                  <a:srgbClr val="315E82"/>
                </a:solidFill>
                <a:latin typeface="Menlo"/>
                <a:ea typeface="Menlo"/>
                <a:cs typeface="Menlo"/>
              </a:rPr>
              <a:t>AVOID</a:t>
            </a:r>
          </a:p>
        </p:txBody>
      </p:sp>
      <p:sp>
        <p:nvSpPr>
          <p:cNvPr id="13" name="">
            <a:extLst xmlns:a="http://schemas.openxmlformats.org/drawingml/2006/main">
              <a:ext uri="{FF2B5EF4-FFF2-40B4-BE49-F238E27FC236}">
                <a16:creationId xmlns:a16="http://schemas.microsoft.com/office/drawing/2014/main" id="{D27CA8F7-946C-4507-AAFB-9759431B6AD3}"/>
              </a:ext>
            </a:extLst>
          </p:cNvPr>
          <p:cNvSpPr>
            <a:spLocks xmlns:a="http://schemas.openxmlformats.org/drawingml/2006/main" noGrp="1"/>
          </p:cNvSpPr>
          <p:nvPr/>
        </p:nvSpPr>
        <p:spPr>
          <a:xfrm xmlns:a="http://schemas.openxmlformats.org/drawingml/2006/main">
            <a:off x="1924050" y="4914900"/>
            <a:ext cx="3714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3128"/>
          </a:bodyPr>
          <a:lstStyle xmlns:a="http://schemas.openxmlformats.org/drawingml/2006/main"/>
          <a:p xmlns:a="http://schemas.openxmlformats.org/drawingml/2006/main">
            <a:pPr algn="l">
              <a:buNone/>
              <a:defRPr sz="1200" b="1" i="0">
                <a:solidFill>
                  <a:srgbClr val="2B241A"/>
                </a:solidFill>
                <a:latin typeface="Avenir Next"/>
                <a:ea typeface="Avenir Next"/>
                <a:cs typeface="Avenir Next"/>
              </a:defRPr>
            </a:pPr>
            <a:r>
              <a:rPr sz="1200" b="1" i="0">
                <a:solidFill>
                  <a:srgbClr val="2B241A"/>
                </a:solidFill>
                <a:latin typeface="Avenir Next"/>
                <a:ea typeface="Avenir Next"/>
                <a:cs typeface="Avenir Next"/>
              </a:rPr>
              <a:t>Spa imagery · dried flowers · beige minimalism · hard sell</a:t>
            </a:r>
          </a:p>
        </p:txBody>
      </p:sp>
    </p:spTree>
    <p:extLst>
      <p:ext uri="{BB962C8B-B14F-4D97-AF65-F5344CB8AC3E}">
        <p14:creationId xmlns:p14="http://schemas.microsoft.com/office/powerpoint/2010/main" val="676860292"/>
      </p:ext>
    </p:extLst>
  </p:cSld>
</p:sld>
</file>

<file path=ppt/slides/slide5.xml><?xml version="1.0" encoding="utf-8"?>
<p:sld xmlns:p="http://schemas.openxmlformats.org/presentationml/2006/main">
  <p:cSld>
    <p:bg>
      <p:bgPr>
        <a:solidFill xmlns:a="http://schemas.openxmlformats.org/drawingml/2006/main">
          <a:srgbClr val="F5EDDD"/>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A78C733E-9ADC-4A98-A46C-89D7A0E753EF}"/>
              </a:ext>
            </a:extLst>
          </p:cNvPr>
          <p:cNvSpPr>
            <a:spLocks xmlns:a="http://schemas.openxmlformats.org/drawingml/2006/main" noGrp="1"/>
          </p:cNvSpPr>
          <p:nvPr/>
        </p:nvSpPr>
        <p:spPr>
          <a:xfrm xmlns:a="http://schemas.openxmlformats.org/drawingml/2006/main">
            <a:off x="723900" y="514350"/>
            <a:ext cx="10744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3000" b="1" i="0">
                <a:solidFill>
                  <a:srgbClr val="2B241A"/>
                </a:solidFill>
                <a:latin typeface="Georgia"/>
                <a:ea typeface="Georgia"/>
                <a:cs typeface="Georgia"/>
              </a:defRPr>
            </a:pPr>
            <a:r>
              <a:rPr sz="3000" b="1" i="0">
                <a:solidFill>
                  <a:srgbClr val="2B241A"/>
                </a:solidFill>
                <a:latin typeface="Georgia"/>
                <a:ea typeface="Georgia"/>
                <a:cs typeface="Georgia"/>
              </a:rPr>
              <a:t>Concept 1: three useful inputs</a:t>
            </a:r>
          </a:p>
        </p:txBody>
      </p:sp>
      <p:sp>
        <p:nvSpPr>
          <p:cNvPr id="2" name="">
            <a:extLst xmlns:a="http://schemas.openxmlformats.org/drawingml/2006/main">
              <a:ext uri="{FF2B5EF4-FFF2-40B4-BE49-F238E27FC236}">
                <a16:creationId xmlns:a16="http://schemas.microsoft.com/office/drawing/2014/main" id="{1CBBF15E-DCDF-4E12-A7B3-E7A62AC47584}"/>
              </a:ext>
            </a:extLst>
          </p:cNvPr>
          <p:cNvSpPr>
            <a:spLocks xmlns:a="http://schemas.openxmlformats.org/drawingml/2006/main" noGrp="1"/>
          </p:cNvSpPr>
          <p:nvPr/>
        </p:nvSpPr>
        <p:spPr>
          <a:xfrm xmlns:a="http://schemas.openxmlformats.org/drawingml/2006/main">
            <a:off x="742950" y="1257300"/>
            <a:ext cx="1000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i="0">
                <a:solidFill>
                  <a:srgbClr val="6A6054"/>
                </a:solidFill>
                <a:latin typeface="Avenir Next"/>
                <a:ea typeface="Avenir Next"/>
                <a:cs typeface="Avenir Next"/>
              </a:defRPr>
            </a:pPr>
            <a:r>
              <a:rPr sz="1350" b="0" i="0">
                <a:solidFill>
                  <a:srgbClr val="6A6054"/>
                </a:solidFill>
                <a:latin typeface="Avenir Next"/>
                <a:ea typeface="Avenir Next"/>
                <a:cs typeface="Avenir Next"/>
              </a:rPr>
              <a:t>Three detailed answers give the system enough context to make expert recommendations</a:t>
            </a:r>
          </a:p>
        </p:txBody>
      </p:sp>
      <p:sp>
        <p:nvSpPr>
          <p:cNvPr id="3" name="">
            <a:extLst xmlns:a="http://schemas.openxmlformats.org/drawingml/2006/main">
              <a:ext uri="{FF2B5EF4-FFF2-40B4-BE49-F238E27FC236}">
                <a16:creationId xmlns:a16="http://schemas.microsoft.com/office/drawing/2014/main" id="{DEEDF47D-14B3-4170-83D8-8376CD32BA09}"/>
              </a:ext>
            </a:extLst>
          </p:cNvPr>
          <p:cNvSpPr>
            <a:spLocks xmlns:a="http://schemas.openxmlformats.org/drawingml/2006/main" noGrp="1"/>
          </p:cNvSpPr>
          <p:nvPr/>
        </p:nvSpPr>
        <p:spPr>
          <a:xfrm xmlns:a="http://schemas.openxmlformats.org/drawingml/2006/main">
            <a:off x="819150" y="2038350"/>
            <a:ext cx="400050" cy="400050"/>
          </a:xfrm>
          <a:prstGeom xmlns:a="http://schemas.openxmlformats.org/drawingml/2006/main" prst="roundRect">
            <a:avLst>
              <a:gd name="adj" fmla="val 19048"/>
            </a:avLst>
          </a:prstGeom>
          <a:solidFill xmlns:a="http://schemas.openxmlformats.org/drawingml/2006/main">
            <a:srgbClr val="C9473D"/>
          </a:solidFill>
          <a:ln xmlns:a="http://schemas.openxmlformats.org/drawingml/2006/main" w="14288">
            <a:solidFill>
              <a:srgbClr val="C9473D"/>
            </a:solidFill>
          </a:ln>
        </p:spPr>
      </p:sp>
      <p:sp>
        <p:nvSpPr>
          <p:cNvPr id="4" name="">
            <a:extLst xmlns:a="http://schemas.openxmlformats.org/drawingml/2006/main">
              <a:ext uri="{FF2B5EF4-FFF2-40B4-BE49-F238E27FC236}">
                <a16:creationId xmlns:a16="http://schemas.microsoft.com/office/drawing/2014/main" id="{72962D1A-8731-4888-AD44-155707B98E91}"/>
              </a:ext>
            </a:extLst>
          </p:cNvPr>
          <p:cNvSpPr>
            <a:spLocks xmlns:a="http://schemas.openxmlformats.org/drawingml/2006/main" noGrp="1"/>
          </p:cNvSpPr>
          <p:nvPr/>
        </p:nvSpPr>
        <p:spPr>
          <a:xfrm xmlns:a="http://schemas.openxmlformats.org/drawingml/2006/main">
            <a:off x="819150" y="202882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1" i="0">
                <a:solidFill>
                  <a:srgbClr val="FFFDF8"/>
                </a:solidFill>
                <a:latin typeface="Menlo"/>
                <a:ea typeface="Menlo"/>
                <a:cs typeface="Menlo"/>
              </a:defRPr>
            </a:pPr>
            <a:r>
              <a:rPr sz="1200" b="1" i="0">
                <a:solidFill>
                  <a:srgbClr val="FFFDF8"/>
                </a:solidFill>
                <a:latin typeface="Menlo"/>
                <a:ea typeface="Menlo"/>
                <a:cs typeface="Menlo"/>
              </a:rPr>
              <a:t>1</a:t>
            </a:r>
          </a:p>
        </p:txBody>
      </p:sp>
      <p:sp>
        <p:nvSpPr>
          <p:cNvPr id="5" name="">
            <a:extLst xmlns:a="http://schemas.openxmlformats.org/drawingml/2006/main">
              <a:ext uri="{FF2B5EF4-FFF2-40B4-BE49-F238E27FC236}">
                <a16:creationId xmlns:a16="http://schemas.microsoft.com/office/drawing/2014/main" id="{E1876A9C-882A-40B7-9C92-CAC138D720DE}"/>
              </a:ext>
            </a:extLst>
          </p:cNvPr>
          <p:cNvSpPr>
            <a:spLocks xmlns:a="http://schemas.openxmlformats.org/drawingml/2006/main" noGrp="1"/>
          </p:cNvSpPr>
          <p:nvPr/>
        </p:nvSpPr>
        <p:spPr>
          <a:xfrm xmlns:a="http://schemas.openxmlformats.org/drawingml/2006/main">
            <a:off x="1466850" y="1885950"/>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050" b="1" i="0">
                <a:solidFill>
                  <a:srgbClr val="C9473D"/>
                </a:solidFill>
                <a:latin typeface="Menlo"/>
                <a:ea typeface="Menlo"/>
                <a:cs typeface="Menlo"/>
              </a:defRPr>
            </a:pPr>
            <a:r>
              <a:rPr sz="1050" b="1" i="0">
                <a:solidFill>
                  <a:srgbClr val="C9473D"/>
                </a:solidFill>
                <a:latin typeface="Menlo"/>
                <a:ea typeface="Menlo"/>
                <a:cs typeface="Menlo"/>
              </a:rPr>
              <a:t>PRODUCT SET</a:t>
            </a:r>
          </a:p>
        </p:txBody>
      </p:sp>
      <p:sp>
        <p:nvSpPr>
          <p:cNvPr id="6" name="">
            <a:extLst xmlns:a="http://schemas.openxmlformats.org/drawingml/2006/main">
              <a:ext uri="{FF2B5EF4-FFF2-40B4-BE49-F238E27FC236}">
                <a16:creationId xmlns:a16="http://schemas.microsoft.com/office/drawing/2014/main" id="{59549201-2330-4408-99E8-7E226E98FF20}"/>
              </a:ext>
            </a:extLst>
          </p:cNvPr>
          <p:cNvSpPr>
            <a:spLocks xmlns:a="http://schemas.openxmlformats.org/drawingml/2006/main" noGrp="1"/>
          </p:cNvSpPr>
          <p:nvPr/>
        </p:nvSpPr>
        <p:spPr>
          <a:xfrm xmlns:a="http://schemas.openxmlformats.org/drawingml/2006/main">
            <a:off x="2876550" y="184785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1" i="0">
                <a:solidFill>
                  <a:srgbClr val="2B241A"/>
                </a:solidFill>
                <a:latin typeface="Avenir Next"/>
                <a:ea typeface="Avenir Next"/>
                <a:cs typeface="Avenir Next"/>
              </a:defRPr>
            </a:pPr>
            <a:r>
              <a:rPr sz="1725" b="1" i="0">
                <a:solidFill>
                  <a:srgbClr val="2B241A"/>
                </a:solidFill>
                <a:latin typeface="Avenir Next"/>
                <a:ea typeface="Avenir Next"/>
                <a:cs typeface="Avenir Next"/>
              </a:rPr>
              <a:t>Which three visible objects will the store sell?</a:t>
            </a:r>
          </a:p>
        </p:txBody>
      </p:sp>
      <p:sp>
        <p:nvSpPr>
          <p:cNvPr id="7" name="">
            <a:extLst xmlns:a="http://schemas.openxmlformats.org/drawingml/2006/main">
              <a:ext uri="{FF2B5EF4-FFF2-40B4-BE49-F238E27FC236}">
                <a16:creationId xmlns:a16="http://schemas.microsoft.com/office/drawing/2014/main" id="{F5F60E7F-ADDC-4FF8-92AD-C7DEF4F32069}"/>
              </a:ext>
            </a:extLst>
          </p:cNvPr>
          <p:cNvSpPr>
            <a:spLocks xmlns:a="http://schemas.openxmlformats.org/drawingml/2006/main" noGrp="1"/>
          </p:cNvSpPr>
          <p:nvPr/>
        </p:nvSpPr>
        <p:spPr>
          <a:xfrm xmlns:a="http://schemas.openxmlformats.org/drawingml/2006/main">
            <a:off x="2876550" y="2266950"/>
            <a:ext cx="723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275" b="0" i="0">
                <a:solidFill>
                  <a:srgbClr val="6A6054"/>
                </a:solidFill>
                <a:latin typeface="Avenir Next"/>
                <a:ea typeface="Avenir Next"/>
                <a:cs typeface="Avenir Next"/>
              </a:defRPr>
            </a:pPr>
            <a:r>
              <a:rPr sz="1275" b="0" i="0">
                <a:solidFill>
                  <a:srgbClr val="6A6054"/>
                </a:solidFill>
                <a:latin typeface="Avenir Next"/>
                <a:ea typeface="Avenir Next"/>
                <a:cs typeface="Avenir Next"/>
              </a:rPr>
              <a:t>Useful: A timer, pen rest, and catch-all tray.</a:t>
            </a:r>
          </a:p>
        </p:txBody>
      </p:sp>
      <p:sp>
        <p:nvSpPr>
          <p:cNvPr id="8" name="">
            <a:extLst xmlns:a="http://schemas.openxmlformats.org/drawingml/2006/main">
              <a:ext uri="{FF2B5EF4-FFF2-40B4-BE49-F238E27FC236}">
                <a16:creationId xmlns:a16="http://schemas.microsoft.com/office/drawing/2014/main" id="{F858CB0B-8478-45FD-AE53-FA45DE6F748B}"/>
              </a:ext>
            </a:extLst>
          </p:cNvPr>
          <p:cNvSpPr>
            <a:spLocks xmlns:a="http://schemas.openxmlformats.org/drawingml/2006/main" noGrp="1"/>
          </p:cNvSpPr>
          <p:nvPr/>
        </p:nvSpPr>
        <p:spPr>
          <a:xfrm xmlns:a="http://schemas.openxmlformats.org/drawingml/2006/main">
            <a:off x="819150" y="3238500"/>
            <a:ext cx="400050" cy="400050"/>
          </a:xfrm>
          <a:prstGeom xmlns:a="http://schemas.openxmlformats.org/drawingml/2006/main" prst="roundRect">
            <a:avLst>
              <a:gd name="adj" fmla="val 19048"/>
            </a:avLst>
          </a:prstGeom>
          <a:solidFill xmlns:a="http://schemas.openxmlformats.org/drawingml/2006/main">
            <a:srgbClr val="315E82"/>
          </a:solidFill>
          <a:ln xmlns:a="http://schemas.openxmlformats.org/drawingml/2006/main" w="14288">
            <a:solidFill>
              <a:srgbClr val="315E82"/>
            </a:solidFill>
          </a:ln>
        </p:spPr>
      </p:sp>
      <p:sp>
        <p:nvSpPr>
          <p:cNvPr id="9" name="">
            <a:extLst xmlns:a="http://schemas.openxmlformats.org/drawingml/2006/main">
              <a:ext uri="{FF2B5EF4-FFF2-40B4-BE49-F238E27FC236}">
                <a16:creationId xmlns:a16="http://schemas.microsoft.com/office/drawing/2014/main" id="{2CDFFB8A-12FD-4E12-81F0-6EE3104E0266}"/>
              </a:ext>
            </a:extLst>
          </p:cNvPr>
          <p:cNvSpPr>
            <a:spLocks xmlns:a="http://schemas.openxmlformats.org/drawingml/2006/main" noGrp="1"/>
          </p:cNvSpPr>
          <p:nvPr/>
        </p:nvSpPr>
        <p:spPr>
          <a:xfrm xmlns:a="http://schemas.openxmlformats.org/drawingml/2006/main">
            <a:off x="819150" y="322897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1" i="0">
                <a:solidFill>
                  <a:srgbClr val="FFFDF8"/>
                </a:solidFill>
                <a:latin typeface="Menlo"/>
                <a:ea typeface="Menlo"/>
                <a:cs typeface="Menlo"/>
              </a:defRPr>
            </a:pPr>
            <a:r>
              <a:rPr sz="1200" b="1" i="0">
                <a:solidFill>
                  <a:srgbClr val="FFFDF8"/>
                </a:solidFill>
                <a:latin typeface="Menlo"/>
                <a:ea typeface="Menlo"/>
                <a:cs typeface="Menlo"/>
              </a:rPr>
              <a:t>2</a:t>
            </a:r>
          </a:p>
        </p:txBody>
      </p:sp>
      <p:sp>
        <p:nvSpPr>
          <p:cNvPr id="10" name="">
            <a:extLst xmlns:a="http://schemas.openxmlformats.org/drawingml/2006/main">
              <a:ext uri="{FF2B5EF4-FFF2-40B4-BE49-F238E27FC236}">
                <a16:creationId xmlns:a16="http://schemas.microsoft.com/office/drawing/2014/main" id="{6E90B8D9-1C57-4010-9AC5-95C0BCE93F52}"/>
              </a:ext>
            </a:extLst>
          </p:cNvPr>
          <p:cNvSpPr>
            <a:spLocks xmlns:a="http://schemas.openxmlformats.org/drawingml/2006/main" noGrp="1"/>
          </p:cNvSpPr>
          <p:nvPr/>
        </p:nvSpPr>
        <p:spPr>
          <a:xfrm xmlns:a="http://schemas.openxmlformats.org/drawingml/2006/main">
            <a:off x="1466850" y="3086100"/>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050" b="1" i="0">
                <a:solidFill>
                  <a:srgbClr val="C9473D"/>
                </a:solidFill>
                <a:latin typeface="Menlo"/>
                <a:ea typeface="Menlo"/>
                <a:cs typeface="Menlo"/>
              </a:defRPr>
            </a:pPr>
            <a:r>
              <a:rPr sz="1050" b="1" i="0">
                <a:solidFill>
                  <a:srgbClr val="C9473D"/>
                </a:solidFill>
                <a:latin typeface="Menlo"/>
                <a:ea typeface="Menlo"/>
                <a:cs typeface="Menlo"/>
              </a:rPr>
              <a:t>CUSTOMER</a:t>
            </a:r>
          </a:p>
        </p:txBody>
      </p:sp>
      <p:sp>
        <p:nvSpPr>
          <p:cNvPr id="11" name="">
            <a:extLst xmlns:a="http://schemas.openxmlformats.org/drawingml/2006/main">
              <a:ext uri="{FF2B5EF4-FFF2-40B4-BE49-F238E27FC236}">
                <a16:creationId xmlns:a16="http://schemas.microsoft.com/office/drawing/2014/main" id="{008448BB-85F7-4310-8194-7053A195FBAF}"/>
              </a:ext>
            </a:extLst>
          </p:cNvPr>
          <p:cNvSpPr>
            <a:spLocks xmlns:a="http://schemas.openxmlformats.org/drawingml/2006/main" noGrp="1"/>
          </p:cNvSpPr>
          <p:nvPr/>
        </p:nvSpPr>
        <p:spPr>
          <a:xfrm xmlns:a="http://schemas.openxmlformats.org/drawingml/2006/main">
            <a:off x="2876550" y="304800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1" i="0">
                <a:solidFill>
                  <a:srgbClr val="2B241A"/>
                </a:solidFill>
                <a:latin typeface="Avenir Next"/>
                <a:ea typeface="Avenir Next"/>
                <a:cs typeface="Avenir Next"/>
              </a:defRPr>
            </a:pPr>
            <a:r>
              <a:rPr sz="1725" b="1" i="0">
                <a:solidFill>
                  <a:srgbClr val="2B241A"/>
                </a:solidFill>
                <a:latin typeface="Avenir Next"/>
                <a:ea typeface="Avenir Next"/>
                <a:cs typeface="Avenir Next"/>
              </a:rPr>
              <a:t>Who is it for, what is happening, and what should change?</a:t>
            </a:r>
          </a:p>
        </p:txBody>
      </p:sp>
      <p:sp>
        <p:nvSpPr>
          <p:cNvPr id="12" name="">
            <a:extLst xmlns:a="http://schemas.openxmlformats.org/drawingml/2006/main">
              <a:ext uri="{FF2B5EF4-FFF2-40B4-BE49-F238E27FC236}">
                <a16:creationId xmlns:a16="http://schemas.microsoft.com/office/drawing/2014/main" id="{46989310-8C3C-4191-AD4E-70E3B97BDFA4}"/>
              </a:ext>
            </a:extLst>
          </p:cNvPr>
          <p:cNvSpPr>
            <a:spLocks xmlns:a="http://schemas.openxmlformats.org/drawingml/2006/main" noGrp="1"/>
          </p:cNvSpPr>
          <p:nvPr/>
        </p:nvSpPr>
        <p:spPr>
          <a:xfrm xmlns:a="http://schemas.openxmlformats.org/drawingml/2006/main">
            <a:off x="2876550" y="3467100"/>
            <a:ext cx="723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275" b="0" i="0">
                <a:solidFill>
                  <a:srgbClr val="6A6054"/>
                </a:solidFill>
                <a:latin typeface="Avenir Next"/>
                <a:ea typeface="Avenir Next"/>
                <a:cs typeface="Avenir Next"/>
              </a:defRPr>
            </a:pPr>
            <a:r>
              <a:rPr sz="1275" b="0" i="0">
                <a:solidFill>
                  <a:srgbClr val="6A6054"/>
                </a:solidFill>
                <a:latin typeface="Avenir Next"/>
                <a:ea typeface="Avenir Next"/>
                <a:cs typeface="Avenir Next"/>
              </a:rPr>
              <a:t>Useful: Students resetting a crowded desk before working late.</a:t>
            </a:r>
          </a:p>
        </p:txBody>
      </p:sp>
      <p:sp>
        <p:nvSpPr>
          <p:cNvPr id="13" name="">
            <a:extLst xmlns:a="http://schemas.openxmlformats.org/drawingml/2006/main">
              <a:ext uri="{FF2B5EF4-FFF2-40B4-BE49-F238E27FC236}">
                <a16:creationId xmlns:a16="http://schemas.microsoft.com/office/drawing/2014/main" id="{51F565E5-DDB6-42BA-A505-75CCAC374941}"/>
              </a:ext>
            </a:extLst>
          </p:cNvPr>
          <p:cNvSpPr>
            <a:spLocks xmlns:a="http://schemas.openxmlformats.org/drawingml/2006/main" noGrp="1"/>
          </p:cNvSpPr>
          <p:nvPr/>
        </p:nvSpPr>
        <p:spPr>
          <a:xfrm xmlns:a="http://schemas.openxmlformats.org/drawingml/2006/main">
            <a:off x="819150" y="4438650"/>
            <a:ext cx="400050" cy="400050"/>
          </a:xfrm>
          <a:prstGeom xmlns:a="http://schemas.openxmlformats.org/drawingml/2006/main" prst="roundRect">
            <a:avLst>
              <a:gd name="adj" fmla="val 19048"/>
            </a:avLst>
          </a:prstGeom>
          <a:solidFill xmlns:a="http://schemas.openxmlformats.org/drawingml/2006/main">
            <a:srgbClr val="627C55"/>
          </a:solidFill>
          <a:ln xmlns:a="http://schemas.openxmlformats.org/drawingml/2006/main" w="14288">
            <a:solidFill>
              <a:srgbClr val="627C55"/>
            </a:solidFill>
          </a:ln>
        </p:spPr>
      </p:sp>
      <p:sp>
        <p:nvSpPr>
          <p:cNvPr id="14" name="">
            <a:extLst xmlns:a="http://schemas.openxmlformats.org/drawingml/2006/main">
              <a:ext uri="{FF2B5EF4-FFF2-40B4-BE49-F238E27FC236}">
                <a16:creationId xmlns:a16="http://schemas.microsoft.com/office/drawing/2014/main" id="{18B82124-731E-472D-A690-D089364792EB}"/>
              </a:ext>
            </a:extLst>
          </p:cNvPr>
          <p:cNvSpPr>
            <a:spLocks xmlns:a="http://schemas.openxmlformats.org/drawingml/2006/main" noGrp="1"/>
          </p:cNvSpPr>
          <p:nvPr/>
        </p:nvSpPr>
        <p:spPr>
          <a:xfrm xmlns:a="http://schemas.openxmlformats.org/drawingml/2006/main">
            <a:off x="819150" y="442912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1" i="0">
                <a:solidFill>
                  <a:srgbClr val="FFFDF8"/>
                </a:solidFill>
                <a:latin typeface="Menlo"/>
                <a:ea typeface="Menlo"/>
                <a:cs typeface="Menlo"/>
              </a:defRPr>
            </a:pPr>
            <a:r>
              <a:rPr sz="1200" b="1" i="0">
                <a:solidFill>
                  <a:srgbClr val="FFFDF8"/>
                </a:solidFill>
                <a:latin typeface="Menlo"/>
                <a:ea typeface="Menlo"/>
                <a:cs typeface="Menlo"/>
              </a:rPr>
              <a:t>3</a:t>
            </a:r>
          </a:p>
        </p:txBody>
      </p:sp>
      <p:sp>
        <p:nvSpPr>
          <p:cNvPr id="15" name="">
            <a:extLst xmlns:a="http://schemas.openxmlformats.org/drawingml/2006/main">
              <a:ext uri="{FF2B5EF4-FFF2-40B4-BE49-F238E27FC236}">
                <a16:creationId xmlns:a16="http://schemas.microsoft.com/office/drawing/2014/main" id="{C4F32452-5B44-47EC-B4F6-22F89F70CE98}"/>
              </a:ext>
            </a:extLst>
          </p:cNvPr>
          <p:cNvSpPr>
            <a:spLocks xmlns:a="http://schemas.openxmlformats.org/drawingml/2006/main" noGrp="1"/>
          </p:cNvSpPr>
          <p:nvPr/>
        </p:nvSpPr>
        <p:spPr>
          <a:xfrm xmlns:a="http://schemas.openxmlformats.org/drawingml/2006/main">
            <a:off x="1466850" y="4286250"/>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050" b="1" i="0">
                <a:solidFill>
                  <a:srgbClr val="C9473D"/>
                </a:solidFill>
                <a:latin typeface="Menlo"/>
                <a:ea typeface="Menlo"/>
                <a:cs typeface="Menlo"/>
              </a:defRPr>
            </a:pPr>
            <a:r>
              <a:rPr sz="1050" b="1" i="0">
                <a:solidFill>
                  <a:srgbClr val="C9473D"/>
                </a:solidFill>
                <a:latin typeface="Menlo"/>
                <a:ea typeface="Menlo"/>
                <a:cs typeface="Menlo"/>
              </a:rPr>
              <a:t>TASTE</a:t>
            </a:r>
          </a:p>
        </p:txBody>
      </p:sp>
      <p:sp>
        <p:nvSpPr>
          <p:cNvPr id="16" name="">
            <a:extLst xmlns:a="http://schemas.openxmlformats.org/drawingml/2006/main">
              <a:ext uri="{FF2B5EF4-FFF2-40B4-BE49-F238E27FC236}">
                <a16:creationId xmlns:a16="http://schemas.microsoft.com/office/drawing/2014/main" id="{F710E934-60FD-4954-87FE-275D01D4D151}"/>
              </a:ext>
            </a:extLst>
          </p:cNvPr>
          <p:cNvSpPr>
            <a:spLocks xmlns:a="http://schemas.openxmlformats.org/drawingml/2006/main" noGrp="1"/>
          </p:cNvSpPr>
          <p:nvPr/>
        </p:nvSpPr>
        <p:spPr>
          <a:xfrm xmlns:a="http://schemas.openxmlformats.org/drawingml/2006/main">
            <a:off x="2876550" y="424815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1" i="0">
                <a:solidFill>
                  <a:srgbClr val="2B241A"/>
                </a:solidFill>
                <a:latin typeface="Avenir Next"/>
                <a:ea typeface="Avenir Next"/>
                <a:cs typeface="Avenir Next"/>
              </a:defRPr>
            </a:pPr>
            <a:r>
              <a:rPr sz="1725" b="1" i="0">
                <a:solidFill>
                  <a:srgbClr val="2B241A"/>
                </a:solidFill>
                <a:latin typeface="Avenir Next"/>
                <a:ea typeface="Avenir Next"/>
                <a:cs typeface="Avenir Next"/>
              </a:rPr>
              <a:t>What should the store preserve and avoid?</a:t>
            </a:r>
          </a:p>
        </p:txBody>
      </p:sp>
      <p:sp>
        <p:nvSpPr>
          <p:cNvPr id="17" name="">
            <a:extLst xmlns:a="http://schemas.openxmlformats.org/drawingml/2006/main">
              <a:ext uri="{FF2B5EF4-FFF2-40B4-BE49-F238E27FC236}">
                <a16:creationId xmlns:a16="http://schemas.microsoft.com/office/drawing/2014/main" id="{0182CADE-88F7-4336-9C08-756C425AD301}"/>
              </a:ext>
            </a:extLst>
          </p:cNvPr>
          <p:cNvSpPr>
            <a:spLocks xmlns:a="http://schemas.openxmlformats.org/drawingml/2006/main" noGrp="1"/>
          </p:cNvSpPr>
          <p:nvPr/>
        </p:nvSpPr>
        <p:spPr>
          <a:xfrm xmlns:a="http://schemas.openxmlformats.org/drawingml/2006/main">
            <a:off x="2876550" y="4667250"/>
            <a:ext cx="723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275" b="0" i="0">
                <a:solidFill>
                  <a:srgbClr val="6A6054"/>
                </a:solidFill>
                <a:latin typeface="Avenir Next"/>
                <a:ea typeface="Avenir Next"/>
                <a:cs typeface="Avenir Next"/>
              </a:defRPr>
            </a:pPr>
            <a:r>
              <a:rPr sz="1275" b="0" i="0">
                <a:solidFill>
                  <a:srgbClr val="6A6054"/>
                </a:solidFill>
                <a:latin typeface="Avenir Next"/>
                <a:ea typeface="Avenir Next"/>
                <a:cs typeface="Avenir Next"/>
              </a:rPr>
              <a:t>Useful: Considered, tactile, calm; avoid gaming imagery.</a:t>
            </a:r>
          </a:p>
        </p:txBody>
      </p:sp>
      <p:sp>
        <p:nvSpPr>
          <p:cNvPr id="18" name="">
            <a:extLst xmlns:a="http://schemas.openxmlformats.org/drawingml/2006/main">
              <a:ext uri="{FF2B5EF4-FFF2-40B4-BE49-F238E27FC236}">
                <a16:creationId xmlns:a16="http://schemas.microsoft.com/office/drawing/2014/main" id="{DA01B215-BB13-4E43-8FDA-63FF3C9CA589}"/>
              </a:ext>
            </a:extLst>
          </p:cNvPr>
          <p:cNvSpPr>
            <a:spLocks xmlns:a="http://schemas.openxmlformats.org/drawingml/2006/main" noGrp="1"/>
          </p:cNvSpPr>
          <p:nvPr/>
        </p:nvSpPr>
        <p:spPr>
          <a:xfrm xmlns:a="http://schemas.openxmlformats.org/drawingml/2006/main">
            <a:off x="723900" y="5410200"/>
            <a:ext cx="10744200" cy="495300"/>
          </a:xfrm>
          <a:prstGeom xmlns:a="http://schemas.openxmlformats.org/drawingml/2006/main" prst="roundRect">
            <a:avLst>
              <a:gd name="adj" fmla="val 15385"/>
            </a:avLst>
          </a:prstGeom>
          <a:solidFill xmlns:a="http://schemas.openxmlformats.org/drawingml/2006/main">
            <a:srgbClr val="EEC7C2"/>
          </a:solidFill>
          <a:ln xmlns:a="http://schemas.openxmlformats.org/drawingml/2006/main" w="14288">
            <a:solidFill>
              <a:srgbClr val="EEC7C2"/>
            </a:solidFill>
          </a:ln>
        </p:spPr>
      </p:sp>
      <p:sp>
        <p:nvSpPr>
          <p:cNvPr id="19" name="">
            <a:extLst xmlns:a="http://schemas.openxmlformats.org/drawingml/2006/main">
              <a:ext uri="{FF2B5EF4-FFF2-40B4-BE49-F238E27FC236}">
                <a16:creationId xmlns:a16="http://schemas.microsoft.com/office/drawing/2014/main" id="{FA290A7A-980A-4A94-8233-11BEF37634C0}"/>
              </a:ext>
            </a:extLst>
          </p:cNvPr>
          <p:cNvSpPr>
            <a:spLocks xmlns:a="http://schemas.openxmlformats.org/drawingml/2006/main" noGrp="1"/>
          </p:cNvSpPr>
          <p:nvPr/>
        </p:nvSpPr>
        <p:spPr>
          <a:xfrm xmlns:a="http://schemas.openxmlformats.org/drawingml/2006/main">
            <a:off x="895350" y="5486400"/>
            <a:ext cx="10401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425" b="1" i="0">
                <a:solidFill>
                  <a:srgbClr val="2B241A"/>
                </a:solidFill>
                <a:latin typeface="Avenir Next"/>
                <a:ea typeface="Avenir Next"/>
                <a:cs typeface="Avenir Next"/>
              </a:defRPr>
            </a:pPr>
            <a:r>
              <a:rPr sz="1425" b="1" i="0">
                <a:solidFill>
                  <a:srgbClr val="2B241A"/>
                </a:solidFill>
                <a:latin typeface="Avenir Next"/>
                <a:ea typeface="Avenir Next"/>
                <a:cs typeface="Avenir Next"/>
              </a:rPr>
              <a:t>Do not ask beginners to choose fonts, hex codes, lenses, or a full catalog without context.</a:t>
            </a:r>
          </a:p>
        </p:txBody>
      </p:sp>
    </p:spTree>
    <p:extLst>
      <p:ext uri="{BB962C8B-B14F-4D97-AF65-F5344CB8AC3E}">
        <p14:creationId xmlns:p14="http://schemas.microsoft.com/office/powerpoint/2010/main" val="1802753613"/>
      </p:ext>
    </p:extLst>
  </p:cSld>
</p:sld>
</file>

<file path=ppt/slides/slide6.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A7FB911-06B8-4870-9651-57D9A4BA96A5}"/>
              </a:ext>
            </a:extLst>
          </p:cNvPr>
          <p:cNvSpPr>
            <a:spLocks xmlns:a="http://schemas.openxmlformats.org/drawingml/2006/main" noGrp="1"/>
          </p:cNvSpPr>
          <p:nvPr/>
        </p:nvSpPr>
        <p:spPr>
          <a:xfrm xmlns:a="http://schemas.openxmlformats.org/drawingml/2006/main">
            <a:off x="723900" y="514350"/>
            <a:ext cx="10744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3000" b="1" i="0">
                <a:solidFill>
                  <a:srgbClr val="2B241A"/>
                </a:solidFill>
                <a:latin typeface="Georgia"/>
                <a:ea typeface="Georgia"/>
                <a:cs typeface="Georgia"/>
              </a:defRPr>
            </a:pPr>
            <a:r>
              <a:rPr sz="3000" b="1" i="0">
                <a:solidFill>
                  <a:srgbClr val="2B241A"/>
                </a:solidFill>
                <a:latin typeface="Georgia"/>
                <a:ea typeface="Georgia"/>
                <a:cs typeface="Georgia"/>
              </a:rPr>
              <a:t>Build 1: create your Store Kit</a:t>
            </a:r>
          </a:p>
        </p:txBody>
      </p:sp>
      <p:sp>
        <p:nvSpPr>
          <p:cNvPr id="2" name="">
            <a:extLst xmlns:a="http://schemas.openxmlformats.org/drawingml/2006/main">
              <a:ext uri="{FF2B5EF4-FFF2-40B4-BE49-F238E27FC236}">
                <a16:creationId xmlns:a16="http://schemas.microsoft.com/office/drawing/2014/main" id="{D7EA09A8-0C96-474B-927F-BD28EAA69029}"/>
              </a:ext>
            </a:extLst>
          </p:cNvPr>
          <p:cNvSpPr>
            <a:spLocks xmlns:a="http://schemas.openxmlformats.org/drawingml/2006/main" noGrp="1"/>
          </p:cNvSpPr>
          <p:nvPr/>
        </p:nvSpPr>
        <p:spPr>
          <a:xfrm xmlns:a="http://schemas.openxmlformats.org/drawingml/2006/main">
            <a:off x="742950" y="1257300"/>
            <a:ext cx="1000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i="0">
                <a:solidFill>
                  <a:srgbClr val="6A6054"/>
                </a:solidFill>
                <a:latin typeface="Avenir Next"/>
                <a:ea typeface="Avenir Next"/>
                <a:cs typeface="Avenir Next"/>
              </a:defRPr>
            </a:pPr>
            <a:r>
              <a:rPr sz="1350" b="0" i="0">
                <a:solidFill>
                  <a:srgbClr val="6A6054"/>
                </a:solidFill>
                <a:latin typeface="Avenir Next"/>
                <a:ea typeface="Avenir Next"/>
                <a:cs typeface="Avenir Next"/>
              </a:rPr>
              <a:t>The guided interview produces three directions, then waits for your choice</a:t>
            </a:r>
          </a:p>
        </p:txBody>
      </p:sp>
      <p:sp>
        <p:nvSpPr>
          <p:cNvPr id="3" name="">
            <a:extLst xmlns:a="http://schemas.openxmlformats.org/drawingml/2006/main">
              <a:ext uri="{FF2B5EF4-FFF2-40B4-BE49-F238E27FC236}">
                <a16:creationId xmlns:a16="http://schemas.microsoft.com/office/drawing/2014/main" id="{EB67AAA5-488E-4DDB-A979-E72D176BDBB1}"/>
              </a:ext>
            </a:extLst>
          </p:cNvPr>
          <p:cNvSpPr>
            <a:spLocks xmlns:a="http://schemas.openxmlformats.org/drawingml/2006/main" noGrp="1"/>
          </p:cNvSpPr>
          <p:nvPr/>
        </p:nvSpPr>
        <p:spPr>
          <a:xfrm xmlns:a="http://schemas.openxmlformats.org/drawingml/2006/main">
            <a:off x="723900" y="1905000"/>
            <a:ext cx="10744200" cy="3333750"/>
          </a:xfrm>
          <a:prstGeom xmlns:a="http://schemas.openxmlformats.org/drawingml/2006/main" prst="roundRect">
            <a:avLst>
              <a:gd name="adj" fmla="val 2286"/>
            </a:avLst>
          </a:prstGeom>
          <a:solidFill xmlns:a="http://schemas.openxmlformats.org/drawingml/2006/main">
            <a:srgbClr val="2B241A"/>
          </a:solidFill>
          <a:ln xmlns:a="http://schemas.openxmlformats.org/drawingml/2006/main" w="14288">
            <a:solidFill>
              <a:srgbClr val="2B241A"/>
            </a:solidFill>
          </a:ln>
        </p:spPr>
      </p:sp>
      <p:sp>
        <p:nvSpPr>
          <p:cNvPr id="4" name="">
            <a:extLst xmlns:a="http://schemas.openxmlformats.org/drawingml/2006/main">
              <a:ext uri="{FF2B5EF4-FFF2-40B4-BE49-F238E27FC236}">
                <a16:creationId xmlns:a16="http://schemas.microsoft.com/office/drawing/2014/main" id="{31813279-A22C-4C9B-856B-CDE7DD3B696D}"/>
              </a:ext>
            </a:extLst>
          </p:cNvPr>
          <p:cNvSpPr>
            <a:spLocks xmlns:a="http://schemas.openxmlformats.org/drawingml/2006/main" noGrp="1"/>
          </p:cNvSpPr>
          <p:nvPr/>
        </p:nvSpPr>
        <p:spPr>
          <a:xfrm xmlns:a="http://schemas.openxmlformats.org/drawingml/2006/main">
            <a:off x="1066800" y="2095500"/>
            <a:ext cx="10058400" cy="278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75" b="0" i="0">
                <a:solidFill>
                  <a:srgbClr val="FFFDF8"/>
                </a:solidFill>
                <a:latin typeface="Menlo"/>
                <a:ea typeface="Menlo"/>
                <a:cs typeface="Menlo"/>
              </a:defRPr>
            </a:pPr>
            <a:r>
              <a:rPr sz="1275" b="0" i="0">
                <a:solidFill>
                  <a:srgbClr val="FFFDF8"/>
                </a:solidFill>
                <a:latin typeface="Menlo"/>
                <a:ea typeface="Menlo"/>
                <a:cs typeface="Menlo"/>
              </a:rPr>
              <a:t>Codex: $vibe-to-store. ChatGPT Project: continue here.</a:t>
            </a:r>
          </a:p>
          <a:p xmlns:a="http://schemas.openxmlformats.org/drawingml/2006/main">
            <a:r>
              <a:t/>
            </a:r>
          </a:p>
          <a:p xmlns:a="http://schemas.openxmlformats.org/drawingml/2006/main">
            <a:pPr algn="l">
              <a:buNone/>
              <a:defRPr sz="1275" b="0" i="0">
                <a:solidFill>
                  <a:srgbClr val="FFFDF8"/>
                </a:solidFill>
                <a:latin typeface="Menlo"/>
                <a:ea typeface="Menlo"/>
                <a:cs typeface="Menlo"/>
              </a:defRPr>
            </a:pPr>
            <a:r>
              <a:rPr sz="1275" b="0" i="0">
                <a:solidFill>
                  <a:srgbClr val="FFFDF8"/>
                </a:solidFill>
                <a:latin typeface="Menlo"/>
                <a:ea typeface="Menlo"/>
                <a:cs typeface="Menlo"/>
              </a:rPr>
              <a:t>My product set: [three visible objects]</a:t>
            </a:r>
          </a:p>
          <a:p xmlns:a="http://schemas.openxmlformats.org/drawingml/2006/main">
            <a:pPr algn="l">
              <a:buNone/>
              <a:defRPr sz="1275" b="0" i="0">
                <a:solidFill>
                  <a:srgbClr val="FFFDF8"/>
                </a:solidFill>
                <a:latin typeface="Menlo"/>
                <a:ea typeface="Menlo"/>
                <a:cs typeface="Menlo"/>
              </a:defRPr>
            </a:pPr>
            <a:r>
              <a:rPr sz="1275" b="0" i="0">
                <a:solidFill>
                  <a:srgbClr val="FFFDF8"/>
                </a:solidFill>
                <a:latin typeface="Menlo"/>
                <a:ea typeface="Menlo"/>
                <a:cs typeface="Menlo"/>
              </a:rPr>
              <a:t>My customer moment: [person, situation, desired change]</a:t>
            </a:r>
          </a:p>
          <a:p xmlns:a="http://schemas.openxmlformats.org/drawingml/2006/main">
            <a:pPr algn="l">
              <a:buNone/>
              <a:defRPr sz="1275" b="0" i="0">
                <a:solidFill>
                  <a:srgbClr val="FFFDF8"/>
                </a:solidFill>
                <a:latin typeface="Menlo"/>
                <a:ea typeface="Menlo"/>
                <a:cs typeface="Menlo"/>
              </a:defRPr>
            </a:pPr>
            <a:r>
              <a:rPr sz="1275" b="0" i="0">
                <a:solidFill>
                  <a:srgbClr val="FFFDF8"/>
                </a:solidFill>
                <a:latin typeface="Menlo"/>
                <a:ea typeface="Menlo"/>
                <a:cs typeface="Menlo"/>
              </a:rPr>
              <a:t>My taste boundary: [commercial position, preserve, avoid]</a:t>
            </a:r>
          </a:p>
          <a:p xmlns:a="http://schemas.openxmlformats.org/drawingml/2006/main">
            <a:r>
              <a:t/>
            </a:r>
          </a:p>
          <a:p xmlns:a="http://schemas.openxmlformats.org/drawingml/2006/main">
            <a:pPr algn="l">
              <a:buNone/>
              <a:defRPr sz="1275" b="0" i="0">
                <a:solidFill>
                  <a:srgbClr val="FFFDF8"/>
                </a:solidFill>
                <a:latin typeface="Menlo"/>
                <a:ea typeface="Menlo"/>
                <a:cs typeface="Menlo"/>
              </a:defRPr>
            </a:pPr>
            <a:r>
              <a:rPr sz="1275" b="0" i="0">
                <a:solidFill>
                  <a:srgbClr val="FFFDF8"/>
                </a:solidFill>
                <a:latin typeface="Menlo"/>
                <a:ea typeface="Menlo"/>
                <a:cs typeface="Menlo"/>
              </a:rPr>
              <a:t>Propose three different visual directions. Explain what each communicates, why it fits, the type, light, composition, materials, motion, and one risk. Then wait for me to choose.</a:t>
            </a:r>
          </a:p>
        </p:txBody>
      </p:sp>
      <p:sp>
        <p:nvSpPr>
          <p:cNvPr id="5" name="">
            <a:extLst xmlns:a="http://schemas.openxmlformats.org/drawingml/2006/main">
              <a:ext uri="{FF2B5EF4-FFF2-40B4-BE49-F238E27FC236}">
                <a16:creationId xmlns:a16="http://schemas.microsoft.com/office/drawing/2014/main" id="{F9F06C3B-82D3-4BCE-BD25-29A3BC42AAD8}"/>
              </a:ext>
            </a:extLst>
          </p:cNvPr>
          <p:cNvSpPr>
            <a:spLocks xmlns:a="http://schemas.openxmlformats.org/drawingml/2006/main" noGrp="1"/>
          </p:cNvSpPr>
          <p:nvPr/>
        </p:nvSpPr>
        <p:spPr>
          <a:xfrm xmlns:a="http://schemas.openxmlformats.org/drawingml/2006/main">
            <a:off x="819150" y="53721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975" b="1" i="0">
                <a:solidFill>
                  <a:srgbClr val="C9473D"/>
                </a:solidFill>
                <a:latin typeface="Menlo"/>
                <a:ea typeface="Menlo"/>
                <a:cs typeface="Menlo"/>
              </a:defRPr>
            </a:pPr>
            <a:r>
              <a:rPr sz="975" b="1" i="0">
                <a:solidFill>
                  <a:srgbClr val="C9473D"/>
                </a:solidFill>
                <a:latin typeface="Menlo"/>
                <a:ea typeface="Menlo"/>
                <a:cs typeface="Menlo"/>
              </a:rPr>
              <a:t>CHECKPOINT</a:t>
            </a:r>
          </a:p>
        </p:txBody>
      </p:sp>
      <p:sp>
        <p:nvSpPr>
          <p:cNvPr id="6" name="">
            <a:extLst xmlns:a="http://schemas.openxmlformats.org/drawingml/2006/main">
              <a:ext uri="{FF2B5EF4-FFF2-40B4-BE49-F238E27FC236}">
                <a16:creationId xmlns:a16="http://schemas.microsoft.com/office/drawing/2014/main" id="{1EA1773A-201B-4FBE-BCA3-93FFCAA356AD}"/>
              </a:ext>
            </a:extLst>
          </p:cNvPr>
          <p:cNvSpPr>
            <a:spLocks xmlns:a="http://schemas.openxmlformats.org/drawingml/2006/main" noGrp="1"/>
          </p:cNvSpPr>
          <p:nvPr/>
        </p:nvSpPr>
        <p:spPr>
          <a:xfrm xmlns:a="http://schemas.openxmlformats.org/drawingml/2006/main">
            <a:off x="2286000" y="5295900"/>
            <a:ext cx="885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500" b="1" i="0">
                <a:solidFill>
                  <a:srgbClr val="2B241A"/>
                </a:solidFill>
                <a:latin typeface="Avenir Next"/>
                <a:ea typeface="Avenir Next"/>
                <a:cs typeface="Avenir Next"/>
              </a:defRPr>
            </a:pPr>
            <a:r>
              <a:rPr sz="1500" b="1" i="0">
                <a:solidFill>
                  <a:srgbClr val="2B241A"/>
                </a:solidFill>
                <a:latin typeface="Avenir Next"/>
                <a:ea typeface="Avenir Next"/>
                <a:cs typeface="Avenir Next"/>
              </a:rPr>
              <a:t>Lock one route. Save one written source: STORE-KIT.md.</a:t>
            </a:r>
          </a:p>
        </p:txBody>
      </p:sp>
      <p:sp>
        <p:nvSpPr>
          <p:cNvPr id="7" name="">
            <a:extLst xmlns:a="http://schemas.openxmlformats.org/drawingml/2006/main">
              <a:ext uri="{FF2B5EF4-FFF2-40B4-BE49-F238E27FC236}">
                <a16:creationId xmlns:a16="http://schemas.microsoft.com/office/drawing/2014/main" id="{90A04649-459A-4067-9C97-2AFB9C16F275}"/>
              </a:ext>
            </a:extLst>
          </p:cNvPr>
          <p:cNvSpPr>
            <a:spLocks xmlns:a="http://schemas.openxmlformats.org/drawingml/2006/main" noGrp="1"/>
          </p:cNvSpPr>
          <p:nvPr/>
        </p:nvSpPr>
        <p:spPr>
          <a:xfrm xmlns:a="http://schemas.openxmlformats.org/drawingml/2006/main">
            <a:off x="723900" y="5857875"/>
            <a:ext cx="142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050" b="1" i="0">
                <a:solidFill>
                  <a:srgbClr val="6A6054"/>
                </a:solidFill>
                <a:latin typeface="Menlo"/>
                <a:ea typeface="Menlo"/>
                <a:cs typeface="Menlo"/>
              </a:defRPr>
            </a:pPr>
            <a:r>
              <a:rPr sz="1050" b="1" i="0">
                <a:solidFill>
                  <a:srgbClr val="6A6054"/>
                </a:solidFill>
                <a:latin typeface="Menlo"/>
                <a:ea typeface="Menlo"/>
                <a:cs typeface="Menlo"/>
              </a:rPr>
              <a:t>7 MINUTES</a:t>
            </a:r>
          </a:p>
        </p:txBody>
      </p:sp>
      <p:sp>
        <p:nvSpPr>
          <p:cNvPr id="8" name="">
            <a:extLst xmlns:a="http://schemas.openxmlformats.org/drawingml/2006/main">
              <a:ext uri="{FF2B5EF4-FFF2-40B4-BE49-F238E27FC236}">
                <a16:creationId xmlns:a16="http://schemas.microsoft.com/office/drawing/2014/main" id="{B7138196-4141-43D8-8B03-8DC40245EA8A}"/>
              </a:ext>
            </a:extLst>
          </p:cNvPr>
          <p:cNvSpPr>
            <a:spLocks xmlns:a="http://schemas.openxmlformats.org/drawingml/2006/main" noGrp="1"/>
          </p:cNvSpPr>
          <p:nvPr/>
        </p:nvSpPr>
        <p:spPr>
          <a:xfrm xmlns:a="http://schemas.openxmlformats.org/drawingml/2006/main">
            <a:off x="2428875" y="5857875"/>
            <a:ext cx="2381250" cy="304800"/>
          </a:xfrm>
          <a:prstGeom xmlns:a="http://schemas.openxmlformats.org/drawingml/2006/main" prst="roundRect">
            <a:avLst>
              <a:gd name="adj" fmla="val 25000"/>
            </a:avLst>
          </a:prstGeom>
          <a:solidFill xmlns:a="http://schemas.openxmlformats.org/drawingml/2006/main">
            <a:srgbClr val="C8DCE8"/>
          </a:solidFill>
          <a:ln xmlns:a="http://schemas.openxmlformats.org/drawingml/2006/main" w="14288">
            <a:solidFill>
              <a:srgbClr val="C8DCE8"/>
            </a:solidFill>
          </a:ln>
        </p:spPr>
      </p:sp>
      <p:sp>
        <p:nvSpPr>
          <p:cNvPr id="9" name="">
            <a:extLst xmlns:a="http://schemas.openxmlformats.org/drawingml/2006/main">
              <a:ext uri="{FF2B5EF4-FFF2-40B4-BE49-F238E27FC236}">
                <a16:creationId xmlns:a16="http://schemas.microsoft.com/office/drawing/2014/main" id="{E3662295-550A-43B3-B1B1-452B72237A71}"/>
              </a:ext>
            </a:extLst>
          </p:cNvPr>
          <p:cNvSpPr>
            <a:spLocks xmlns:a="http://schemas.openxmlformats.org/drawingml/2006/main" noGrp="1"/>
          </p:cNvSpPr>
          <p:nvPr/>
        </p:nvSpPr>
        <p:spPr>
          <a:xfrm xmlns:a="http://schemas.openxmlformats.org/drawingml/2006/main">
            <a:off x="2428875" y="5857875"/>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975" b="1" i="0">
                <a:solidFill>
                  <a:srgbClr val="2B241A"/>
                </a:solidFill>
                <a:latin typeface="Menlo"/>
                <a:ea typeface="Menlo"/>
                <a:cs typeface="Menlo"/>
              </a:defRPr>
            </a:pPr>
            <a:r>
              <a:rPr sz="975" b="1" i="0">
                <a:solidFill>
                  <a:srgbClr val="2B241A"/>
                </a:solidFill>
                <a:latin typeface="Menlo"/>
                <a:ea typeface="Menlo"/>
                <a:cs typeface="Menlo"/>
              </a:rPr>
              <a:t>WATCH 2 MIN</a:t>
            </a:r>
          </a:p>
        </p:txBody>
      </p:sp>
      <p:sp>
        <p:nvSpPr>
          <p:cNvPr id="10" name="">
            <a:extLst xmlns:a="http://schemas.openxmlformats.org/drawingml/2006/main">
              <a:ext uri="{FF2B5EF4-FFF2-40B4-BE49-F238E27FC236}">
                <a16:creationId xmlns:a16="http://schemas.microsoft.com/office/drawing/2014/main" id="{22BE5904-10F9-478E-A48F-770B165BBA96}"/>
              </a:ext>
            </a:extLst>
          </p:cNvPr>
          <p:cNvSpPr>
            <a:spLocks xmlns:a="http://schemas.openxmlformats.org/drawingml/2006/main" noGrp="1"/>
          </p:cNvSpPr>
          <p:nvPr/>
        </p:nvSpPr>
        <p:spPr>
          <a:xfrm xmlns:a="http://schemas.openxmlformats.org/drawingml/2006/main">
            <a:off x="5000625" y="5857875"/>
            <a:ext cx="2381250" cy="304800"/>
          </a:xfrm>
          <a:prstGeom xmlns:a="http://schemas.openxmlformats.org/drawingml/2006/main" prst="roundRect">
            <a:avLst>
              <a:gd name="adj" fmla="val 25000"/>
            </a:avLst>
          </a:prstGeom>
          <a:solidFill xmlns:a="http://schemas.openxmlformats.org/drawingml/2006/main">
            <a:srgbClr val="BDD4BD"/>
          </a:solidFill>
          <a:ln xmlns:a="http://schemas.openxmlformats.org/drawingml/2006/main" w="14288">
            <a:solidFill>
              <a:srgbClr val="BDD4BD"/>
            </a:solidFill>
          </a:ln>
        </p:spPr>
      </p:sp>
      <p:sp>
        <p:nvSpPr>
          <p:cNvPr id="11" name="">
            <a:extLst xmlns:a="http://schemas.openxmlformats.org/drawingml/2006/main">
              <a:ext uri="{FF2B5EF4-FFF2-40B4-BE49-F238E27FC236}">
                <a16:creationId xmlns:a16="http://schemas.microsoft.com/office/drawing/2014/main" id="{1E5A243B-28CA-402E-B3A5-691655ABDBC3}"/>
              </a:ext>
            </a:extLst>
          </p:cNvPr>
          <p:cNvSpPr>
            <a:spLocks xmlns:a="http://schemas.openxmlformats.org/drawingml/2006/main" noGrp="1"/>
          </p:cNvSpPr>
          <p:nvPr/>
        </p:nvSpPr>
        <p:spPr>
          <a:xfrm xmlns:a="http://schemas.openxmlformats.org/drawingml/2006/main">
            <a:off x="5000625" y="5857875"/>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975" b="1" i="0">
                <a:solidFill>
                  <a:srgbClr val="2B241A"/>
                </a:solidFill>
                <a:latin typeface="Menlo"/>
                <a:ea typeface="Menlo"/>
                <a:cs typeface="Menlo"/>
              </a:defRPr>
            </a:pPr>
            <a:r>
              <a:rPr sz="975" b="1" i="0">
                <a:solidFill>
                  <a:srgbClr val="2B241A"/>
                </a:solidFill>
                <a:latin typeface="Menlo"/>
                <a:ea typeface="Menlo"/>
                <a:cs typeface="Menlo"/>
              </a:rPr>
              <a:t>BUILD 4 MIN</a:t>
            </a:r>
          </a:p>
        </p:txBody>
      </p:sp>
      <p:sp>
        <p:nvSpPr>
          <p:cNvPr id="12" name="">
            <a:extLst xmlns:a="http://schemas.openxmlformats.org/drawingml/2006/main">
              <a:ext uri="{FF2B5EF4-FFF2-40B4-BE49-F238E27FC236}">
                <a16:creationId xmlns:a16="http://schemas.microsoft.com/office/drawing/2014/main" id="{5B56AE83-3274-4147-9C1A-FE1A2E7CFD26}"/>
              </a:ext>
            </a:extLst>
          </p:cNvPr>
          <p:cNvSpPr>
            <a:spLocks xmlns:a="http://schemas.openxmlformats.org/drawingml/2006/main" noGrp="1"/>
          </p:cNvSpPr>
          <p:nvPr/>
        </p:nvSpPr>
        <p:spPr>
          <a:xfrm xmlns:a="http://schemas.openxmlformats.org/drawingml/2006/main">
            <a:off x="7572375" y="5857875"/>
            <a:ext cx="2381250" cy="304800"/>
          </a:xfrm>
          <a:prstGeom xmlns:a="http://schemas.openxmlformats.org/drawingml/2006/main" prst="roundRect">
            <a:avLst>
              <a:gd name="adj" fmla="val 25000"/>
            </a:avLst>
          </a:prstGeom>
          <a:solidFill xmlns:a="http://schemas.openxmlformats.org/drawingml/2006/main">
            <a:srgbClr val="EEC7C2"/>
          </a:solidFill>
          <a:ln xmlns:a="http://schemas.openxmlformats.org/drawingml/2006/main" w="14288">
            <a:solidFill>
              <a:srgbClr val="EEC7C2"/>
            </a:solidFill>
          </a:ln>
        </p:spPr>
      </p:sp>
      <p:sp>
        <p:nvSpPr>
          <p:cNvPr id="13" name="">
            <a:extLst xmlns:a="http://schemas.openxmlformats.org/drawingml/2006/main">
              <a:ext uri="{FF2B5EF4-FFF2-40B4-BE49-F238E27FC236}">
                <a16:creationId xmlns:a16="http://schemas.microsoft.com/office/drawing/2014/main" id="{275822BF-B098-48D9-9A12-9D4926DF3A8A}"/>
              </a:ext>
            </a:extLst>
          </p:cNvPr>
          <p:cNvSpPr>
            <a:spLocks xmlns:a="http://schemas.openxmlformats.org/drawingml/2006/main" noGrp="1"/>
          </p:cNvSpPr>
          <p:nvPr/>
        </p:nvSpPr>
        <p:spPr>
          <a:xfrm xmlns:a="http://schemas.openxmlformats.org/drawingml/2006/main">
            <a:off x="7572375" y="5857875"/>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975" b="1" i="0">
                <a:solidFill>
                  <a:srgbClr val="2B241A"/>
                </a:solidFill>
                <a:latin typeface="Menlo"/>
                <a:ea typeface="Menlo"/>
                <a:cs typeface="Menlo"/>
              </a:defRPr>
            </a:pPr>
            <a:r>
              <a:rPr sz="975" b="1" i="0">
                <a:solidFill>
                  <a:srgbClr val="2B241A"/>
                </a:solidFill>
                <a:latin typeface="Menlo"/>
                <a:ea typeface="Menlo"/>
                <a:cs typeface="Menlo"/>
              </a:rPr>
              <a:t>CHECK 1 MIN</a:t>
            </a:r>
          </a:p>
        </p:txBody>
      </p:sp>
    </p:spTree>
    <p:extLst>
      <p:ext uri="{BB962C8B-B14F-4D97-AF65-F5344CB8AC3E}">
        <p14:creationId xmlns:p14="http://schemas.microsoft.com/office/powerpoint/2010/main" val="506671545"/>
      </p:ext>
    </p:extLst>
  </p:cSld>
</p:sld>
</file>

<file path=ppt/slides/slide7.xml><?xml version="1.0" encoding="utf-8"?>
<p:sld xmlns:p="http://schemas.openxmlformats.org/presentationml/2006/main">
  <p:cSld>
    <p:bg>
      <p:bgPr>
        <a:solidFill xmlns:a="http://schemas.openxmlformats.org/drawingml/2006/main">
          <a:srgbClr val="F5EDDD"/>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4596679-E38D-42F2-8EF7-25DBC817FEB7}"/>
              </a:ext>
            </a:extLst>
          </p:cNvPr>
          <p:cNvSpPr>
            <a:spLocks xmlns:a="http://schemas.openxmlformats.org/drawingml/2006/main" noGrp="1"/>
          </p:cNvSpPr>
          <p:nvPr/>
        </p:nvSpPr>
        <p:spPr>
          <a:xfrm xmlns:a="http://schemas.openxmlformats.org/drawingml/2006/main">
            <a:off x="723900" y="514350"/>
            <a:ext cx="10744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3000" b="1" i="0">
                <a:solidFill>
                  <a:srgbClr val="2B241A"/>
                </a:solidFill>
                <a:latin typeface="Georgia"/>
                <a:ea typeface="Georgia"/>
                <a:cs typeface="Georgia"/>
              </a:defRPr>
            </a:pPr>
            <a:r>
              <a:rPr sz="3000" b="1" i="0">
                <a:solidFill>
                  <a:srgbClr val="2B241A"/>
                </a:solidFill>
                <a:latin typeface="Georgia"/>
                <a:ea typeface="Georgia"/>
                <a:cs typeface="Georgia"/>
              </a:rPr>
              <a:t>Concept 2: choose a system, not an adjective</a:t>
            </a:r>
          </a:p>
        </p:txBody>
      </p:sp>
      <p:sp>
        <p:nvSpPr>
          <p:cNvPr id="2" name="">
            <a:extLst xmlns:a="http://schemas.openxmlformats.org/drawingml/2006/main">
              <a:ext uri="{FF2B5EF4-FFF2-40B4-BE49-F238E27FC236}">
                <a16:creationId xmlns:a16="http://schemas.microsoft.com/office/drawing/2014/main" id="{0EDC4D20-C46B-4ADB-9695-C6762635C04A}"/>
              </a:ext>
            </a:extLst>
          </p:cNvPr>
          <p:cNvSpPr>
            <a:spLocks xmlns:a="http://schemas.openxmlformats.org/drawingml/2006/main" noGrp="1"/>
          </p:cNvSpPr>
          <p:nvPr/>
        </p:nvSpPr>
        <p:spPr>
          <a:xfrm xmlns:a="http://schemas.openxmlformats.org/drawingml/2006/main">
            <a:off x="742950" y="1257300"/>
            <a:ext cx="1000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i="0">
                <a:solidFill>
                  <a:srgbClr val="6A6054"/>
                </a:solidFill>
                <a:latin typeface="Avenir Next"/>
                <a:ea typeface="Avenir Next"/>
                <a:cs typeface="Avenir Next"/>
              </a:defRPr>
            </a:pPr>
            <a:r>
              <a:rPr sz="1350" b="0" i="0">
                <a:solidFill>
                  <a:srgbClr val="6A6054"/>
                </a:solidFill>
                <a:latin typeface="Avenir Next"/>
                <a:ea typeface="Avenir Next"/>
                <a:cs typeface="Avenir Next"/>
              </a:rPr>
              <a:t>A direction connects the customer moment to repeatable visual decisions</a:t>
            </a:r>
          </a:p>
        </p:txBody>
      </p:sp>
      <p:sp>
        <p:nvSpPr>
          <p:cNvPr id="3" name="">
            <a:extLst xmlns:a="http://schemas.openxmlformats.org/drawingml/2006/main">
              <a:ext uri="{FF2B5EF4-FFF2-40B4-BE49-F238E27FC236}">
                <a16:creationId xmlns:a16="http://schemas.microsoft.com/office/drawing/2014/main" id="{8A2BE50B-387F-424A-A7AE-C0FE60F6F46F}"/>
              </a:ext>
            </a:extLst>
          </p:cNvPr>
          <p:cNvSpPr>
            <a:spLocks xmlns:a="http://schemas.openxmlformats.org/drawingml/2006/main" noGrp="1"/>
          </p:cNvSpPr>
          <p:nvPr/>
        </p:nvSpPr>
        <p:spPr>
          <a:xfrm xmlns:a="http://schemas.openxmlformats.org/drawingml/2006/main">
            <a:off x="990600" y="2114550"/>
            <a:ext cx="400050" cy="400050"/>
          </a:xfrm>
          <a:prstGeom xmlns:a="http://schemas.openxmlformats.org/drawingml/2006/main" prst="roundRect">
            <a:avLst>
              <a:gd name="adj" fmla="val 19048"/>
            </a:avLst>
          </a:prstGeom>
          <a:solidFill xmlns:a="http://schemas.openxmlformats.org/drawingml/2006/main">
            <a:srgbClr val="2B241A"/>
          </a:solidFill>
          <a:ln xmlns:a="http://schemas.openxmlformats.org/drawingml/2006/main" w="14288">
            <a:solidFill>
              <a:srgbClr val="2B241A"/>
            </a:solidFill>
          </a:ln>
        </p:spPr>
      </p:sp>
      <p:sp>
        <p:nvSpPr>
          <p:cNvPr id="4" name="">
            <a:extLst xmlns:a="http://schemas.openxmlformats.org/drawingml/2006/main">
              <a:ext uri="{FF2B5EF4-FFF2-40B4-BE49-F238E27FC236}">
                <a16:creationId xmlns:a16="http://schemas.microsoft.com/office/drawing/2014/main" id="{1F9C0086-D3D7-4BE8-8B26-4B60E107D485}"/>
              </a:ext>
            </a:extLst>
          </p:cNvPr>
          <p:cNvSpPr>
            <a:spLocks xmlns:a="http://schemas.openxmlformats.org/drawingml/2006/main" noGrp="1"/>
          </p:cNvSpPr>
          <p:nvPr/>
        </p:nvSpPr>
        <p:spPr>
          <a:xfrm xmlns:a="http://schemas.openxmlformats.org/drawingml/2006/main">
            <a:off x="990600" y="210502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1" i="0">
                <a:solidFill>
                  <a:srgbClr val="FFFDF8"/>
                </a:solidFill>
                <a:latin typeface="Menlo"/>
                <a:ea typeface="Menlo"/>
                <a:cs typeface="Menlo"/>
              </a:defRPr>
            </a:pPr>
            <a:r>
              <a:rPr sz="1200" b="1" i="0">
                <a:solidFill>
                  <a:srgbClr val="FFFDF8"/>
                </a:solidFill>
                <a:latin typeface="Menlo"/>
                <a:ea typeface="Menlo"/>
                <a:cs typeface="Menlo"/>
              </a:rPr>
              <a:t>1</a:t>
            </a:r>
          </a:p>
        </p:txBody>
      </p:sp>
      <p:sp>
        <p:nvSpPr>
          <p:cNvPr id="5" name="">
            <a:extLst xmlns:a="http://schemas.openxmlformats.org/drawingml/2006/main">
              <a:ext uri="{FF2B5EF4-FFF2-40B4-BE49-F238E27FC236}">
                <a16:creationId xmlns:a16="http://schemas.microsoft.com/office/drawing/2014/main" id="{19E08FDD-9C30-4251-830B-60F4BBA08A61}"/>
              </a:ext>
            </a:extLst>
          </p:cNvPr>
          <p:cNvSpPr>
            <a:spLocks xmlns:a="http://schemas.openxmlformats.org/drawingml/2006/main" noGrp="1"/>
          </p:cNvSpPr>
          <p:nvPr/>
        </p:nvSpPr>
        <p:spPr>
          <a:xfrm xmlns:a="http://schemas.openxmlformats.org/drawingml/2006/main">
            <a:off x="1600200" y="1962150"/>
            <a:ext cx="8972550" cy="781050"/>
          </a:xfrm>
          <a:prstGeom xmlns:a="http://schemas.openxmlformats.org/drawingml/2006/main" prst="roundRect">
            <a:avLst>
              <a:gd name="adj" fmla="val 9756"/>
            </a:avLst>
          </a:prstGeom>
          <a:solidFill xmlns:a="http://schemas.openxmlformats.org/drawingml/2006/main">
            <a:srgbClr val="C8DCE8"/>
          </a:solidFill>
          <a:ln xmlns:a="http://schemas.openxmlformats.org/drawingml/2006/main" w="14288">
            <a:solidFill>
              <a:srgbClr val="2B241A"/>
            </a:solidFill>
          </a:ln>
        </p:spPr>
      </p:sp>
      <p:sp>
        <p:nvSpPr>
          <p:cNvPr id="6" name="">
            <a:extLst xmlns:a="http://schemas.openxmlformats.org/drawingml/2006/main">
              <a:ext uri="{FF2B5EF4-FFF2-40B4-BE49-F238E27FC236}">
                <a16:creationId xmlns:a16="http://schemas.microsoft.com/office/drawing/2014/main" id="{508B47E6-6162-4DE8-9E1A-EA0BDA13ADA8}"/>
              </a:ext>
            </a:extLst>
          </p:cNvPr>
          <p:cNvSpPr>
            <a:spLocks xmlns:a="http://schemas.openxmlformats.org/drawingml/2006/main" noGrp="1"/>
          </p:cNvSpPr>
          <p:nvPr/>
        </p:nvSpPr>
        <p:spPr>
          <a:xfrm xmlns:a="http://schemas.openxmlformats.org/drawingml/2006/main">
            <a:off x="1847850" y="205740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125" b="1" i="0">
                <a:solidFill>
                  <a:srgbClr val="2B241A"/>
                </a:solidFill>
                <a:latin typeface="Menlo"/>
                <a:ea typeface="Menlo"/>
                <a:cs typeface="Menlo"/>
              </a:defRPr>
            </a:pPr>
            <a:r>
              <a:rPr sz="1125" b="1" i="0">
                <a:solidFill>
                  <a:srgbClr val="2B241A"/>
                </a:solidFill>
                <a:latin typeface="Menlo"/>
                <a:ea typeface="Menlo"/>
                <a:cs typeface="Menlo"/>
              </a:rPr>
              <a:t>QUIET EDITORIAL</a:t>
            </a:r>
          </a:p>
        </p:txBody>
      </p:sp>
      <p:sp>
        <p:nvSpPr>
          <p:cNvPr id="7" name="">
            <a:extLst xmlns:a="http://schemas.openxmlformats.org/drawingml/2006/main">
              <a:ext uri="{FF2B5EF4-FFF2-40B4-BE49-F238E27FC236}">
                <a16:creationId xmlns:a16="http://schemas.microsoft.com/office/drawing/2014/main" id="{58BE5DAA-5E12-472B-BDFA-0466E858510E}"/>
              </a:ext>
            </a:extLst>
          </p:cNvPr>
          <p:cNvSpPr>
            <a:spLocks xmlns:a="http://schemas.openxmlformats.org/drawingml/2006/main" noGrp="1"/>
          </p:cNvSpPr>
          <p:nvPr/>
        </p:nvSpPr>
        <p:spPr>
          <a:xfrm xmlns:a="http://schemas.openxmlformats.org/drawingml/2006/main">
            <a:off x="4476750" y="2057400"/>
            <a:ext cx="5810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650" b="1" i="0">
                <a:solidFill>
                  <a:srgbClr val="2B241A"/>
                </a:solidFill>
                <a:latin typeface="Avenir Next"/>
                <a:ea typeface="Avenir Next"/>
                <a:cs typeface="Avenir Next"/>
              </a:defRPr>
            </a:pPr>
            <a:r>
              <a:rPr sz="1650" b="1" i="0">
                <a:solidFill>
                  <a:srgbClr val="2B241A"/>
                </a:solidFill>
                <a:latin typeface="Avenir Next"/>
                <a:ea typeface="Avenir Next"/>
                <a:cs typeface="Avenir Next"/>
              </a:rPr>
              <a:t>Soft side light · expressive serif · controlled space</a:t>
            </a:r>
          </a:p>
        </p:txBody>
      </p:sp>
      <p:sp>
        <p:nvSpPr>
          <p:cNvPr id="8" name="">
            <a:extLst xmlns:a="http://schemas.openxmlformats.org/drawingml/2006/main">
              <a:ext uri="{FF2B5EF4-FFF2-40B4-BE49-F238E27FC236}">
                <a16:creationId xmlns:a16="http://schemas.microsoft.com/office/drawing/2014/main" id="{A1BD04D6-BC8B-445E-BE38-479CF6D11D55}"/>
              </a:ext>
            </a:extLst>
          </p:cNvPr>
          <p:cNvSpPr>
            <a:spLocks xmlns:a="http://schemas.openxmlformats.org/drawingml/2006/main" noGrp="1"/>
          </p:cNvSpPr>
          <p:nvPr/>
        </p:nvSpPr>
        <p:spPr>
          <a:xfrm xmlns:a="http://schemas.openxmlformats.org/drawingml/2006/main">
            <a:off x="990600" y="3238500"/>
            <a:ext cx="400050" cy="400050"/>
          </a:xfrm>
          <a:prstGeom xmlns:a="http://schemas.openxmlformats.org/drawingml/2006/main" prst="roundRect">
            <a:avLst>
              <a:gd name="adj" fmla="val 19048"/>
            </a:avLst>
          </a:prstGeom>
          <a:solidFill xmlns:a="http://schemas.openxmlformats.org/drawingml/2006/main">
            <a:srgbClr val="2B241A"/>
          </a:solidFill>
          <a:ln xmlns:a="http://schemas.openxmlformats.org/drawingml/2006/main" w="14288">
            <a:solidFill>
              <a:srgbClr val="2B241A"/>
            </a:solidFill>
          </a:ln>
        </p:spPr>
      </p:sp>
      <p:sp>
        <p:nvSpPr>
          <p:cNvPr id="9" name="">
            <a:extLst xmlns:a="http://schemas.openxmlformats.org/drawingml/2006/main">
              <a:ext uri="{FF2B5EF4-FFF2-40B4-BE49-F238E27FC236}">
                <a16:creationId xmlns:a16="http://schemas.microsoft.com/office/drawing/2014/main" id="{ED93D925-C1D2-47A5-AA31-FF9997E753FE}"/>
              </a:ext>
            </a:extLst>
          </p:cNvPr>
          <p:cNvSpPr>
            <a:spLocks xmlns:a="http://schemas.openxmlformats.org/drawingml/2006/main" noGrp="1"/>
          </p:cNvSpPr>
          <p:nvPr/>
        </p:nvSpPr>
        <p:spPr>
          <a:xfrm xmlns:a="http://schemas.openxmlformats.org/drawingml/2006/main">
            <a:off x="990600" y="322897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1" i="0">
                <a:solidFill>
                  <a:srgbClr val="FFFDF8"/>
                </a:solidFill>
                <a:latin typeface="Menlo"/>
                <a:ea typeface="Menlo"/>
                <a:cs typeface="Menlo"/>
              </a:defRPr>
            </a:pPr>
            <a:r>
              <a:rPr sz="1200" b="1" i="0">
                <a:solidFill>
                  <a:srgbClr val="FFFDF8"/>
                </a:solidFill>
                <a:latin typeface="Menlo"/>
                <a:ea typeface="Menlo"/>
                <a:cs typeface="Menlo"/>
              </a:rPr>
              <a:t>2</a:t>
            </a:r>
          </a:p>
        </p:txBody>
      </p:sp>
      <p:sp>
        <p:nvSpPr>
          <p:cNvPr id="10" name="">
            <a:extLst xmlns:a="http://schemas.openxmlformats.org/drawingml/2006/main">
              <a:ext uri="{FF2B5EF4-FFF2-40B4-BE49-F238E27FC236}">
                <a16:creationId xmlns:a16="http://schemas.microsoft.com/office/drawing/2014/main" id="{79225C4B-30C0-42C8-A164-E00128DF0FD5}"/>
              </a:ext>
            </a:extLst>
          </p:cNvPr>
          <p:cNvSpPr>
            <a:spLocks xmlns:a="http://schemas.openxmlformats.org/drawingml/2006/main" noGrp="1"/>
          </p:cNvSpPr>
          <p:nvPr/>
        </p:nvSpPr>
        <p:spPr>
          <a:xfrm xmlns:a="http://schemas.openxmlformats.org/drawingml/2006/main">
            <a:off x="1600200" y="3086100"/>
            <a:ext cx="8972550" cy="781050"/>
          </a:xfrm>
          <a:prstGeom xmlns:a="http://schemas.openxmlformats.org/drawingml/2006/main" prst="roundRect">
            <a:avLst>
              <a:gd name="adj" fmla="val 9756"/>
            </a:avLst>
          </a:prstGeom>
          <a:solidFill xmlns:a="http://schemas.openxmlformats.org/drawingml/2006/main">
            <a:srgbClr val="E8D98E"/>
          </a:solidFill>
          <a:ln xmlns:a="http://schemas.openxmlformats.org/drawingml/2006/main" w="14288">
            <a:solidFill>
              <a:srgbClr val="2B241A"/>
            </a:solidFill>
          </a:ln>
        </p:spPr>
      </p:sp>
      <p:sp>
        <p:nvSpPr>
          <p:cNvPr id="11" name="">
            <a:extLst xmlns:a="http://schemas.openxmlformats.org/drawingml/2006/main">
              <a:ext uri="{FF2B5EF4-FFF2-40B4-BE49-F238E27FC236}">
                <a16:creationId xmlns:a16="http://schemas.microsoft.com/office/drawing/2014/main" id="{4BE8E58A-26E6-4F7D-A440-8F4BA19AFDBB}"/>
              </a:ext>
            </a:extLst>
          </p:cNvPr>
          <p:cNvSpPr>
            <a:spLocks xmlns:a="http://schemas.openxmlformats.org/drawingml/2006/main" noGrp="1"/>
          </p:cNvSpPr>
          <p:nvPr/>
        </p:nvSpPr>
        <p:spPr>
          <a:xfrm xmlns:a="http://schemas.openxmlformats.org/drawingml/2006/main">
            <a:off x="1847850" y="318135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125" b="1" i="0">
                <a:solidFill>
                  <a:srgbClr val="2B241A"/>
                </a:solidFill>
                <a:latin typeface="Menlo"/>
                <a:ea typeface="Menlo"/>
                <a:cs typeface="Menlo"/>
              </a:defRPr>
            </a:pPr>
            <a:r>
              <a:rPr sz="1125" b="1" i="0">
                <a:solidFill>
                  <a:srgbClr val="2B241A"/>
                </a:solidFill>
                <a:latin typeface="Menlo"/>
                <a:ea typeface="Menlo"/>
                <a:cs typeface="Menlo"/>
              </a:rPr>
              <a:t>PLAYFUL OBJECT THEATRE</a:t>
            </a:r>
          </a:p>
        </p:txBody>
      </p:sp>
      <p:sp>
        <p:nvSpPr>
          <p:cNvPr id="12" name="">
            <a:extLst xmlns:a="http://schemas.openxmlformats.org/drawingml/2006/main">
              <a:ext uri="{FF2B5EF4-FFF2-40B4-BE49-F238E27FC236}">
                <a16:creationId xmlns:a16="http://schemas.microsoft.com/office/drawing/2014/main" id="{4AFFA090-0583-4F0E-9CC4-2BB200EDF6D7}"/>
              </a:ext>
            </a:extLst>
          </p:cNvPr>
          <p:cNvSpPr>
            <a:spLocks xmlns:a="http://schemas.openxmlformats.org/drawingml/2006/main" noGrp="1"/>
          </p:cNvSpPr>
          <p:nvPr/>
        </p:nvSpPr>
        <p:spPr>
          <a:xfrm xmlns:a="http://schemas.openxmlformats.org/drawingml/2006/main">
            <a:off x="4476750" y="3181350"/>
            <a:ext cx="5810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650" b="1" i="0">
                <a:solidFill>
                  <a:srgbClr val="2B241A"/>
                </a:solidFill>
                <a:latin typeface="Avenir Next"/>
                <a:ea typeface="Avenir Next"/>
                <a:cs typeface="Avenir Next"/>
              </a:defRPr>
            </a:pPr>
            <a:r>
              <a:rPr sz="1650" b="1" i="0">
                <a:solidFill>
                  <a:srgbClr val="2B241A"/>
                </a:solidFill>
                <a:latin typeface="Avenir Next"/>
                <a:ea typeface="Avenir Next"/>
                <a:cs typeface="Avenir Next"/>
              </a:rPr>
              <a:t>Graphic shadows · geometric type · stacked forms</a:t>
            </a:r>
          </a:p>
        </p:txBody>
      </p:sp>
      <p:sp>
        <p:nvSpPr>
          <p:cNvPr id="13" name="">
            <a:extLst xmlns:a="http://schemas.openxmlformats.org/drawingml/2006/main">
              <a:ext uri="{FF2B5EF4-FFF2-40B4-BE49-F238E27FC236}">
                <a16:creationId xmlns:a16="http://schemas.microsoft.com/office/drawing/2014/main" id="{EF49D96F-ED35-4879-ACD4-3FC5155E3A24}"/>
              </a:ext>
            </a:extLst>
          </p:cNvPr>
          <p:cNvSpPr>
            <a:spLocks xmlns:a="http://schemas.openxmlformats.org/drawingml/2006/main" noGrp="1"/>
          </p:cNvSpPr>
          <p:nvPr/>
        </p:nvSpPr>
        <p:spPr>
          <a:xfrm xmlns:a="http://schemas.openxmlformats.org/drawingml/2006/main">
            <a:off x="990600" y="4362450"/>
            <a:ext cx="400050" cy="400050"/>
          </a:xfrm>
          <a:prstGeom xmlns:a="http://schemas.openxmlformats.org/drawingml/2006/main" prst="roundRect">
            <a:avLst>
              <a:gd name="adj" fmla="val 19048"/>
            </a:avLst>
          </a:prstGeom>
          <a:solidFill xmlns:a="http://schemas.openxmlformats.org/drawingml/2006/main">
            <a:srgbClr val="2B241A"/>
          </a:solidFill>
          <a:ln xmlns:a="http://schemas.openxmlformats.org/drawingml/2006/main" w="14288">
            <a:solidFill>
              <a:srgbClr val="2B241A"/>
            </a:solidFill>
          </a:ln>
        </p:spPr>
      </p:sp>
      <p:sp>
        <p:nvSpPr>
          <p:cNvPr id="14" name="">
            <a:extLst xmlns:a="http://schemas.openxmlformats.org/drawingml/2006/main">
              <a:ext uri="{FF2B5EF4-FFF2-40B4-BE49-F238E27FC236}">
                <a16:creationId xmlns:a16="http://schemas.microsoft.com/office/drawing/2014/main" id="{54CE9D3F-12BC-4F19-B4CD-599CE685AC2B}"/>
              </a:ext>
            </a:extLst>
          </p:cNvPr>
          <p:cNvSpPr>
            <a:spLocks xmlns:a="http://schemas.openxmlformats.org/drawingml/2006/main" noGrp="1"/>
          </p:cNvSpPr>
          <p:nvPr/>
        </p:nvSpPr>
        <p:spPr>
          <a:xfrm xmlns:a="http://schemas.openxmlformats.org/drawingml/2006/main">
            <a:off x="990600" y="435292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1" i="0">
                <a:solidFill>
                  <a:srgbClr val="FFFDF8"/>
                </a:solidFill>
                <a:latin typeface="Menlo"/>
                <a:ea typeface="Menlo"/>
                <a:cs typeface="Menlo"/>
              </a:defRPr>
            </a:pPr>
            <a:r>
              <a:rPr sz="1200" b="1" i="0">
                <a:solidFill>
                  <a:srgbClr val="FFFDF8"/>
                </a:solidFill>
                <a:latin typeface="Menlo"/>
                <a:ea typeface="Menlo"/>
                <a:cs typeface="Menlo"/>
              </a:rPr>
              <a:t>3</a:t>
            </a:r>
          </a:p>
        </p:txBody>
      </p:sp>
      <p:sp>
        <p:nvSpPr>
          <p:cNvPr id="15" name="">
            <a:extLst xmlns:a="http://schemas.openxmlformats.org/drawingml/2006/main">
              <a:ext uri="{FF2B5EF4-FFF2-40B4-BE49-F238E27FC236}">
                <a16:creationId xmlns:a16="http://schemas.microsoft.com/office/drawing/2014/main" id="{03CDCB14-65E5-4034-8EA3-6DEAD9D93A49}"/>
              </a:ext>
            </a:extLst>
          </p:cNvPr>
          <p:cNvSpPr>
            <a:spLocks xmlns:a="http://schemas.openxmlformats.org/drawingml/2006/main" noGrp="1"/>
          </p:cNvSpPr>
          <p:nvPr/>
        </p:nvSpPr>
        <p:spPr>
          <a:xfrm xmlns:a="http://schemas.openxmlformats.org/drawingml/2006/main">
            <a:off x="1600200" y="4210050"/>
            <a:ext cx="8972550" cy="781050"/>
          </a:xfrm>
          <a:prstGeom xmlns:a="http://schemas.openxmlformats.org/drawingml/2006/main" prst="roundRect">
            <a:avLst>
              <a:gd name="adj" fmla="val 9756"/>
            </a:avLst>
          </a:prstGeom>
          <a:solidFill xmlns:a="http://schemas.openxmlformats.org/drawingml/2006/main">
            <a:srgbClr val="BDD4BD"/>
          </a:solidFill>
          <a:ln xmlns:a="http://schemas.openxmlformats.org/drawingml/2006/main" w="14288">
            <a:solidFill>
              <a:srgbClr val="2B241A"/>
            </a:solidFill>
          </a:ln>
        </p:spPr>
      </p:sp>
      <p:sp>
        <p:nvSpPr>
          <p:cNvPr id="16" name="">
            <a:extLst xmlns:a="http://schemas.openxmlformats.org/drawingml/2006/main">
              <a:ext uri="{FF2B5EF4-FFF2-40B4-BE49-F238E27FC236}">
                <a16:creationId xmlns:a16="http://schemas.microsoft.com/office/drawing/2014/main" id="{FC1BDAC2-3627-4D8B-A426-B65B93CD3B65}"/>
              </a:ext>
            </a:extLst>
          </p:cNvPr>
          <p:cNvSpPr>
            <a:spLocks xmlns:a="http://schemas.openxmlformats.org/drawingml/2006/main" noGrp="1"/>
          </p:cNvSpPr>
          <p:nvPr/>
        </p:nvSpPr>
        <p:spPr>
          <a:xfrm xmlns:a="http://schemas.openxmlformats.org/drawingml/2006/main">
            <a:off x="1847850" y="430530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125" b="1" i="0">
                <a:solidFill>
                  <a:srgbClr val="2B241A"/>
                </a:solidFill>
                <a:latin typeface="Menlo"/>
                <a:ea typeface="Menlo"/>
                <a:cs typeface="Menlo"/>
              </a:defRPr>
            </a:pPr>
            <a:r>
              <a:rPr sz="1125" b="1" i="0">
                <a:solidFill>
                  <a:srgbClr val="2B241A"/>
                </a:solidFill>
                <a:latin typeface="Menlo"/>
                <a:ea typeface="Menlo"/>
                <a:cs typeface="Menlo"/>
              </a:rPr>
              <a:t>DARK CINEMATIC</a:t>
            </a:r>
          </a:p>
        </p:txBody>
      </p:sp>
      <p:sp>
        <p:nvSpPr>
          <p:cNvPr id="17" name="">
            <a:extLst xmlns:a="http://schemas.openxmlformats.org/drawingml/2006/main">
              <a:ext uri="{FF2B5EF4-FFF2-40B4-BE49-F238E27FC236}">
                <a16:creationId xmlns:a16="http://schemas.microsoft.com/office/drawing/2014/main" id="{CBEAF56E-89F2-4560-8739-49C1A7805638}"/>
              </a:ext>
            </a:extLst>
          </p:cNvPr>
          <p:cNvSpPr>
            <a:spLocks xmlns:a="http://schemas.openxmlformats.org/drawingml/2006/main" noGrp="1"/>
          </p:cNvSpPr>
          <p:nvPr/>
        </p:nvSpPr>
        <p:spPr>
          <a:xfrm xmlns:a="http://schemas.openxmlformats.org/drawingml/2006/main">
            <a:off x="4476750" y="4305300"/>
            <a:ext cx="5810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650" b="1" i="0">
                <a:solidFill>
                  <a:srgbClr val="2B241A"/>
                </a:solidFill>
                <a:latin typeface="Avenir Next"/>
                <a:ea typeface="Avenir Next"/>
                <a:cs typeface="Avenir Next"/>
              </a:defRPr>
            </a:pPr>
            <a:r>
              <a:rPr sz="1650" b="1" i="0">
                <a:solidFill>
                  <a:srgbClr val="2B241A"/>
                </a:solidFill>
                <a:latin typeface="Avenir Next"/>
                <a:ea typeface="Avenir Next"/>
                <a:cs typeface="Avenir Next"/>
              </a:rPr>
              <a:t>Pools of light · close details · slow reveal</a:t>
            </a:r>
          </a:p>
        </p:txBody>
      </p:sp>
      <p:sp>
        <p:nvSpPr>
          <p:cNvPr id="18" name="">
            <a:extLst xmlns:a="http://schemas.openxmlformats.org/drawingml/2006/main">
              <a:ext uri="{FF2B5EF4-FFF2-40B4-BE49-F238E27FC236}">
                <a16:creationId xmlns:a16="http://schemas.microsoft.com/office/drawing/2014/main" id="{A44D1D2F-C6FF-40C2-BF9F-E9F2AA06411C}"/>
              </a:ext>
            </a:extLst>
          </p:cNvPr>
          <p:cNvSpPr>
            <a:spLocks xmlns:a="http://schemas.openxmlformats.org/drawingml/2006/main" noGrp="1"/>
          </p:cNvSpPr>
          <p:nvPr/>
        </p:nvSpPr>
        <p:spPr>
          <a:xfrm xmlns:a="http://schemas.openxmlformats.org/drawingml/2006/main">
            <a:off x="723900" y="5562600"/>
            <a:ext cx="10744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175"/>
          </a:bodyPr>
          <a:lstStyle xmlns:a="http://schemas.openxmlformats.org/drawingml/2006/main"/>
          <a:p xmlns:a="http://schemas.openxmlformats.org/drawingml/2006/main">
            <a:pPr algn="ctr">
              <a:buNone/>
              <a:defRPr sz="1950" b="1" i="0">
                <a:solidFill>
                  <a:srgbClr val="C9473D"/>
                </a:solidFill>
                <a:latin typeface="Georgia"/>
                <a:ea typeface="Georgia"/>
                <a:cs typeface="Georgia"/>
              </a:defRPr>
            </a:pPr>
            <a:r>
              <a:rPr sz="1950" b="1" i="0">
                <a:solidFill>
                  <a:srgbClr val="C9473D"/>
                </a:solidFill>
                <a:latin typeface="Georgia"/>
                <a:ea typeface="Georgia"/>
                <a:cs typeface="Georgia"/>
              </a:rPr>
              <a:t>The route must change type, light, composition, materials, and pace—not only colour.</a:t>
            </a:r>
          </a:p>
        </p:txBody>
      </p:sp>
    </p:spTree>
    <p:extLst>
      <p:ext uri="{BB962C8B-B14F-4D97-AF65-F5344CB8AC3E}">
        <p14:creationId xmlns:p14="http://schemas.microsoft.com/office/powerpoint/2010/main" val="969572760"/>
      </p:ext>
    </p:extLst>
  </p:cSld>
</p:sld>
</file>

<file path=ppt/slides/slide8.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3AC15A4-258F-4E12-82FC-AC25541FCAB5}"/>
              </a:ext>
            </a:extLst>
          </p:cNvPr>
          <p:cNvSpPr>
            <a:spLocks xmlns:a="http://schemas.openxmlformats.org/drawingml/2006/main" noGrp="1"/>
          </p:cNvSpPr>
          <p:nvPr/>
        </p:nvSpPr>
        <p:spPr>
          <a:xfrm xmlns:a="http://schemas.openxmlformats.org/drawingml/2006/main">
            <a:off x="723900" y="514350"/>
            <a:ext cx="10744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3000" b="1" i="0">
                <a:solidFill>
                  <a:srgbClr val="2B241A"/>
                </a:solidFill>
                <a:latin typeface="Georgia"/>
                <a:ea typeface="Georgia"/>
                <a:cs typeface="Georgia"/>
              </a:defRPr>
            </a:pPr>
            <a:r>
              <a:rPr sz="3000" b="1" i="0">
                <a:solidFill>
                  <a:srgbClr val="2B241A"/>
                </a:solidFill>
                <a:latin typeface="Georgia"/>
                <a:ea typeface="Georgia"/>
                <a:cs typeface="Georgia"/>
              </a:rPr>
              <a:t>Build 2: make the product-family reference</a:t>
            </a:r>
          </a:p>
        </p:txBody>
      </p:sp>
      <p:sp>
        <p:nvSpPr>
          <p:cNvPr id="2" name="">
            <a:extLst xmlns:a="http://schemas.openxmlformats.org/drawingml/2006/main">
              <a:ext uri="{FF2B5EF4-FFF2-40B4-BE49-F238E27FC236}">
                <a16:creationId xmlns:a16="http://schemas.microsoft.com/office/drawing/2014/main" id="{79E2ED4F-B6A1-4A8B-AEC0-6DC34B1B0A67}"/>
              </a:ext>
            </a:extLst>
          </p:cNvPr>
          <p:cNvSpPr>
            <a:spLocks xmlns:a="http://schemas.openxmlformats.org/drawingml/2006/main" noGrp="1"/>
          </p:cNvSpPr>
          <p:nvPr/>
        </p:nvSpPr>
        <p:spPr>
          <a:xfrm xmlns:a="http://schemas.openxmlformats.org/drawingml/2006/main">
            <a:off x="742950" y="1257300"/>
            <a:ext cx="1000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i="0">
                <a:solidFill>
                  <a:srgbClr val="6A6054"/>
                </a:solidFill>
                <a:latin typeface="Avenir Next"/>
                <a:ea typeface="Avenir Next"/>
                <a:cs typeface="Avenir Next"/>
              </a:defRPr>
            </a:pPr>
            <a:r>
              <a:rPr sz="1350" b="0" i="0">
                <a:solidFill>
                  <a:srgbClr val="6A6054"/>
                </a:solidFill>
                <a:latin typeface="Avenir Next"/>
                <a:ea typeface="Avenir Next"/>
                <a:cs typeface="Avenir Next"/>
              </a:rPr>
              <a:t>Approve the three products once before using them in the website, social image, and video</a:t>
            </a:r>
          </a:p>
        </p:txBody>
      </p:sp>
      <p:sp>
        <p:nvSpPr>
          <p:cNvPr id="3" name="">
            <a:extLst xmlns:a="http://schemas.openxmlformats.org/drawingml/2006/main">
              <a:ext uri="{FF2B5EF4-FFF2-40B4-BE49-F238E27FC236}">
                <a16:creationId xmlns:a16="http://schemas.microsoft.com/office/drawing/2014/main" id="{65A610A5-D8A9-4E29-A589-99D20DD29DC1}"/>
              </a:ext>
            </a:extLst>
          </p:cNvPr>
          <p:cNvSpPr>
            <a:spLocks xmlns:a="http://schemas.openxmlformats.org/drawingml/2006/main" noGrp="1"/>
          </p:cNvSpPr>
          <p:nvPr/>
        </p:nvSpPr>
        <p:spPr>
          <a:xfrm xmlns:a="http://schemas.openxmlformats.org/drawingml/2006/main">
            <a:off x="723900" y="1809750"/>
            <a:ext cx="5905500" cy="3429000"/>
          </a:xfrm>
          <a:prstGeom xmlns:a="http://schemas.openxmlformats.org/drawingml/2006/main" prst="roundRect">
            <a:avLst>
              <a:gd name="adj" fmla="val 2222"/>
            </a:avLst>
          </a:prstGeom>
          <a:solidFill xmlns:a="http://schemas.openxmlformats.org/drawingml/2006/main">
            <a:srgbClr val="2B241A"/>
          </a:solidFill>
          <a:ln xmlns:a="http://schemas.openxmlformats.org/drawingml/2006/main" w="14288">
            <a:solidFill>
              <a:srgbClr val="2B241A"/>
            </a:solidFill>
          </a:ln>
        </p:spPr>
      </p:sp>
      <p:sp>
        <p:nvSpPr>
          <p:cNvPr id="4" name="">
            <a:extLst xmlns:a="http://schemas.openxmlformats.org/drawingml/2006/main">
              <a:ext uri="{FF2B5EF4-FFF2-40B4-BE49-F238E27FC236}">
                <a16:creationId xmlns:a16="http://schemas.microsoft.com/office/drawing/2014/main" id="{516CC90B-3D59-44A6-8C70-671A4A6E91EB}"/>
              </a:ext>
            </a:extLst>
          </p:cNvPr>
          <p:cNvSpPr>
            <a:spLocks xmlns:a="http://schemas.openxmlformats.org/drawingml/2006/main" noGrp="1"/>
          </p:cNvSpPr>
          <p:nvPr/>
        </p:nvSpPr>
        <p:spPr>
          <a:xfrm xmlns:a="http://schemas.openxmlformats.org/drawingml/2006/main">
            <a:off x="1028700" y="2076450"/>
            <a:ext cx="52959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75" b="0" i="0">
                <a:solidFill>
                  <a:srgbClr val="FFFDF8"/>
                </a:solidFill>
                <a:latin typeface="Menlo"/>
                <a:ea typeface="Menlo"/>
                <a:cs typeface="Menlo"/>
              </a:defRPr>
            </a:pPr>
            <a:r>
              <a:rPr sz="1275" b="0" i="0">
                <a:solidFill>
                  <a:srgbClr val="FFFDF8"/>
                </a:solidFill>
                <a:latin typeface="Menlo"/>
                <a:ea typeface="Menlo"/>
                <a:cs typeface="Menlo"/>
              </a:rPr>
              <a:t>Read STORE-KIT.md. Create one landscape image containing exactly the three specified products.</a:t>
            </a:r>
          </a:p>
          <a:p xmlns:a="http://schemas.openxmlformats.org/drawingml/2006/main">
            <a:r>
              <a:t/>
            </a:r>
          </a:p>
          <a:p xmlns:a="http://schemas.openxmlformats.org/drawingml/2006/main">
            <a:pPr algn="l">
              <a:buNone/>
              <a:defRPr sz="1275" b="0" i="0">
                <a:solidFill>
                  <a:srgbClr val="FFFDF8"/>
                </a:solidFill>
                <a:latin typeface="Menlo"/>
                <a:ea typeface="Menlo"/>
                <a:cs typeface="Menlo"/>
              </a:defRPr>
            </a:pPr>
            <a:r>
              <a:rPr sz="1275" b="0" i="0">
                <a:solidFill>
                  <a:srgbClr val="FFFDF8"/>
                </a:solidFill>
                <a:latin typeface="Menlo"/>
                <a:ea typeface="Menlo"/>
                <a:cs typeface="Menlo"/>
              </a:rPr>
              <a:t>Preserve each silhouette, material, and colour. Apply the chosen light and composition. No text, packaging, extra objects, people, or unsupported claims.</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35f2801ac6ec453d"/>
          <a:srcRect xmlns:a="http://schemas.openxmlformats.org/drawingml/2006/main" l="8889" t="0" r="8889" b="0"/>
          <a:stretch xmlns:a="http://schemas.openxmlformats.org/drawingml/2006/main">
            <a:fillRect l="0" t="0" r="0" b="0"/>
          </a:stretch>
        </p:blipFill>
        <p:spPr>
          <a:xfrm xmlns:a="http://schemas.openxmlformats.org/drawingml/2006/main">
            <a:off x="7239000" y="1809750"/>
            <a:ext cx="4229100" cy="3429000"/>
          </a:xfrm>
          <a:prstGeom xmlns:a="http://schemas.openxmlformats.org/drawingml/2006/main" prst="roundRect">
            <a:avLst>
              <a:gd name="adj" fmla="val 3333"/>
            </a:avLst>
          </a:prstGeom>
        </p:spPr>
      </p:pic>
      <p:sp>
        <p:nvSpPr>
          <p:cNvPr id="6" name="">
            <a:extLst xmlns:a="http://schemas.openxmlformats.org/drawingml/2006/main">
              <a:ext uri="{FF2B5EF4-FFF2-40B4-BE49-F238E27FC236}">
                <a16:creationId xmlns:a16="http://schemas.microsoft.com/office/drawing/2014/main" id="{B0D72261-3310-4DFE-8791-64EC73CB996C}"/>
              </a:ext>
            </a:extLst>
          </p:cNvPr>
          <p:cNvSpPr>
            <a:spLocks xmlns:a="http://schemas.openxmlformats.org/drawingml/2006/main" noGrp="1"/>
          </p:cNvSpPr>
          <p:nvPr/>
        </p:nvSpPr>
        <p:spPr>
          <a:xfrm xmlns:a="http://schemas.openxmlformats.org/drawingml/2006/main">
            <a:off x="723900" y="5857875"/>
            <a:ext cx="142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050" b="1" i="0">
                <a:solidFill>
                  <a:srgbClr val="6A6054"/>
                </a:solidFill>
                <a:latin typeface="Menlo"/>
                <a:ea typeface="Menlo"/>
                <a:cs typeface="Menlo"/>
              </a:defRPr>
            </a:pPr>
            <a:r>
              <a:rPr sz="1050" b="1" i="0">
                <a:solidFill>
                  <a:srgbClr val="6A6054"/>
                </a:solidFill>
                <a:latin typeface="Menlo"/>
                <a:ea typeface="Menlo"/>
                <a:cs typeface="Menlo"/>
              </a:rPr>
              <a:t>10 MINUTES</a:t>
            </a:r>
          </a:p>
        </p:txBody>
      </p:sp>
      <p:sp>
        <p:nvSpPr>
          <p:cNvPr id="7" name="">
            <a:extLst xmlns:a="http://schemas.openxmlformats.org/drawingml/2006/main">
              <a:ext uri="{FF2B5EF4-FFF2-40B4-BE49-F238E27FC236}">
                <a16:creationId xmlns:a16="http://schemas.microsoft.com/office/drawing/2014/main" id="{15540213-E2D7-4C63-9F29-E4FBEB6A2842}"/>
              </a:ext>
            </a:extLst>
          </p:cNvPr>
          <p:cNvSpPr>
            <a:spLocks xmlns:a="http://schemas.openxmlformats.org/drawingml/2006/main" noGrp="1"/>
          </p:cNvSpPr>
          <p:nvPr/>
        </p:nvSpPr>
        <p:spPr>
          <a:xfrm xmlns:a="http://schemas.openxmlformats.org/drawingml/2006/main">
            <a:off x="2428875" y="5857875"/>
            <a:ext cx="2381250" cy="304800"/>
          </a:xfrm>
          <a:prstGeom xmlns:a="http://schemas.openxmlformats.org/drawingml/2006/main" prst="roundRect">
            <a:avLst>
              <a:gd name="adj" fmla="val 25000"/>
            </a:avLst>
          </a:prstGeom>
          <a:solidFill xmlns:a="http://schemas.openxmlformats.org/drawingml/2006/main">
            <a:srgbClr val="C8DCE8"/>
          </a:solidFill>
          <a:ln xmlns:a="http://schemas.openxmlformats.org/drawingml/2006/main" w="14288">
            <a:solidFill>
              <a:srgbClr val="C8DCE8"/>
            </a:solidFill>
          </a:ln>
        </p:spPr>
      </p:sp>
      <p:sp>
        <p:nvSpPr>
          <p:cNvPr id="8" name="">
            <a:extLst xmlns:a="http://schemas.openxmlformats.org/drawingml/2006/main">
              <a:ext uri="{FF2B5EF4-FFF2-40B4-BE49-F238E27FC236}">
                <a16:creationId xmlns:a16="http://schemas.microsoft.com/office/drawing/2014/main" id="{4C59A734-0BCD-47A3-9679-84911ECB7933}"/>
              </a:ext>
            </a:extLst>
          </p:cNvPr>
          <p:cNvSpPr>
            <a:spLocks xmlns:a="http://schemas.openxmlformats.org/drawingml/2006/main" noGrp="1"/>
          </p:cNvSpPr>
          <p:nvPr/>
        </p:nvSpPr>
        <p:spPr>
          <a:xfrm xmlns:a="http://schemas.openxmlformats.org/drawingml/2006/main">
            <a:off x="2428875" y="5857875"/>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975" b="1" i="0">
                <a:solidFill>
                  <a:srgbClr val="2B241A"/>
                </a:solidFill>
                <a:latin typeface="Menlo"/>
                <a:ea typeface="Menlo"/>
                <a:cs typeface="Menlo"/>
              </a:defRPr>
            </a:pPr>
            <a:r>
              <a:rPr sz="975" b="1" i="0">
                <a:solidFill>
                  <a:srgbClr val="2B241A"/>
                </a:solidFill>
                <a:latin typeface="Menlo"/>
                <a:ea typeface="Menlo"/>
                <a:cs typeface="Menlo"/>
              </a:rPr>
              <a:t>WATCH 2 MIN</a:t>
            </a:r>
          </a:p>
        </p:txBody>
      </p:sp>
      <p:sp>
        <p:nvSpPr>
          <p:cNvPr id="9" name="">
            <a:extLst xmlns:a="http://schemas.openxmlformats.org/drawingml/2006/main">
              <a:ext uri="{FF2B5EF4-FFF2-40B4-BE49-F238E27FC236}">
                <a16:creationId xmlns:a16="http://schemas.microsoft.com/office/drawing/2014/main" id="{40CE3761-FE13-4FAC-9AC2-F4DBFC34A2E3}"/>
              </a:ext>
            </a:extLst>
          </p:cNvPr>
          <p:cNvSpPr>
            <a:spLocks xmlns:a="http://schemas.openxmlformats.org/drawingml/2006/main" noGrp="1"/>
          </p:cNvSpPr>
          <p:nvPr/>
        </p:nvSpPr>
        <p:spPr>
          <a:xfrm xmlns:a="http://schemas.openxmlformats.org/drawingml/2006/main">
            <a:off x="5000625" y="5857875"/>
            <a:ext cx="2381250" cy="304800"/>
          </a:xfrm>
          <a:prstGeom xmlns:a="http://schemas.openxmlformats.org/drawingml/2006/main" prst="roundRect">
            <a:avLst>
              <a:gd name="adj" fmla="val 25000"/>
            </a:avLst>
          </a:prstGeom>
          <a:solidFill xmlns:a="http://schemas.openxmlformats.org/drawingml/2006/main">
            <a:srgbClr val="BDD4BD"/>
          </a:solidFill>
          <a:ln xmlns:a="http://schemas.openxmlformats.org/drawingml/2006/main" w="14288">
            <a:solidFill>
              <a:srgbClr val="BDD4BD"/>
            </a:solidFill>
          </a:ln>
        </p:spPr>
      </p:sp>
      <p:sp>
        <p:nvSpPr>
          <p:cNvPr id="10" name="">
            <a:extLst xmlns:a="http://schemas.openxmlformats.org/drawingml/2006/main">
              <a:ext uri="{FF2B5EF4-FFF2-40B4-BE49-F238E27FC236}">
                <a16:creationId xmlns:a16="http://schemas.microsoft.com/office/drawing/2014/main" id="{913DE560-1E41-44A7-A8CD-6D564E9EAF98}"/>
              </a:ext>
            </a:extLst>
          </p:cNvPr>
          <p:cNvSpPr>
            <a:spLocks xmlns:a="http://schemas.openxmlformats.org/drawingml/2006/main" noGrp="1"/>
          </p:cNvSpPr>
          <p:nvPr/>
        </p:nvSpPr>
        <p:spPr>
          <a:xfrm xmlns:a="http://schemas.openxmlformats.org/drawingml/2006/main">
            <a:off x="5000625" y="5857875"/>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975" b="1" i="0">
                <a:solidFill>
                  <a:srgbClr val="2B241A"/>
                </a:solidFill>
                <a:latin typeface="Menlo"/>
                <a:ea typeface="Menlo"/>
                <a:cs typeface="Menlo"/>
              </a:defRPr>
            </a:pPr>
            <a:r>
              <a:rPr sz="975" b="1" i="0">
                <a:solidFill>
                  <a:srgbClr val="2B241A"/>
                </a:solidFill>
                <a:latin typeface="Menlo"/>
                <a:ea typeface="Menlo"/>
                <a:cs typeface="Menlo"/>
              </a:rPr>
              <a:t>BUILD 6 MIN</a:t>
            </a:r>
          </a:p>
        </p:txBody>
      </p:sp>
      <p:sp>
        <p:nvSpPr>
          <p:cNvPr id="11" name="">
            <a:extLst xmlns:a="http://schemas.openxmlformats.org/drawingml/2006/main">
              <a:ext uri="{FF2B5EF4-FFF2-40B4-BE49-F238E27FC236}">
                <a16:creationId xmlns:a16="http://schemas.microsoft.com/office/drawing/2014/main" id="{BBD54A67-8E28-416B-8112-9108EEDCBAD8}"/>
              </a:ext>
            </a:extLst>
          </p:cNvPr>
          <p:cNvSpPr>
            <a:spLocks xmlns:a="http://schemas.openxmlformats.org/drawingml/2006/main" noGrp="1"/>
          </p:cNvSpPr>
          <p:nvPr/>
        </p:nvSpPr>
        <p:spPr>
          <a:xfrm xmlns:a="http://schemas.openxmlformats.org/drawingml/2006/main">
            <a:off x="7572375" y="5857875"/>
            <a:ext cx="2381250" cy="304800"/>
          </a:xfrm>
          <a:prstGeom xmlns:a="http://schemas.openxmlformats.org/drawingml/2006/main" prst="roundRect">
            <a:avLst>
              <a:gd name="adj" fmla="val 25000"/>
            </a:avLst>
          </a:prstGeom>
          <a:solidFill xmlns:a="http://schemas.openxmlformats.org/drawingml/2006/main">
            <a:srgbClr val="EEC7C2"/>
          </a:solidFill>
          <a:ln xmlns:a="http://schemas.openxmlformats.org/drawingml/2006/main" w="14288">
            <a:solidFill>
              <a:srgbClr val="EEC7C2"/>
            </a:solidFill>
          </a:ln>
        </p:spPr>
      </p:sp>
      <p:sp>
        <p:nvSpPr>
          <p:cNvPr id="12" name="">
            <a:extLst xmlns:a="http://schemas.openxmlformats.org/drawingml/2006/main">
              <a:ext uri="{FF2B5EF4-FFF2-40B4-BE49-F238E27FC236}">
                <a16:creationId xmlns:a16="http://schemas.microsoft.com/office/drawing/2014/main" id="{0AC40444-C4E3-4967-8D08-E2F1B263EF95}"/>
              </a:ext>
            </a:extLst>
          </p:cNvPr>
          <p:cNvSpPr>
            <a:spLocks xmlns:a="http://schemas.openxmlformats.org/drawingml/2006/main" noGrp="1"/>
          </p:cNvSpPr>
          <p:nvPr/>
        </p:nvSpPr>
        <p:spPr>
          <a:xfrm xmlns:a="http://schemas.openxmlformats.org/drawingml/2006/main">
            <a:off x="7572375" y="5857875"/>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975" b="1" i="0">
                <a:solidFill>
                  <a:srgbClr val="2B241A"/>
                </a:solidFill>
                <a:latin typeface="Menlo"/>
                <a:ea typeface="Menlo"/>
                <a:cs typeface="Menlo"/>
              </a:defRPr>
            </a:pPr>
            <a:r>
              <a:rPr sz="975" b="1" i="0">
                <a:solidFill>
                  <a:srgbClr val="2B241A"/>
                </a:solidFill>
                <a:latin typeface="Menlo"/>
                <a:ea typeface="Menlo"/>
                <a:cs typeface="Menlo"/>
              </a:rPr>
              <a:t>CHECK 2 MIN</a:t>
            </a:r>
          </a:p>
        </p:txBody>
      </p:sp>
    </p:spTree>
    <p:extLst>
      <p:ext uri="{BB962C8B-B14F-4D97-AF65-F5344CB8AC3E}">
        <p14:creationId xmlns:p14="http://schemas.microsoft.com/office/powerpoint/2010/main" val="2096336053"/>
      </p:ext>
    </p:extLst>
  </p:cSld>
</p:sld>
</file>

<file path=ppt/slides/slide9.xml><?xml version="1.0" encoding="utf-8"?>
<p:sld xmlns:p="http://schemas.openxmlformats.org/presentationml/2006/main">
  <p:cSld>
    <p:bg>
      <p:bgPr>
        <a:solidFill xmlns:a="http://schemas.openxmlformats.org/drawingml/2006/main">
          <a:srgbClr val="F5EDDD"/>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5EB5316-3BA0-4E60-B89D-246A85CCCDED}"/>
              </a:ext>
            </a:extLst>
          </p:cNvPr>
          <p:cNvSpPr>
            <a:spLocks xmlns:a="http://schemas.openxmlformats.org/drawingml/2006/main" noGrp="1"/>
          </p:cNvSpPr>
          <p:nvPr/>
        </p:nvSpPr>
        <p:spPr>
          <a:xfrm xmlns:a="http://schemas.openxmlformats.org/drawingml/2006/main">
            <a:off x="723900" y="514350"/>
            <a:ext cx="10744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3000" b="1" i="0">
                <a:solidFill>
                  <a:srgbClr val="2B241A"/>
                </a:solidFill>
                <a:latin typeface="Georgia"/>
                <a:ea typeface="Georgia"/>
                <a:cs typeface="Georgia"/>
              </a:defRPr>
            </a:pPr>
            <a:r>
              <a:rPr sz="3000" b="1" i="0">
                <a:solidFill>
                  <a:srgbClr val="2B241A"/>
                </a:solidFill>
                <a:latin typeface="Georgia"/>
                <a:ea typeface="Georgia"/>
                <a:cs typeface="Georgia"/>
              </a:rPr>
              <a:t>Concept 3: the visual world becomes a store</a:t>
            </a:r>
          </a:p>
        </p:txBody>
      </p:sp>
      <p:sp>
        <p:nvSpPr>
          <p:cNvPr id="2" name="">
            <a:extLst xmlns:a="http://schemas.openxmlformats.org/drawingml/2006/main">
              <a:ext uri="{FF2B5EF4-FFF2-40B4-BE49-F238E27FC236}">
                <a16:creationId xmlns:a16="http://schemas.microsoft.com/office/drawing/2014/main" id="{EF8BDCD8-FC05-41DC-96F8-12FB393E81C3}"/>
              </a:ext>
            </a:extLst>
          </p:cNvPr>
          <p:cNvSpPr>
            <a:spLocks xmlns:a="http://schemas.openxmlformats.org/drawingml/2006/main" noGrp="1"/>
          </p:cNvSpPr>
          <p:nvPr/>
        </p:nvSpPr>
        <p:spPr>
          <a:xfrm xmlns:a="http://schemas.openxmlformats.org/drawingml/2006/main">
            <a:off x="742950" y="1257300"/>
            <a:ext cx="1000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i="0">
                <a:solidFill>
                  <a:srgbClr val="6A6054"/>
                </a:solidFill>
                <a:latin typeface="Avenir Next"/>
                <a:ea typeface="Avenir Next"/>
                <a:cs typeface="Avenir Next"/>
              </a:defRPr>
            </a:pPr>
            <a:r>
              <a:rPr sz="1350" b="0" i="0">
                <a:solidFill>
                  <a:srgbClr val="6A6054"/>
                </a:solidFill>
                <a:latin typeface="Avenir Next"/>
                <a:ea typeface="Avenir Next"/>
                <a:cs typeface="Avenir Next"/>
              </a:rPr>
              <a:t>A believable storefront answers three questions without adding more scope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962ac0eef70b4be0"/>
          <a:srcRect xmlns:a="http://schemas.openxmlformats.org/drawingml/2006/main" l="7564" t="0" r="7564" b="0"/>
          <a:stretch xmlns:a="http://schemas.openxmlformats.org/drawingml/2006/main">
            <a:fillRect l="0" t="0" r="0" b="0"/>
          </a:stretch>
        </p:blipFill>
        <p:spPr>
          <a:xfrm xmlns:a="http://schemas.openxmlformats.org/drawingml/2006/main">
            <a:off x="6096000" y="1828800"/>
            <a:ext cx="5372100" cy="3562350"/>
          </a:xfrm>
          <a:prstGeom xmlns:a="http://schemas.openxmlformats.org/drawingml/2006/main" prst="roundRect">
            <a:avLst>
              <a:gd name="adj" fmla="val 3209"/>
            </a:avLst>
          </a:prstGeom>
        </p:spPr>
      </p:pic>
      <p:sp>
        <p:nvSpPr>
          <p:cNvPr id="4" name="">
            <a:extLst xmlns:a="http://schemas.openxmlformats.org/drawingml/2006/main">
              <a:ext uri="{FF2B5EF4-FFF2-40B4-BE49-F238E27FC236}">
                <a16:creationId xmlns:a16="http://schemas.microsoft.com/office/drawing/2014/main" id="{CC132CBB-0ACA-41F2-96D3-F8B9C88F7A02}"/>
              </a:ext>
            </a:extLst>
          </p:cNvPr>
          <p:cNvSpPr>
            <a:spLocks xmlns:a="http://schemas.openxmlformats.org/drawingml/2006/main" noGrp="1"/>
          </p:cNvSpPr>
          <p:nvPr/>
        </p:nvSpPr>
        <p:spPr>
          <a:xfrm xmlns:a="http://schemas.openxmlformats.org/drawingml/2006/main">
            <a:off x="723900" y="2038350"/>
            <a:ext cx="2095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975" b="1" i="0">
                <a:solidFill>
                  <a:srgbClr val="C9473D"/>
                </a:solidFill>
                <a:latin typeface="Menlo"/>
                <a:ea typeface="Menlo"/>
                <a:cs typeface="Menlo"/>
              </a:defRPr>
            </a:pPr>
            <a:r>
              <a:rPr sz="975" b="1" i="0">
                <a:solidFill>
                  <a:srgbClr val="C9473D"/>
                </a:solidFill>
                <a:latin typeface="Menlo"/>
                <a:ea typeface="Menlo"/>
                <a:cs typeface="Menlo"/>
              </a:rPr>
              <a:t>WHAT IS THIS?</a:t>
            </a:r>
          </a:p>
        </p:txBody>
      </p:sp>
      <p:sp>
        <p:nvSpPr>
          <p:cNvPr id="5" name="">
            <a:extLst xmlns:a="http://schemas.openxmlformats.org/drawingml/2006/main">
              <a:ext uri="{FF2B5EF4-FFF2-40B4-BE49-F238E27FC236}">
                <a16:creationId xmlns:a16="http://schemas.microsoft.com/office/drawing/2014/main" id="{9A5190DD-06CB-40C6-859E-BF2800A1826A}"/>
              </a:ext>
            </a:extLst>
          </p:cNvPr>
          <p:cNvSpPr>
            <a:spLocks xmlns:a="http://schemas.openxmlformats.org/drawingml/2006/main" noGrp="1"/>
          </p:cNvSpPr>
          <p:nvPr/>
        </p:nvSpPr>
        <p:spPr>
          <a:xfrm xmlns:a="http://schemas.openxmlformats.org/drawingml/2006/main">
            <a:off x="723900" y="2324100"/>
            <a:ext cx="476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025" b="1" i="0">
                <a:solidFill>
                  <a:srgbClr val="2B241A"/>
                </a:solidFill>
                <a:latin typeface="Georgia"/>
                <a:ea typeface="Georgia"/>
                <a:cs typeface="Georgia"/>
              </a:defRPr>
            </a:pPr>
            <a:r>
              <a:rPr sz="2025" b="1" i="0">
                <a:solidFill>
                  <a:srgbClr val="2B241A"/>
                </a:solidFill>
                <a:latin typeface="Georgia"/>
                <a:ea typeface="Georgia"/>
                <a:cs typeface="Georgia"/>
              </a:rPr>
              <a:t>One exact store promise</a:t>
            </a:r>
          </a:p>
        </p:txBody>
      </p:sp>
      <p:sp>
        <p:nvSpPr>
          <p:cNvPr id="6" name="">
            <a:extLst xmlns:a="http://schemas.openxmlformats.org/drawingml/2006/main">
              <a:ext uri="{FF2B5EF4-FFF2-40B4-BE49-F238E27FC236}">
                <a16:creationId xmlns:a16="http://schemas.microsoft.com/office/drawing/2014/main" id="{7C470FF9-0558-47A6-BAAF-09097D65EDDD}"/>
              </a:ext>
            </a:extLst>
          </p:cNvPr>
          <p:cNvSpPr>
            <a:spLocks xmlns:a="http://schemas.openxmlformats.org/drawingml/2006/main" noGrp="1"/>
          </p:cNvSpPr>
          <p:nvPr/>
        </p:nvSpPr>
        <p:spPr>
          <a:xfrm xmlns:a="http://schemas.openxmlformats.org/drawingml/2006/main">
            <a:off x="723900" y="3105150"/>
            <a:ext cx="2095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975" b="1" i="0">
                <a:solidFill>
                  <a:srgbClr val="C9473D"/>
                </a:solidFill>
                <a:latin typeface="Menlo"/>
                <a:ea typeface="Menlo"/>
                <a:cs typeface="Menlo"/>
              </a:defRPr>
            </a:pPr>
            <a:r>
              <a:rPr sz="975" b="1" i="0">
                <a:solidFill>
                  <a:srgbClr val="C9473D"/>
                </a:solidFill>
                <a:latin typeface="Menlo"/>
                <a:ea typeface="Menlo"/>
                <a:cs typeface="Menlo"/>
              </a:rPr>
              <a:t>WHAT CAN I BUY?</a:t>
            </a:r>
          </a:p>
        </p:txBody>
      </p:sp>
      <p:sp>
        <p:nvSpPr>
          <p:cNvPr id="7" name="">
            <a:extLst xmlns:a="http://schemas.openxmlformats.org/drawingml/2006/main">
              <a:ext uri="{FF2B5EF4-FFF2-40B4-BE49-F238E27FC236}">
                <a16:creationId xmlns:a16="http://schemas.microsoft.com/office/drawing/2014/main" id="{E19A7E90-8EFE-453B-B474-6452234BC4A1}"/>
              </a:ext>
            </a:extLst>
          </p:cNvPr>
          <p:cNvSpPr>
            <a:spLocks xmlns:a="http://schemas.openxmlformats.org/drawingml/2006/main" noGrp="1"/>
          </p:cNvSpPr>
          <p:nvPr/>
        </p:nvSpPr>
        <p:spPr>
          <a:xfrm xmlns:a="http://schemas.openxmlformats.org/drawingml/2006/main">
            <a:off x="723900" y="3390900"/>
            <a:ext cx="476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025" b="1" i="0">
                <a:solidFill>
                  <a:srgbClr val="2B241A"/>
                </a:solidFill>
                <a:latin typeface="Georgia"/>
                <a:ea typeface="Georgia"/>
                <a:cs typeface="Georgia"/>
              </a:defRPr>
            </a:pPr>
            <a:r>
              <a:rPr sz="2025" b="1" i="0">
                <a:solidFill>
                  <a:srgbClr val="2B241A"/>
                </a:solidFill>
                <a:latin typeface="Georgia"/>
                <a:ea typeface="Georgia"/>
                <a:cs typeface="Georgia"/>
              </a:rPr>
              <a:t>Three catalog products and prices</a:t>
            </a:r>
          </a:p>
        </p:txBody>
      </p:sp>
      <p:sp>
        <p:nvSpPr>
          <p:cNvPr id="8" name="">
            <a:extLst xmlns:a="http://schemas.openxmlformats.org/drawingml/2006/main">
              <a:ext uri="{FF2B5EF4-FFF2-40B4-BE49-F238E27FC236}">
                <a16:creationId xmlns:a16="http://schemas.microsoft.com/office/drawing/2014/main" id="{E8494A43-B386-4684-B8CB-724540A52941}"/>
              </a:ext>
            </a:extLst>
          </p:cNvPr>
          <p:cNvSpPr>
            <a:spLocks xmlns:a="http://schemas.openxmlformats.org/drawingml/2006/main" noGrp="1"/>
          </p:cNvSpPr>
          <p:nvPr/>
        </p:nvSpPr>
        <p:spPr>
          <a:xfrm xmlns:a="http://schemas.openxmlformats.org/drawingml/2006/main">
            <a:off x="723900" y="4171950"/>
            <a:ext cx="2095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975" b="1" i="0">
                <a:solidFill>
                  <a:srgbClr val="C9473D"/>
                </a:solidFill>
                <a:latin typeface="Menlo"/>
                <a:ea typeface="Menlo"/>
                <a:cs typeface="Menlo"/>
              </a:defRPr>
            </a:pPr>
            <a:r>
              <a:rPr sz="975" b="1" i="0">
                <a:solidFill>
                  <a:srgbClr val="C9473D"/>
                </a:solidFill>
                <a:latin typeface="Menlo"/>
                <a:ea typeface="Menlo"/>
                <a:cs typeface="Menlo"/>
              </a:rPr>
              <a:t>HOW DO I BUY?</a:t>
            </a:r>
          </a:p>
        </p:txBody>
      </p:sp>
      <p:sp>
        <p:nvSpPr>
          <p:cNvPr id="9" name="">
            <a:extLst xmlns:a="http://schemas.openxmlformats.org/drawingml/2006/main">
              <a:ext uri="{FF2B5EF4-FFF2-40B4-BE49-F238E27FC236}">
                <a16:creationId xmlns:a16="http://schemas.microsoft.com/office/drawing/2014/main" id="{137D1D83-26A9-4905-8585-76093D8857B3}"/>
              </a:ext>
            </a:extLst>
          </p:cNvPr>
          <p:cNvSpPr>
            <a:spLocks xmlns:a="http://schemas.openxmlformats.org/drawingml/2006/main" noGrp="1"/>
          </p:cNvSpPr>
          <p:nvPr/>
        </p:nvSpPr>
        <p:spPr>
          <a:xfrm xmlns:a="http://schemas.openxmlformats.org/drawingml/2006/main">
            <a:off x="723900" y="4457700"/>
            <a:ext cx="476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724"/>
          </a:bodyPr>
          <a:lstStyle xmlns:a="http://schemas.openxmlformats.org/drawingml/2006/main"/>
          <a:p xmlns:a="http://schemas.openxmlformats.org/drawingml/2006/main">
            <a:pPr algn="l">
              <a:buNone/>
              <a:defRPr sz="2025" b="1" i="0">
                <a:solidFill>
                  <a:srgbClr val="2B241A"/>
                </a:solidFill>
                <a:latin typeface="Georgia"/>
                <a:ea typeface="Georgia"/>
                <a:cs typeface="Georgia"/>
              </a:defRPr>
            </a:pPr>
            <a:r>
              <a:rPr sz="2025" b="1" i="0">
                <a:solidFill>
                  <a:srgbClr val="2B241A"/>
                </a:solidFill>
                <a:latin typeface="Georgia"/>
                <a:ea typeface="Georgia"/>
                <a:cs typeface="Georgia"/>
              </a:rPr>
              <a:t>Product view, add to cart, visible total</a:t>
            </a:r>
          </a:p>
        </p:txBody>
      </p:sp>
      <p:sp>
        <p:nvSpPr>
          <p:cNvPr id="10" name="">
            <a:extLst xmlns:a="http://schemas.openxmlformats.org/drawingml/2006/main">
              <a:ext uri="{FF2B5EF4-FFF2-40B4-BE49-F238E27FC236}">
                <a16:creationId xmlns:a16="http://schemas.microsoft.com/office/drawing/2014/main" id="{5EE79F5A-688A-4C07-B045-BEB075275612}"/>
              </a:ext>
            </a:extLst>
          </p:cNvPr>
          <p:cNvSpPr>
            <a:spLocks xmlns:a="http://schemas.openxmlformats.org/drawingml/2006/main" noGrp="1"/>
          </p:cNvSpPr>
          <p:nvPr/>
        </p:nvSpPr>
        <p:spPr>
          <a:xfrm xmlns:a="http://schemas.openxmlformats.org/drawingml/2006/main">
            <a:off x="723900" y="5562600"/>
            <a:ext cx="10744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75" b="1" i="0">
                <a:solidFill>
                  <a:srgbClr val="C9473D"/>
                </a:solidFill>
                <a:latin typeface="Avenir Next"/>
                <a:ea typeface="Avenir Next"/>
                <a:cs typeface="Avenir Next"/>
              </a:defRPr>
            </a:pPr>
            <a:r>
              <a:rPr sz="1875" b="1" i="0">
                <a:solidFill>
                  <a:srgbClr val="C9473D"/>
                </a:solidFill>
                <a:latin typeface="Avenir Next"/>
                <a:ea typeface="Avenir Next"/>
                <a:cs typeface="Avenir Next"/>
              </a:rPr>
              <a:t>One page · one collection · one tested cart</a:t>
            </a:r>
          </a:p>
        </p:txBody>
      </p:sp>
    </p:spTree>
    <p:extLst>
      <p:ext uri="{BB962C8B-B14F-4D97-AF65-F5344CB8AC3E}">
        <p14:creationId xmlns:p14="http://schemas.microsoft.com/office/powerpoint/2010/main" val="439600829"/>
      </p:ext>
    </p:extLst>
  </p:cSld>
</p:sld>
</file>

<file path=ppt/slides/slide10.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7893BA94-C4C9-42C4-B5FE-FEFDA8FD0BF7}"/>
              </a:ext>
            </a:extLst>
          </p:cNvPr>
          <p:cNvSpPr>
            <a:spLocks xmlns:a="http://schemas.openxmlformats.org/drawingml/2006/main" noGrp="1"/>
          </p:cNvSpPr>
          <p:nvPr/>
        </p:nvSpPr>
        <p:spPr>
          <a:xfrm xmlns:a="http://schemas.openxmlformats.org/drawingml/2006/main">
            <a:off x="723900" y="514350"/>
            <a:ext cx="10744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3000" b="1" i="0">
                <a:solidFill>
                  <a:srgbClr val="2B241A"/>
                </a:solidFill>
                <a:latin typeface="Georgia"/>
                <a:ea typeface="Georgia"/>
                <a:cs typeface="Georgia"/>
              </a:defRPr>
            </a:pPr>
            <a:r>
              <a:rPr sz="3000" b="1" i="0">
                <a:solidFill>
                  <a:srgbClr val="2B241A"/>
                </a:solidFill>
                <a:latin typeface="Georgia"/>
                <a:ea typeface="Georgia"/>
                <a:cs typeface="Georgia"/>
              </a:rPr>
              <a:t>Build 3: create and publish the store</a:t>
            </a:r>
          </a:p>
        </p:txBody>
      </p:sp>
      <p:sp>
        <p:nvSpPr>
          <p:cNvPr id="2" name="">
            <a:extLst xmlns:a="http://schemas.openxmlformats.org/drawingml/2006/main">
              <a:ext uri="{FF2B5EF4-FFF2-40B4-BE49-F238E27FC236}">
                <a16:creationId xmlns:a16="http://schemas.microsoft.com/office/drawing/2014/main" id="{C2B7DF3F-8AB8-4DB9-B0DC-36656ACFAC78}"/>
              </a:ext>
            </a:extLst>
          </p:cNvPr>
          <p:cNvSpPr>
            <a:spLocks xmlns:a="http://schemas.openxmlformats.org/drawingml/2006/main" noGrp="1"/>
          </p:cNvSpPr>
          <p:nvPr/>
        </p:nvSpPr>
        <p:spPr>
          <a:xfrm xmlns:a="http://schemas.openxmlformats.org/drawingml/2006/main">
            <a:off x="742950" y="1257300"/>
            <a:ext cx="1000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i="0">
                <a:solidFill>
                  <a:srgbClr val="6A6054"/>
                </a:solidFill>
                <a:latin typeface="Avenir Next"/>
                <a:ea typeface="Avenir Next"/>
                <a:cs typeface="Avenir Next"/>
              </a:defRPr>
            </a:pPr>
            <a:r>
              <a:rPr sz="1350" b="0" i="0">
                <a:solidFill>
                  <a:srgbClr val="6A6054"/>
                </a:solidFill>
                <a:latin typeface="Avenir Next"/>
                <a:ea typeface="Avenir Next"/>
                <a:cs typeface="Avenir Next"/>
              </a:rPr>
              <a:t>Use ChatGPT Sites and the exact decisions in STORE-KIT.md</a:t>
            </a:r>
          </a:p>
        </p:txBody>
      </p:sp>
      <p:sp>
        <p:nvSpPr>
          <p:cNvPr id="3" name="">
            <a:extLst xmlns:a="http://schemas.openxmlformats.org/drawingml/2006/main">
              <a:ext uri="{FF2B5EF4-FFF2-40B4-BE49-F238E27FC236}">
                <a16:creationId xmlns:a16="http://schemas.microsoft.com/office/drawing/2014/main" id="{60DB27D5-A448-4AEF-A864-7D728DEBF1D0}"/>
              </a:ext>
            </a:extLst>
          </p:cNvPr>
          <p:cNvSpPr>
            <a:spLocks xmlns:a="http://schemas.openxmlformats.org/drawingml/2006/main" noGrp="1"/>
          </p:cNvSpPr>
          <p:nvPr/>
        </p:nvSpPr>
        <p:spPr>
          <a:xfrm xmlns:a="http://schemas.openxmlformats.org/drawingml/2006/main">
            <a:off x="723900" y="4324350"/>
            <a:ext cx="10744200" cy="990600"/>
          </a:xfrm>
          <a:prstGeom xmlns:a="http://schemas.openxmlformats.org/drawingml/2006/main" prst="roundRect">
            <a:avLst>
              <a:gd name="adj" fmla="val 7692"/>
            </a:avLst>
          </a:prstGeom>
          <a:solidFill xmlns:a="http://schemas.openxmlformats.org/drawingml/2006/main">
            <a:srgbClr val="2B241A"/>
          </a:solidFill>
          <a:ln xmlns:a="http://schemas.openxmlformats.org/drawingml/2006/main" w="14288">
            <a:solidFill>
              <a:srgbClr val="2B241A"/>
            </a:solidFill>
          </a:ln>
        </p:spPr>
      </p:sp>
      <p:sp>
        <p:nvSpPr>
          <p:cNvPr id="4" name="">
            <a:extLst xmlns:a="http://schemas.openxmlformats.org/drawingml/2006/main">
              <a:ext uri="{FF2B5EF4-FFF2-40B4-BE49-F238E27FC236}">
                <a16:creationId xmlns:a16="http://schemas.microsoft.com/office/drawing/2014/main" id="{0D4DD4C0-DCA3-4F96-881D-E22A5696DAD7}"/>
              </a:ext>
            </a:extLst>
          </p:cNvPr>
          <p:cNvSpPr>
            <a:spLocks xmlns:a="http://schemas.openxmlformats.org/drawingml/2006/main" noGrp="1"/>
          </p:cNvSpPr>
          <p:nvPr/>
        </p:nvSpPr>
        <p:spPr>
          <a:xfrm xmlns:a="http://schemas.openxmlformats.org/drawingml/2006/main">
            <a:off x="1009650" y="4429125"/>
            <a:ext cx="101727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125" b="0" i="0">
                <a:solidFill>
                  <a:srgbClr val="FFFDF8"/>
                </a:solidFill>
                <a:latin typeface="Menlo"/>
                <a:ea typeface="Menlo"/>
                <a:cs typeface="Menlo"/>
              </a:defRPr>
            </a:pPr>
            <a:r>
              <a:rPr sz="1125" b="0" i="0">
                <a:solidFill>
                  <a:srgbClr val="FFFDF8"/>
                </a:solidFill>
                <a:latin typeface="Menlo"/>
                <a:ea typeface="Menlo"/>
                <a:cs typeface="Menlo"/>
              </a:rPr>
              <a:t>Read STORE-KIT.md and use product-family.png. In ChatGPT Sites, build a responsive one-page store with the exact promise, three products, product view, add-to-cart action, visible cart count, and total. Do not add pages, products, claims, discounts, or checkout. Test desktop and mobile, then publish privately.</a:t>
            </a:r>
          </a:p>
        </p:txBody>
      </p:sp>
      <p:sp>
        <p:nvSpPr>
          <p:cNvPr id="5" name="">
            <a:extLst xmlns:a="http://schemas.openxmlformats.org/drawingml/2006/main">
              <a:ext uri="{FF2B5EF4-FFF2-40B4-BE49-F238E27FC236}">
                <a16:creationId xmlns:a16="http://schemas.microsoft.com/office/drawing/2014/main" id="{4508A3CD-4195-4165-8A15-73CCF123AC7C}"/>
              </a:ext>
            </a:extLst>
          </p:cNvPr>
          <p:cNvSpPr>
            <a:spLocks xmlns:a="http://schemas.openxmlformats.org/drawingml/2006/main" noGrp="1"/>
          </p:cNvSpPr>
          <p:nvPr/>
        </p:nvSpPr>
        <p:spPr>
          <a:xfrm xmlns:a="http://schemas.openxmlformats.org/drawingml/2006/main">
            <a:off x="723900" y="1866900"/>
            <a:ext cx="3257550" cy="2057400"/>
          </a:xfrm>
          <a:prstGeom xmlns:a="http://schemas.openxmlformats.org/drawingml/2006/main" prst="roundRect">
            <a:avLst>
              <a:gd name="adj" fmla="val 3704"/>
            </a:avLst>
          </a:prstGeom>
          <a:solidFill xmlns:a="http://schemas.openxmlformats.org/drawingml/2006/main">
            <a:srgbClr val="C8DCE8"/>
          </a:solidFill>
          <a:ln xmlns:a="http://schemas.openxmlformats.org/drawingml/2006/main" w="14288">
            <a:solidFill>
              <a:srgbClr val="2B241A"/>
            </a:solidFill>
          </a:ln>
        </p:spPr>
      </p:sp>
      <p:sp>
        <p:nvSpPr>
          <p:cNvPr id="6" name="">
            <a:extLst xmlns:a="http://schemas.openxmlformats.org/drawingml/2006/main">
              <a:ext uri="{FF2B5EF4-FFF2-40B4-BE49-F238E27FC236}">
                <a16:creationId xmlns:a16="http://schemas.microsoft.com/office/drawing/2014/main" id="{827794F1-5359-4598-A820-A626663CDCA7}"/>
              </a:ext>
            </a:extLst>
          </p:cNvPr>
          <p:cNvSpPr>
            <a:spLocks xmlns:a="http://schemas.openxmlformats.org/drawingml/2006/main" noGrp="1"/>
          </p:cNvSpPr>
          <p:nvPr/>
        </p:nvSpPr>
        <p:spPr>
          <a:xfrm xmlns:a="http://schemas.openxmlformats.org/drawingml/2006/main">
            <a:off x="952500" y="2076450"/>
            <a:ext cx="361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200" b="1" i="0">
                <a:solidFill>
                  <a:srgbClr val="C9473D"/>
                </a:solidFill>
                <a:latin typeface="Menlo"/>
                <a:ea typeface="Menlo"/>
                <a:cs typeface="Menlo"/>
              </a:defRPr>
            </a:pPr>
            <a:r>
              <a:rPr sz="1200" b="1" i="0">
                <a:solidFill>
                  <a:srgbClr val="C9473D"/>
                </a:solidFill>
                <a:latin typeface="Menlo"/>
                <a:ea typeface="Menlo"/>
                <a:cs typeface="Menlo"/>
              </a:rPr>
              <a:t>1</a:t>
            </a:r>
          </a:p>
        </p:txBody>
      </p:sp>
      <p:sp>
        <p:nvSpPr>
          <p:cNvPr id="7" name="">
            <a:extLst xmlns:a="http://schemas.openxmlformats.org/drawingml/2006/main">
              <a:ext uri="{FF2B5EF4-FFF2-40B4-BE49-F238E27FC236}">
                <a16:creationId xmlns:a16="http://schemas.microsoft.com/office/drawing/2014/main" id="{C57CFC7E-98AE-4E33-B569-0BF2C9A55557}"/>
              </a:ext>
            </a:extLst>
          </p:cNvPr>
          <p:cNvSpPr>
            <a:spLocks xmlns:a="http://schemas.openxmlformats.org/drawingml/2006/main" noGrp="1"/>
          </p:cNvSpPr>
          <p:nvPr/>
        </p:nvSpPr>
        <p:spPr>
          <a:xfrm xmlns:a="http://schemas.openxmlformats.org/drawingml/2006/main">
            <a:off x="1409700" y="2076450"/>
            <a:ext cx="2190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050" b="1" i="0">
                <a:solidFill>
                  <a:srgbClr val="2B241A"/>
                </a:solidFill>
                <a:latin typeface="Menlo"/>
                <a:ea typeface="Menlo"/>
                <a:cs typeface="Menlo"/>
              </a:defRPr>
            </a:pPr>
            <a:r>
              <a:rPr sz="1050" b="1" i="0">
                <a:solidFill>
                  <a:srgbClr val="2B241A"/>
                </a:solidFill>
                <a:latin typeface="Menlo"/>
                <a:ea typeface="Menlo"/>
                <a:cs typeface="Menlo"/>
              </a:rPr>
              <a:t>PROMISE</a:t>
            </a:r>
          </a:p>
        </p:txBody>
      </p:sp>
      <p:sp>
        <p:nvSpPr>
          <p:cNvPr id="8" name="">
            <a:extLst xmlns:a="http://schemas.openxmlformats.org/drawingml/2006/main">
              <a:ext uri="{FF2B5EF4-FFF2-40B4-BE49-F238E27FC236}">
                <a16:creationId xmlns:a16="http://schemas.microsoft.com/office/drawing/2014/main" id="{8891D41B-716B-45CA-A065-F0C1CC32C41F}"/>
              </a:ext>
            </a:extLst>
          </p:cNvPr>
          <p:cNvSpPr>
            <a:spLocks xmlns:a="http://schemas.openxmlformats.org/drawingml/2006/main" noGrp="1"/>
          </p:cNvSpPr>
          <p:nvPr/>
        </p:nvSpPr>
        <p:spPr>
          <a:xfrm xmlns:a="http://schemas.openxmlformats.org/drawingml/2006/main">
            <a:off x="952500" y="2647950"/>
            <a:ext cx="27813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950" b="1" i="0">
                <a:solidFill>
                  <a:srgbClr val="2B241A"/>
                </a:solidFill>
                <a:latin typeface="Georgia"/>
                <a:ea typeface="Georgia"/>
                <a:cs typeface="Georgia"/>
              </a:defRPr>
            </a:pPr>
            <a:r>
              <a:rPr sz="1950" b="1" i="0">
                <a:solidFill>
                  <a:srgbClr val="2B241A"/>
                </a:solidFill>
                <a:latin typeface="Georgia"/>
                <a:ea typeface="Georgia"/>
                <a:cs typeface="Georgia"/>
              </a:rPr>
              <a:t>A visitor can describe the store.</a:t>
            </a:r>
          </a:p>
        </p:txBody>
      </p:sp>
      <p:sp>
        <p:nvSpPr>
          <p:cNvPr id="9" name="">
            <a:extLst xmlns:a="http://schemas.openxmlformats.org/drawingml/2006/main">
              <a:ext uri="{FF2B5EF4-FFF2-40B4-BE49-F238E27FC236}">
                <a16:creationId xmlns:a16="http://schemas.microsoft.com/office/drawing/2014/main" id="{CACD230A-A0A2-41F1-AE14-9D0CBDA16D87}"/>
              </a:ext>
            </a:extLst>
          </p:cNvPr>
          <p:cNvSpPr>
            <a:spLocks xmlns:a="http://schemas.openxmlformats.org/drawingml/2006/main" noGrp="1"/>
          </p:cNvSpPr>
          <p:nvPr/>
        </p:nvSpPr>
        <p:spPr>
          <a:xfrm xmlns:a="http://schemas.openxmlformats.org/drawingml/2006/main">
            <a:off x="4400550" y="1866900"/>
            <a:ext cx="3257550" cy="2057400"/>
          </a:xfrm>
          <a:prstGeom xmlns:a="http://schemas.openxmlformats.org/drawingml/2006/main" prst="roundRect">
            <a:avLst>
              <a:gd name="adj" fmla="val 3704"/>
            </a:avLst>
          </a:prstGeom>
          <a:solidFill xmlns:a="http://schemas.openxmlformats.org/drawingml/2006/main">
            <a:srgbClr val="E8D98E"/>
          </a:solidFill>
          <a:ln xmlns:a="http://schemas.openxmlformats.org/drawingml/2006/main" w="14288">
            <a:solidFill>
              <a:srgbClr val="2B241A"/>
            </a:solidFill>
          </a:ln>
        </p:spPr>
      </p:sp>
      <p:sp>
        <p:nvSpPr>
          <p:cNvPr id="10" name="">
            <a:extLst xmlns:a="http://schemas.openxmlformats.org/drawingml/2006/main">
              <a:ext uri="{FF2B5EF4-FFF2-40B4-BE49-F238E27FC236}">
                <a16:creationId xmlns:a16="http://schemas.microsoft.com/office/drawing/2014/main" id="{64DAACB8-CFDC-4825-9518-3614453714C5}"/>
              </a:ext>
            </a:extLst>
          </p:cNvPr>
          <p:cNvSpPr>
            <a:spLocks xmlns:a="http://schemas.openxmlformats.org/drawingml/2006/main" noGrp="1"/>
          </p:cNvSpPr>
          <p:nvPr/>
        </p:nvSpPr>
        <p:spPr>
          <a:xfrm xmlns:a="http://schemas.openxmlformats.org/drawingml/2006/main">
            <a:off x="4629150" y="2076450"/>
            <a:ext cx="361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200" b="1" i="0">
                <a:solidFill>
                  <a:srgbClr val="C9473D"/>
                </a:solidFill>
                <a:latin typeface="Menlo"/>
                <a:ea typeface="Menlo"/>
                <a:cs typeface="Menlo"/>
              </a:defRPr>
            </a:pPr>
            <a:r>
              <a:rPr sz="1200" b="1" i="0">
                <a:solidFill>
                  <a:srgbClr val="C9473D"/>
                </a:solidFill>
                <a:latin typeface="Menlo"/>
                <a:ea typeface="Menlo"/>
                <a:cs typeface="Menlo"/>
              </a:rPr>
              <a:t>2</a:t>
            </a:r>
          </a:p>
        </p:txBody>
      </p:sp>
      <p:sp>
        <p:nvSpPr>
          <p:cNvPr id="11" name="">
            <a:extLst xmlns:a="http://schemas.openxmlformats.org/drawingml/2006/main">
              <a:ext uri="{FF2B5EF4-FFF2-40B4-BE49-F238E27FC236}">
                <a16:creationId xmlns:a16="http://schemas.microsoft.com/office/drawing/2014/main" id="{304AE012-B806-454F-B4B5-7713F7E70452}"/>
              </a:ext>
            </a:extLst>
          </p:cNvPr>
          <p:cNvSpPr>
            <a:spLocks xmlns:a="http://schemas.openxmlformats.org/drawingml/2006/main" noGrp="1"/>
          </p:cNvSpPr>
          <p:nvPr/>
        </p:nvSpPr>
        <p:spPr>
          <a:xfrm xmlns:a="http://schemas.openxmlformats.org/drawingml/2006/main">
            <a:off x="5086350" y="2076450"/>
            <a:ext cx="2190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050" b="1" i="0">
                <a:solidFill>
                  <a:srgbClr val="2B241A"/>
                </a:solidFill>
                <a:latin typeface="Menlo"/>
                <a:ea typeface="Menlo"/>
                <a:cs typeface="Menlo"/>
              </a:defRPr>
            </a:pPr>
            <a:r>
              <a:rPr sz="1050" b="1" i="0">
                <a:solidFill>
                  <a:srgbClr val="2B241A"/>
                </a:solidFill>
                <a:latin typeface="Menlo"/>
                <a:ea typeface="Menlo"/>
                <a:cs typeface="Menlo"/>
              </a:rPr>
              <a:t>PRODUCTS</a:t>
            </a:r>
          </a:p>
        </p:txBody>
      </p:sp>
      <p:sp>
        <p:nvSpPr>
          <p:cNvPr id="12" name="">
            <a:extLst xmlns:a="http://schemas.openxmlformats.org/drawingml/2006/main">
              <a:ext uri="{FF2B5EF4-FFF2-40B4-BE49-F238E27FC236}">
                <a16:creationId xmlns:a16="http://schemas.microsoft.com/office/drawing/2014/main" id="{F3850833-1A7B-4780-A519-5CD4C76171BD}"/>
              </a:ext>
            </a:extLst>
          </p:cNvPr>
          <p:cNvSpPr>
            <a:spLocks xmlns:a="http://schemas.openxmlformats.org/drawingml/2006/main" noGrp="1"/>
          </p:cNvSpPr>
          <p:nvPr/>
        </p:nvSpPr>
        <p:spPr>
          <a:xfrm xmlns:a="http://schemas.openxmlformats.org/drawingml/2006/main">
            <a:off x="4629150" y="2647950"/>
            <a:ext cx="27813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886"/>
          </a:bodyPr>
          <a:lstStyle xmlns:a="http://schemas.openxmlformats.org/drawingml/2006/main"/>
          <a:p xmlns:a="http://schemas.openxmlformats.org/drawingml/2006/main">
            <a:pPr algn="l">
              <a:buNone/>
              <a:defRPr sz="1950" b="1" i="0">
                <a:solidFill>
                  <a:srgbClr val="2B241A"/>
                </a:solidFill>
                <a:latin typeface="Georgia"/>
                <a:ea typeface="Georgia"/>
                <a:cs typeface="Georgia"/>
              </a:defRPr>
            </a:pPr>
            <a:r>
              <a:rPr sz="1950" b="1" i="0">
                <a:solidFill>
                  <a:srgbClr val="2B241A"/>
                </a:solidFill>
                <a:latin typeface="Georgia"/>
                <a:ea typeface="Georgia"/>
                <a:cs typeface="Georgia"/>
              </a:rPr>
              <a:t>Names, descriptions, and prices match.</a:t>
            </a:r>
          </a:p>
        </p:txBody>
      </p:sp>
      <p:sp>
        <p:nvSpPr>
          <p:cNvPr id="13" name="">
            <a:extLst xmlns:a="http://schemas.openxmlformats.org/drawingml/2006/main">
              <a:ext uri="{FF2B5EF4-FFF2-40B4-BE49-F238E27FC236}">
                <a16:creationId xmlns:a16="http://schemas.microsoft.com/office/drawing/2014/main" id="{DAC45388-F285-4B2C-B87E-315CC9351910}"/>
              </a:ext>
            </a:extLst>
          </p:cNvPr>
          <p:cNvSpPr>
            <a:spLocks xmlns:a="http://schemas.openxmlformats.org/drawingml/2006/main" noGrp="1"/>
          </p:cNvSpPr>
          <p:nvPr/>
        </p:nvSpPr>
        <p:spPr>
          <a:xfrm xmlns:a="http://schemas.openxmlformats.org/drawingml/2006/main">
            <a:off x="8077200" y="1866900"/>
            <a:ext cx="3257550" cy="2057400"/>
          </a:xfrm>
          <a:prstGeom xmlns:a="http://schemas.openxmlformats.org/drawingml/2006/main" prst="roundRect">
            <a:avLst>
              <a:gd name="adj" fmla="val 3704"/>
            </a:avLst>
          </a:prstGeom>
          <a:solidFill xmlns:a="http://schemas.openxmlformats.org/drawingml/2006/main">
            <a:srgbClr val="BDD4BD"/>
          </a:solidFill>
          <a:ln xmlns:a="http://schemas.openxmlformats.org/drawingml/2006/main" w="14288">
            <a:solidFill>
              <a:srgbClr val="2B241A"/>
            </a:solidFill>
          </a:ln>
        </p:spPr>
      </p:sp>
      <p:sp>
        <p:nvSpPr>
          <p:cNvPr id="14" name="">
            <a:extLst xmlns:a="http://schemas.openxmlformats.org/drawingml/2006/main">
              <a:ext uri="{FF2B5EF4-FFF2-40B4-BE49-F238E27FC236}">
                <a16:creationId xmlns:a16="http://schemas.microsoft.com/office/drawing/2014/main" id="{BCB3D3CA-F473-44BD-B4B7-B3B99D32E12E}"/>
              </a:ext>
            </a:extLst>
          </p:cNvPr>
          <p:cNvSpPr>
            <a:spLocks xmlns:a="http://schemas.openxmlformats.org/drawingml/2006/main" noGrp="1"/>
          </p:cNvSpPr>
          <p:nvPr/>
        </p:nvSpPr>
        <p:spPr>
          <a:xfrm xmlns:a="http://schemas.openxmlformats.org/drawingml/2006/main">
            <a:off x="8305800" y="2076450"/>
            <a:ext cx="361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200" b="1" i="0">
                <a:solidFill>
                  <a:srgbClr val="C9473D"/>
                </a:solidFill>
                <a:latin typeface="Menlo"/>
                <a:ea typeface="Menlo"/>
                <a:cs typeface="Menlo"/>
              </a:defRPr>
            </a:pPr>
            <a:r>
              <a:rPr sz="1200" b="1" i="0">
                <a:solidFill>
                  <a:srgbClr val="C9473D"/>
                </a:solidFill>
                <a:latin typeface="Menlo"/>
                <a:ea typeface="Menlo"/>
                <a:cs typeface="Menlo"/>
              </a:rPr>
              <a:t>3</a:t>
            </a:r>
          </a:p>
        </p:txBody>
      </p:sp>
      <p:sp>
        <p:nvSpPr>
          <p:cNvPr id="15" name="">
            <a:extLst xmlns:a="http://schemas.openxmlformats.org/drawingml/2006/main">
              <a:ext uri="{FF2B5EF4-FFF2-40B4-BE49-F238E27FC236}">
                <a16:creationId xmlns:a16="http://schemas.microsoft.com/office/drawing/2014/main" id="{CA8591AD-4B7D-48BF-802D-D1EF6594DCF4}"/>
              </a:ext>
            </a:extLst>
          </p:cNvPr>
          <p:cNvSpPr>
            <a:spLocks xmlns:a="http://schemas.openxmlformats.org/drawingml/2006/main" noGrp="1"/>
          </p:cNvSpPr>
          <p:nvPr/>
        </p:nvSpPr>
        <p:spPr>
          <a:xfrm xmlns:a="http://schemas.openxmlformats.org/drawingml/2006/main">
            <a:off x="8763000" y="2076450"/>
            <a:ext cx="2190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050" b="1" i="0">
                <a:solidFill>
                  <a:srgbClr val="2B241A"/>
                </a:solidFill>
                <a:latin typeface="Menlo"/>
                <a:ea typeface="Menlo"/>
                <a:cs typeface="Menlo"/>
              </a:defRPr>
            </a:pPr>
            <a:r>
              <a:rPr sz="1050" b="1" i="0">
                <a:solidFill>
                  <a:srgbClr val="2B241A"/>
                </a:solidFill>
                <a:latin typeface="Menlo"/>
                <a:ea typeface="Menlo"/>
                <a:cs typeface="Menlo"/>
              </a:rPr>
              <a:t>CART</a:t>
            </a:r>
          </a:p>
        </p:txBody>
      </p:sp>
      <p:sp>
        <p:nvSpPr>
          <p:cNvPr id="16" name="">
            <a:extLst xmlns:a="http://schemas.openxmlformats.org/drawingml/2006/main">
              <a:ext uri="{FF2B5EF4-FFF2-40B4-BE49-F238E27FC236}">
                <a16:creationId xmlns:a16="http://schemas.microsoft.com/office/drawing/2014/main" id="{27B13590-F990-44C6-8D1F-60EEE05E7BA7}"/>
              </a:ext>
            </a:extLst>
          </p:cNvPr>
          <p:cNvSpPr>
            <a:spLocks xmlns:a="http://schemas.openxmlformats.org/drawingml/2006/main" noGrp="1"/>
          </p:cNvSpPr>
          <p:nvPr/>
        </p:nvSpPr>
        <p:spPr>
          <a:xfrm xmlns:a="http://schemas.openxmlformats.org/drawingml/2006/main">
            <a:off x="8305800" y="2647950"/>
            <a:ext cx="27813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950" b="1" i="0">
                <a:solidFill>
                  <a:srgbClr val="2B241A"/>
                </a:solidFill>
                <a:latin typeface="Georgia"/>
                <a:ea typeface="Georgia"/>
                <a:cs typeface="Georgia"/>
              </a:defRPr>
            </a:pPr>
            <a:r>
              <a:rPr sz="1950" b="1" i="0">
                <a:solidFill>
                  <a:srgbClr val="2B241A"/>
                </a:solidFill>
                <a:latin typeface="Georgia"/>
                <a:ea typeface="Georgia"/>
                <a:cs typeface="Georgia"/>
              </a:rPr>
              <a:t>One item produces the correct total.</a:t>
            </a:r>
          </a:p>
        </p:txBody>
      </p:sp>
      <p:sp>
        <p:nvSpPr>
          <p:cNvPr id="17" name="">
            <a:extLst xmlns:a="http://schemas.openxmlformats.org/drawingml/2006/main">
              <a:ext uri="{FF2B5EF4-FFF2-40B4-BE49-F238E27FC236}">
                <a16:creationId xmlns:a16="http://schemas.microsoft.com/office/drawing/2014/main" id="{F30FDB3A-4C4B-4CA0-B591-3F7BD5067618}"/>
              </a:ext>
            </a:extLst>
          </p:cNvPr>
          <p:cNvSpPr>
            <a:spLocks xmlns:a="http://schemas.openxmlformats.org/drawingml/2006/main" noGrp="1"/>
          </p:cNvSpPr>
          <p:nvPr/>
        </p:nvSpPr>
        <p:spPr>
          <a:xfrm xmlns:a="http://schemas.openxmlformats.org/drawingml/2006/main">
            <a:off x="723900" y="5857875"/>
            <a:ext cx="142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050" b="1" i="0">
                <a:solidFill>
                  <a:srgbClr val="6A6054"/>
                </a:solidFill>
                <a:latin typeface="Menlo"/>
                <a:ea typeface="Menlo"/>
                <a:cs typeface="Menlo"/>
              </a:defRPr>
            </a:pPr>
            <a:r>
              <a:rPr sz="1050" b="1" i="0">
                <a:solidFill>
                  <a:srgbClr val="6A6054"/>
                </a:solidFill>
                <a:latin typeface="Menlo"/>
                <a:ea typeface="Menlo"/>
                <a:cs typeface="Menlo"/>
              </a:rPr>
              <a:t>16 MINUTES</a:t>
            </a:r>
          </a:p>
        </p:txBody>
      </p:sp>
      <p:sp>
        <p:nvSpPr>
          <p:cNvPr id="18" name="">
            <a:extLst xmlns:a="http://schemas.openxmlformats.org/drawingml/2006/main">
              <a:ext uri="{FF2B5EF4-FFF2-40B4-BE49-F238E27FC236}">
                <a16:creationId xmlns:a16="http://schemas.microsoft.com/office/drawing/2014/main" id="{2F9A927D-B0A7-482B-B6C0-20273B006348}"/>
              </a:ext>
            </a:extLst>
          </p:cNvPr>
          <p:cNvSpPr>
            <a:spLocks xmlns:a="http://schemas.openxmlformats.org/drawingml/2006/main" noGrp="1"/>
          </p:cNvSpPr>
          <p:nvPr/>
        </p:nvSpPr>
        <p:spPr>
          <a:xfrm xmlns:a="http://schemas.openxmlformats.org/drawingml/2006/main">
            <a:off x="2428875" y="5857875"/>
            <a:ext cx="2381250" cy="304800"/>
          </a:xfrm>
          <a:prstGeom xmlns:a="http://schemas.openxmlformats.org/drawingml/2006/main" prst="roundRect">
            <a:avLst>
              <a:gd name="adj" fmla="val 25000"/>
            </a:avLst>
          </a:prstGeom>
          <a:solidFill xmlns:a="http://schemas.openxmlformats.org/drawingml/2006/main">
            <a:srgbClr val="C8DCE8"/>
          </a:solidFill>
          <a:ln xmlns:a="http://schemas.openxmlformats.org/drawingml/2006/main" w="14288">
            <a:solidFill>
              <a:srgbClr val="C8DCE8"/>
            </a:solidFill>
          </a:ln>
        </p:spPr>
      </p:sp>
      <p:sp>
        <p:nvSpPr>
          <p:cNvPr id="19" name="">
            <a:extLst xmlns:a="http://schemas.openxmlformats.org/drawingml/2006/main">
              <a:ext uri="{FF2B5EF4-FFF2-40B4-BE49-F238E27FC236}">
                <a16:creationId xmlns:a16="http://schemas.microsoft.com/office/drawing/2014/main" id="{E1799458-0323-4463-90B5-A3398AA5ECBF}"/>
              </a:ext>
            </a:extLst>
          </p:cNvPr>
          <p:cNvSpPr>
            <a:spLocks xmlns:a="http://schemas.openxmlformats.org/drawingml/2006/main" noGrp="1"/>
          </p:cNvSpPr>
          <p:nvPr/>
        </p:nvSpPr>
        <p:spPr>
          <a:xfrm xmlns:a="http://schemas.openxmlformats.org/drawingml/2006/main">
            <a:off x="2428875" y="5857875"/>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975" b="1" i="0">
                <a:solidFill>
                  <a:srgbClr val="2B241A"/>
                </a:solidFill>
                <a:latin typeface="Menlo"/>
                <a:ea typeface="Menlo"/>
                <a:cs typeface="Menlo"/>
              </a:defRPr>
            </a:pPr>
            <a:r>
              <a:rPr sz="975" b="1" i="0">
                <a:solidFill>
                  <a:srgbClr val="2B241A"/>
                </a:solidFill>
                <a:latin typeface="Menlo"/>
                <a:ea typeface="Menlo"/>
                <a:cs typeface="Menlo"/>
              </a:rPr>
              <a:t>WATCH 3 MIN</a:t>
            </a:r>
          </a:p>
        </p:txBody>
      </p:sp>
      <p:sp>
        <p:nvSpPr>
          <p:cNvPr id="20" name="">
            <a:extLst xmlns:a="http://schemas.openxmlformats.org/drawingml/2006/main">
              <a:ext uri="{FF2B5EF4-FFF2-40B4-BE49-F238E27FC236}">
                <a16:creationId xmlns:a16="http://schemas.microsoft.com/office/drawing/2014/main" id="{56693423-1E9E-4491-88F2-77EBDE28309C}"/>
              </a:ext>
            </a:extLst>
          </p:cNvPr>
          <p:cNvSpPr>
            <a:spLocks xmlns:a="http://schemas.openxmlformats.org/drawingml/2006/main" noGrp="1"/>
          </p:cNvSpPr>
          <p:nvPr/>
        </p:nvSpPr>
        <p:spPr>
          <a:xfrm xmlns:a="http://schemas.openxmlformats.org/drawingml/2006/main">
            <a:off x="5000625" y="5857875"/>
            <a:ext cx="2381250" cy="304800"/>
          </a:xfrm>
          <a:prstGeom xmlns:a="http://schemas.openxmlformats.org/drawingml/2006/main" prst="roundRect">
            <a:avLst>
              <a:gd name="adj" fmla="val 25000"/>
            </a:avLst>
          </a:prstGeom>
          <a:solidFill xmlns:a="http://schemas.openxmlformats.org/drawingml/2006/main">
            <a:srgbClr val="BDD4BD"/>
          </a:solidFill>
          <a:ln xmlns:a="http://schemas.openxmlformats.org/drawingml/2006/main" w="14288">
            <a:solidFill>
              <a:srgbClr val="BDD4BD"/>
            </a:solidFill>
          </a:ln>
        </p:spPr>
      </p:sp>
      <p:sp>
        <p:nvSpPr>
          <p:cNvPr id="21" name="">
            <a:extLst xmlns:a="http://schemas.openxmlformats.org/drawingml/2006/main">
              <a:ext uri="{FF2B5EF4-FFF2-40B4-BE49-F238E27FC236}">
                <a16:creationId xmlns:a16="http://schemas.microsoft.com/office/drawing/2014/main" id="{26A93425-4278-483C-B051-079FFC4346F4}"/>
              </a:ext>
            </a:extLst>
          </p:cNvPr>
          <p:cNvSpPr>
            <a:spLocks xmlns:a="http://schemas.openxmlformats.org/drawingml/2006/main" noGrp="1"/>
          </p:cNvSpPr>
          <p:nvPr/>
        </p:nvSpPr>
        <p:spPr>
          <a:xfrm xmlns:a="http://schemas.openxmlformats.org/drawingml/2006/main">
            <a:off x="5000625" y="5857875"/>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975" b="1" i="0">
                <a:solidFill>
                  <a:srgbClr val="2B241A"/>
                </a:solidFill>
                <a:latin typeface="Menlo"/>
                <a:ea typeface="Menlo"/>
                <a:cs typeface="Menlo"/>
              </a:defRPr>
            </a:pPr>
            <a:r>
              <a:rPr sz="975" b="1" i="0">
                <a:solidFill>
                  <a:srgbClr val="2B241A"/>
                </a:solidFill>
                <a:latin typeface="Menlo"/>
                <a:ea typeface="Menlo"/>
                <a:cs typeface="Menlo"/>
              </a:rPr>
              <a:t>BUILD 10 MIN</a:t>
            </a:r>
          </a:p>
        </p:txBody>
      </p:sp>
      <p:sp>
        <p:nvSpPr>
          <p:cNvPr id="22" name="">
            <a:extLst xmlns:a="http://schemas.openxmlformats.org/drawingml/2006/main">
              <a:ext uri="{FF2B5EF4-FFF2-40B4-BE49-F238E27FC236}">
                <a16:creationId xmlns:a16="http://schemas.microsoft.com/office/drawing/2014/main" id="{61B230BE-E7F2-48FC-B9D0-FF4090A139BA}"/>
              </a:ext>
            </a:extLst>
          </p:cNvPr>
          <p:cNvSpPr>
            <a:spLocks xmlns:a="http://schemas.openxmlformats.org/drawingml/2006/main" noGrp="1"/>
          </p:cNvSpPr>
          <p:nvPr/>
        </p:nvSpPr>
        <p:spPr>
          <a:xfrm xmlns:a="http://schemas.openxmlformats.org/drawingml/2006/main">
            <a:off x="7572375" y="5857875"/>
            <a:ext cx="2381250" cy="304800"/>
          </a:xfrm>
          <a:prstGeom xmlns:a="http://schemas.openxmlformats.org/drawingml/2006/main" prst="roundRect">
            <a:avLst>
              <a:gd name="adj" fmla="val 25000"/>
            </a:avLst>
          </a:prstGeom>
          <a:solidFill xmlns:a="http://schemas.openxmlformats.org/drawingml/2006/main">
            <a:srgbClr val="EEC7C2"/>
          </a:solidFill>
          <a:ln xmlns:a="http://schemas.openxmlformats.org/drawingml/2006/main" w="14288">
            <a:solidFill>
              <a:srgbClr val="EEC7C2"/>
            </a:solidFill>
          </a:ln>
        </p:spPr>
      </p:sp>
      <p:sp>
        <p:nvSpPr>
          <p:cNvPr id="23" name="">
            <a:extLst xmlns:a="http://schemas.openxmlformats.org/drawingml/2006/main">
              <a:ext uri="{FF2B5EF4-FFF2-40B4-BE49-F238E27FC236}">
                <a16:creationId xmlns:a16="http://schemas.microsoft.com/office/drawing/2014/main" id="{7D3B30F8-0533-4DC9-9357-417368AEF246}"/>
              </a:ext>
            </a:extLst>
          </p:cNvPr>
          <p:cNvSpPr>
            <a:spLocks xmlns:a="http://schemas.openxmlformats.org/drawingml/2006/main" noGrp="1"/>
          </p:cNvSpPr>
          <p:nvPr/>
        </p:nvSpPr>
        <p:spPr>
          <a:xfrm xmlns:a="http://schemas.openxmlformats.org/drawingml/2006/main">
            <a:off x="7572375" y="5857875"/>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975" b="1" i="0">
                <a:solidFill>
                  <a:srgbClr val="2B241A"/>
                </a:solidFill>
                <a:latin typeface="Menlo"/>
                <a:ea typeface="Menlo"/>
                <a:cs typeface="Menlo"/>
              </a:defRPr>
            </a:pPr>
            <a:r>
              <a:rPr sz="975" b="1" i="0">
                <a:solidFill>
                  <a:srgbClr val="2B241A"/>
                </a:solidFill>
                <a:latin typeface="Menlo"/>
                <a:ea typeface="Menlo"/>
                <a:cs typeface="Menlo"/>
              </a:rPr>
              <a:t>CHECK 3 MIN</a:t>
            </a:r>
          </a:p>
        </p:txBody>
      </p:sp>
    </p:spTree>
    <p:extLst>
      <p:ext uri="{BB962C8B-B14F-4D97-AF65-F5344CB8AC3E}">
        <p14:creationId xmlns:p14="http://schemas.microsoft.com/office/powerpoint/2010/main" val="1456905311"/>
      </p:ext>
    </p:extLst>
  </p:cSld>
</p:sld>
</file>

<file path=ppt/slides/slide11.xml><?xml version="1.0" encoding="utf-8"?>
<p:sld xmlns:p="http://schemas.openxmlformats.org/presentationml/2006/main">
  <p:cSld>
    <p:bg>
      <p:bgPr>
        <a:solidFill xmlns:a="http://schemas.openxmlformats.org/drawingml/2006/main">
          <a:srgbClr val="F5EDDD"/>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ED9AADA-96D3-4F1A-8C5F-7E4AA26DC0D7}"/>
              </a:ext>
            </a:extLst>
          </p:cNvPr>
          <p:cNvSpPr>
            <a:spLocks xmlns:a="http://schemas.openxmlformats.org/drawingml/2006/main" noGrp="1"/>
          </p:cNvSpPr>
          <p:nvPr/>
        </p:nvSpPr>
        <p:spPr>
          <a:xfrm xmlns:a="http://schemas.openxmlformats.org/drawingml/2006/main">
            <a:off x="723900" y="514350"/>
            <a:ext cx="10744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3000" b="1" i="0">
                <a:solidFill>
                  <a:srgbClr val="2B241A"/>
                </a:solidFill>
                <a:latin typeface="Georgia"/>
                <a:ea typeface="Georgia"/>
                <a:cs typeface="Georgia"/>
              </a:defRPr>
            </a:pPr>
            <a:r>
              <a:rPr sz="3000" b="1" i="0">
                <a:solidFill>
                  <a:srgbClr val="2B241A"/>
                </a:solidFill>
                <a:latin typeface="Georgia"/>
                <a:ea typeface="Georgia"/>
                <a:cs typeface="Georgia"/>
              </a:rPr>
              <a:t>Build 4: one product, one message, one frame</a:t>
            </a:r>
          </a:p>
        </p:txBody>
      </p:sp>
      <p:sp>
        <p:nvSpPr>
          <p:cNvPr id="2" name="">
            <a:extLst xmlns:a="http://schemas.openxmlformats.org/drawingml/2006/main">
              <a:ext uri="{FF2B5EF4-FFF2-40B4-BE49-F238E27FC236}">
                <a16:creationId xmlns:a16="http://schemas.microsoft.com/office/drawing/2014/main" id="{99FC6DC6-0DCD-4515-A495-29673BF38DE0}"/>
              </a:ext>
            </a:extLst>
          </p:cNvPr>
          <p:cNvSpPr>
            <a:spLocks xmlns:a="http://schemas.openxmlformats.org/drawingml/2006/main" noGrp="1"/>
          </p:cNvSpPr>
          <p:nvPr/>
        </p:nvSpPr>
        <p:spPr>
          <a:xfrm xmlns:a="http://schemas.openxmlformats.org/drawingml/2006/main">
            <a:off x="742950" y="1257300"/>
            <a:ext cx="1000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i="0">
                <a:solidFill>
                  <a:srgbClr val="6A6054"/>
                </a:solidFill>
                <a:latin typeface="Avenir Next"/>
                <a:ea typeface="Avenir Next"/>
                <a:cs typeface="Avenir Next"/>
              </a:defRPr>
            </a:pPr>
            <a:r>
              <a:rPr sz="1350" b="0" i="0">
                <a:solidFill>
                  <a:srgbClr val="6A6054"/>
                </a:solidFill>
                <a:latin typeface="Avenir Next"/>
                <a:ea typeface="Avenir Next"/>
                <a:cs typeface="Avenir Next"/>
              </a:rPr>
              <a:t>Use a prompt, a public Sites URL, or a free editor</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47a3671d274e407e"/>
          <a:srcRect xmlns:a="http://schemas.openxmlformats.org/drawingml/2006/main" l="0" t="19825" r="0" b="19825"/>
          <a:stretch xmlns:a="http://schemas.openxmlformats.org/drawingml/2006/main">
            <a:fillRect l="0" t="0" r="0" b="0"/>
          </a:stretch>
        </p:blipFill>
        <p:spPr>
          <a:xfrm xmlns:a="http://schemas.openxmlformats.org/drawingml/2006/main">
            <a:off x="6819900" y="1809750"/>
            <a:ext cx="4648200" cy="3505200"/>
          </a:xfrm>
          <a:prstGeom xmlns:a="http://schemas.openxmlformats.org/drawingml/2006/main" prst="roundRect">
            <a:avLst>
              <a:gd name="adj" fmla="val 3261"/>
            </a:avLst>
          </a:prstGeom>
        </p:spPr>
      </p:pic>
      <p:sp>
        <p:nvSpPr>
          <p:cNvPr id="4" name="">
            <a:extLst xmlns:a="http://schemas.openxmlformats.org/drawingml/2006/main">
              <a:ext uri="{FF2B5EF4-FFF2-40B4-BE49-F238E27FC236}">
                <a16:creationId xmlns:a16="http://schemas.microsoft.com/office/drawing/2014/main" id="{DA283FE1-3276-4CBD-AC2B-288C2A5ACC93}"/>
              </a:ext>
            </a:extLst>
          </p:cNvPr>
          <p:cNvSpPr>
            <a:spLocks xmlns:a="http://schemas.openxmlformats.org/drawingml/2006/main" noGrp="1"/>
          </p:cNvSpPr>
          <p:nvPr/>
        </p:nvSpPr>
        <p:spPr>
          <a:xfrm xmlns:a="http://schemas.openxmlformats.org/drawingml/2006/main">
            <a:off x="723900" y="1809750"/>
            <a:ext cx="5486400" cy="3505200"/>
          </a:xfrm>
          <a:prstGeom xmlns:a="http://schemas.openxmlformats.org/drawingml/2006/main" prst="roundRect">
            <a:avLst>
              <a:gd name="adj" fmla="val 2174"/>
            </a:avLst>
          </a:prstGeom>
          <a:solidFill xmlns:a="http://schemas.openxmlformats.org/drawingml/2006/main">
            <a:srgbClr val="2B241A"/>
          </a:solidFill>
          <a:ln xmlns:a="http://schemas.openxmlformats.org/drawingml/2006/main" w="14288">
            <a:solidFill>
              <a:srgbClr val="2B241A"/>
            </a:solidFill>
          </a:ln>
        </p:spPr>
      </p:sp>
      <p:sp>
        <p:nvSpPr>
          <p:cNvPr id="5" name="">
            <a:extLst xmlns:a="http://schemas.openxmlformats.org/drawingml/2006/main">
              <a:ext uri="{FF2B5EF4-FFF2-40B4-BE49-F238E27FC236}">
                <a16:creationId xmlns:a16="http://schemas.microsoft.com/office/drawing/2014/main" id="{7E299861-5E50-4424-916D-D3EFFA012621}"/>
              </a:ext>
            </a:extLst>
          </p:cNvPr>
          <p:cNvSpPr>
            <a:spLocks xmlns:a="http://schemas.openxmlformats.org/drawingml/2006/main" noGrp="1"/>
          </p:cNvSpPr>
          <p:nvPr/>
        </p:nvSpPr>
        <p:spPr>
          <a:xfrm xmlns:a="http://schemas.openxmlformats.org/drawingml/2006/main">
            <a:off x="1009650" y="2038350"/>
            <a:ext cx="491490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00" b="0" i="0">
                <a:solidFill>
                  <a:srgbClr val="FFFDF8"/>
                </a:solidFill>
                <a:latin typeface="Menlo"/>
                <a:ea typeface="Menlo"/>
                <a:cs typeface="Menlo"/>
              </a:defRPr>
            </a:pPr>
            <a:r>
              <a:rPr sz="1200" b="0" i="0">
                <a:solidFill>
                  <a:srgbClr val="FFFDF8"/>
                </a:solidFill>
                <a:latin typeface="Menlo"/>
                <a:ea typeface="Menlo"/>
                <a:cs typeface="Menlo"/>
              </a:rPr>
              <a:t>Attach product-family.png and read STORE-KIT.md.</a:t>
            </a:r>
          </a:p>
          <a:p xmlns:a="http://schemas.openxmlformats.org/drawingml/2006/main">
            <a:r>
              <a:t/>
            </a:r>
          </a:p>
          <a:p xmlns:a="http://schemas.openxmlformats.org/drawingml/2006/main">
            <a:pPr algn="l">
              <a:buNone/>
              <a:defRPr sz="1200" b="0" i="0">
                <a:solidFill>
                  <a:srgbClr val="FFFDF8"/>
                </a:solidFill>
                <a:latin typeface="Menlo"/>
                <a:ea typeface="Menlo"/>
                <a:cs typeface="Menlo"/>
              </a:defRPr>
            </a:pPr>
            <a:r>
              <a:rPr sz="1200" b="0" i="0">
                <a:solidFill>
                  <a:srgbClr val="FFFDF8"/>
                </a:solidFill>
                <a:latin typeface="Menlo"/>
                <a:ea typeface="Menlo"/>
                <a:cs typeface="Menlo"/>
              </a:rPr>
              <a:t>Create one 1080 × 1350 image with one dominant product and the approved social line. Preserve its shape, material, and colour. Change only crop, scale, setting, shadow, and type. No packaging, new products, or claims.</a:t>
            </a:r>
          </a:p>
        </p:txBody>
      </p:sp>
      <p:sp>
        <p:nvSpPr>
          <p:cNvPr id="6" name="">
            <a:extLst xmlns:a="http://schemas.openxmlformats.org/drawingml/2006/main">
              <a:ext uri="{FF2B5EF4-FFF2-40B4-BE49-F238E27FC236}">
                <a16:creationId xmlns:a16="http://schemas.microsoft.com/office/drawing/2014/main" id="{7251B749-9185-4D7E-816F-C789C54E4DC9}"/>
              </a:ext>
            </a:extLst>
          </p:cNvPr>
          <p:cNvSpPr>
            <a:spLocks xmlns:a="http://schemas.openxmlformats.org/drawingml/2006/main" noGrp="1"/>
          </p:cNvSpPr>
          <p:nvPr/>
        </p:nvSpPr>
        <p:spPr>
          <a:xfrm xmlns:a="http://schemas.openxmlformats.org/drawingml/2006/main">
            <a:off x="723900" y="5857875"/>
            <a:ext cx="142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050" b="1" i="0">
                <a:solidFill>
                  <a:srgbClr val="6A6054"/>
                </a:solidFill>
                <a:latin typeface="Menlo"/>
                <a:ea typeface="Menlo"/>
                <a:cs typeface="Menlo"/>
              </a:defRPr>
            </a:pPr>
            <a:r>
              <a:rPr sz="1050" b="1" i="0">
                <a:solidFill>
                  <a:srgbClr val="6A6054"/>
                </a:solidFill>
                <a:latin typeface="Menlo"/>
                <a:ea typeface="Menlo"/>
                <a:cs typeface="Menlo"/>
              </a:rPr>
              <a:t>12 MINUTES</a:t>
            </a:r>
          </a:p>
        </p:txBody>
      </p:sp>
      <p:sp>
        <p:nvSpPr>
          <p:cNvPr id="7" name="">
            <a:extLst xmlns:a="http://schemas.openxmlformats.org/drawingml/2006/main">
              <a:ext uri="{FF2B5EF4-FFF2-40B4-BE49-F238E27FC236}">
                <a16:creationId xmlns:a16="http://schemas.microsoft.com/office/drawing/2014/main" id="{701609D0-25BE-42A7-A321-479339D3510F}"/>
              </a:ext>
            </a:extLst>
          </p:cNvPr>
          <p:cNvSpPr>
            <a:spLocks xmlns:a="http://schemas.openxmlformats.org/drawingml/2006/main" noGrp="1"/>
          </p:cNvSpPr>
          <p:nvPr/>
        </p:nvSpPr>
        <p:spPr>
          <a:xfrm xmlns:a="http://schemas.openxmlformats.org/drawingml/2006/main">
            <a:off x="2428875" y="5857875"/>
            <a:ext cx="2381250" cy="304800"/>
          </a:xfrm>
          <a:prstGeom xmlns:a="http://schemas.openxmlformats.org/drawingml/2006/main" prst="roundRect">
            <a:avLst>
              <a:gd name="adj" fmla="val 25000"/>
            </a:avLst>
          </a:prstGeom>
          <a:solidFill xmlns:a="http://schemas.openxmlformats.org/drawingml/2006/main">
            <a:srgbClr val="C8DCE8"/>
          </a:solidFill>
          <a:ln xmlns:a="http://schemas.openxmlformats.org/drawingml/2006/main" w="14288">
            <a:solidFill>
              <a:srgbClr val="C8DCE8"/>
            </a:solidFill>
          </a:ln>
        </p:spPr>
      </p:sp>
      <p:sp>
        <p:nvSpPr>
          <p:cNvPr id="8" name="">
            <a:extLst xmlns:a="http://schemas.openxmlformats.org/drawingml/2006/main">
              <a:ext uri="{FF2B5EF4-FFF2-40B4-BE49-F238E27FC236}">
                <a16:creationId xmlns:a16="http://schemas.microsoft.com/office/drawing/2014/main" id="{DA283FD9-2606-4F43-83A0-951347B0BA34}"/>
              </a:ext>
            </a:extLst>
          </p:cNvPr>
          <p:cNvSpPr>
            <a:spLocks xmlns:a="http://schemas.openxmlformats.org/drawingml/2006/main" noGrp="1"/>
          </p:cNvSpPr>
          <p:nvPr/>
        </p:nvSpPr>
        <p:spPr>
          <a:xfrm xmlns:a="http://schemas.openxmlformats.org/drawingml/2006/main">
            <a:off x="2428875" y="5857875"/>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975" b="1" i="0">
                <a:solidFill>
                  <a:srgbClr val="2B241A"/>
                </a:solidFill>
                <a:latin typeface="Menlo"/>
                <a:ea typeface="Menlo"/>
                <a:cs typeface="Menlo"/>
              </a:defRPr>
            </a:pPr>
            <a:r>
              <a:rPr sz="975" b="1" i="0">
                <a:solidFill>
                  <a:srgbClr val="2B241A"/>
                </a:solidFill>
                <a:latin typeface="Menlo"/>
                <a:ea typeface="Menlo"/>
                <a:cs typeface="Menlo"/>
              </a:rPr>
              <a:t>WATCH 3 MIN</a:t>
            </a:r>
          </a:p>
        </p:txBody>
      </p:sp>
      <p:sp>
        <p:nvSpPr>
          <p:cNvPr id="9" name="">
            <a:extLst xmlns:a="http://schemas.openxmlformats.org/drawingml/2006/main">
              <a:ext uri="{FF2B5EF4-FFF2-40B4-BE49-F238E27FC236}">
                <a16:creationId xmlns:a16="http://schemas.microsoft.com/office/drawing/2014/main" id="{2EB20B1E-AE6D-4C54-BF68-9854AB7F5074}"/>
              </a:ext>
            </a:extLst>
          </p:cNvPr>
          <p:cNvSpPr>
            <a:spLocks xmlns:a="http://schemas.openxmlformats.org/drawingml/2006/main" noGrp="1"/>
          </p:cNvSpPr>
          <p:nvPr/>
        </p:nvSpPr>
        <p:spPr>
          <a:xfrm xmlns:a="http://schemas.openxmlformats.org/drawingml/2006/main">
            <a:off x="5000625" y="5857875"/>
            <a:ext cx="2381250" cy="304800"/>
          </a:xfrm>
          <a:prstGeom xmlns:a="http://schemas.openxmlformats.org/drawingml/2006/main" prst="roundRect">
            <a:avLst>
              <a:gd name="adj" fmla="val 25000"/>
            </a:avLst>
          </a:prstGeom>
          <a:solidFill xmlns:a="http://schemas.openxmlformats.org/drawingml/2006/main">
            <a:srgbClr val="BDD4BD"/>
          </a:solidFill>
          <a:ln xmlns:a="http://schemas.openxmlformats.org/drawingml/2006/main" w="14288">
            <a:solidFill>
              <a:srgbClr val="BDD4BD"/>
            </a:solidFill>
          </a:ln>
        </p:spPr>
      </p:sp>
      <p:sp>
        <p:nvSpPr>
          <p:cNvPr id="10" name="">
            <a:extLst xmlns:a="http://schemas.openxmlformats.org/drawingml/2006/main">
              <a:ext uri="{FF2B5EF4-FFF2-40B4-BE49-F238E27FC236}">
                <a16:creationId xmlns:a16="http://schemas.microsoft.com/office/drawing/2014/main" id="{BB76AD91-3957-42E2-B756-D1D5CF8F0183}"/>
              </a:ext>
            </a:extLst>
          </p:cNvPr>
          <p:cNvSpPr>
            <a:spLocks xmlns:a="http://schemas.openxmlformats.org/drawingml/2006/main" noGrp="1"/>
          </p:cNvSpPr>
          <p:nvPr/>
        </p:nvSpPr>
        <p:spPr>
          <a:xfrm xmlns:a="http://schemas.openxmlformats.org/drawingml/2006/main">
            <a:off x="5000625" y="5857875"/>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975" b="1" i="0">
                <a:solidFill>
                  <a:srgbClr val="2B241A"/>
                </a:solidFill>
                <a:latin typeface="Menlo"/>
                <a:ea typeface="Menlo"/>
                <a:cs typeface="Menlo"/>
              </a:defRPr>
            </a:pPr>
            <a:r>
              <a:rPr sz="975" b="1" i="0">
                <a:solidFill>
                  <a:srgbClr val="2B241A"/>
                </a:solidFill>
                <a:latin typeface="Menlo"/>
                <a:ea typeface="Menlo"/>
                <a:cs typeface="Menlo"/>
              </a:rPr>
              <a:t>BUILD 7 MIN</a:t>
            </a:r>
          </a:p>
        </p:txBody>
      </p:sp>
      <p:sp>
        <p:nvSpPr>
          <p:cNvPr id="11" name="">
            <a:extLst xmlns:a="http://schemas.openxmlformats.org/drawingml/2006/main">
              <a:ext uri="{FF2B5EF4-FFF2-40B4-BE49-F238E27FC236}">
                <a16:creationId xmlns:a16="http://schemas.microsoft.com/office/drawing/2014/main" id="{D21DD49E-D519-4EE9-A776-3DC8079E3015}"/>
              </a:ext>
            </a:extLst>
          </p:cNvPr>
          <p:cNvSpPr>
            <a:spLocks xmlns:a="http://schemas.openxmlformats.org/drawingml/2006/main" noGrp="1"/>
          </p:cNvSpPr>
          <p:nvPr/>
        </p:nvSpPr>
        <p:spPr>
          <a:xfrm xmlns:a="http://schemas.openxmlformats.org/drawingml/2006/main">
            <a:off x="7572375" y="5857875"/>
            <a:ext cx="2381250" cy="304800"/>
          </a:xfrm>
          <a:prstGeom xmlns:a="http://schemas.openxmlformats.org/drawingml/2006/main" prst="roundRect">
            <a:avLst>
              <a:gd name="adj" fmla="val 25000"/>
            </a:avLst>
          </a:prstGeom>
          <a:solidFill xmlns:a="http://schemas.openxmlformats.org/drawingml/2006/main">
            <a:srgbClr val="EEC7C2"/>
          </a:solidFill>
          <a:ln xmlns:a="http://schemas.openxmlformats.org/drawingml/2006/main" w="14288">
            <a:solidFill>
              <a:srgbClr val="EEC7C2"/>
            </a:solidFill>
          </a:ln>
        </p:spPr>
      </p:sp>
      <p:sp>
        <p:nvSpPr>
          <p:cNvPr id="12" name="">
            <a:extLst xmlns:a="http://schemas.openxmlformats.org/drawingml/2006/main">
              <a:ext uri="{FF2B5EF4-FFF2-40B4-BE49-F238E27FC236}">
                <a16:creationId xmlns:a16="http://schemas.microsoft.com/office/drawing/2014/main" id="{7459AD98-2273-4313-A5F1-1C9C36C7A364}"/>
              </a:ext>
            </a:extLst>
          </p:cNvPr>
          <p:cNvSpPr>
            <a:spLocks xmlns:a="http://schemas.openxmlformats.org/drawingml/2006/main" noGrp="1"/>
          </p:cNvSpPr>
          <p:nvPr/>
        </p:nvSpPr>
        <p:spPr>
          <a:xfrm xmlns:a="http://schemas.openxmlformats.org/drawingml/2006/main">
            <a:off x="7572375" y="5857875"/>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975" b="1" i="0">
                <a:solidFill>
                  <a:srgbClr val="2B241A"/>
                </a:solidFill>
                <a:latin typeface="Menlo"/>
                <a:ea typeface="Menlo"/>
                <a:cs typeface="Menlo"/>
              </a:defRPr>
            </a:pPr>
            <a:r>
              <a:rPr sz="975" b="1" i="0">
                <a:solidFill>
                  <a:srgbClr val="2B241A"/>
                </a:solidFill>
                <a:latin typeface="Menlo"/>
                <a:ea typeface="Menlo"/>
                <a:cs typeface="Menlo"/>
              </a:rPr>
              <a:t>CHECK 2 MIN</a:t>
            </a:r>
          </a:p>
        </p:txBody>
      </p:sp>
    </p:spTree>
    <p:extLst>
      <p:ext uri="{BB962C8B-B14F-4D97-AF65-F5344CB8AC3E}">
        <p14:creationId xmlns:p14="http://schemas.microsoft.com/office/powerpoint/2010/main" val="2115186020"/>
      </p:ext>
    </p:extLst>
  </p:cSld>
</p:sld>
</file>

<file path=ppt/slides/slide12.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738DC38-A0C0-427F-B3FF-948BAB39CA6C}"/>
              </a:ext>
            </a:extLst>
          </p:cNvPr>
          <p:cNvSpPr>
            <a:spLocks xmlns:a="http://schemas.openxmlformats.org/drawingml/2006/main" noGrp="1"/>
          </p:cNvSpPr>
          <p:nvPr/>
        </p:nvSpPr>
        <p:spPr>
          <a:xfrm xmlns:a="http://schemas.openxmlformats.org/drawingml/2006/main">
            <a:off x="723900" y="514350"/>
            <a:ext cx="10744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3000" b="1" i="0">
                <a:solidFill>
                  <a:srgbClr val="2B241A"/>
                </a:solidFill>
                <a:latin typeface="Georgia"/>
                <a:ea typeface="Georgia"/>
                <a:cs typeface="Georgia"/>
              </a:defRPr>
            </a:pPr>
            <a:r>
              <a:rPr sz="3000" b="1" i="0">
                <a:solidFill>
                  <a:srgbClr val="2B241A"/>
                </a:solidFill>
                <a:latin typeface="Georgia"/>
                <a:ea typeface="Georgia"/>
                <a:cs typeface="Georgia"/>
              </a:rPr>
              <a:t>Concept 4: a short video needs three different beats</a:t>
            </a:r>
          </a:p>
        </p:txBody>
      </p:sp>
      <p:sp>
        <p:nvSpPr>
          <p:cNvPr id="2" name="">
            <a:extLst xmlns:a="http://schemas.openxmlformats.org/drawingml/2006/main">
              <a:ext uri="{FF2B5EF4-FFF2-40B4-BE49-F238E27FC236}">
                <a16:creationId xmlns:a16="http://schemas.microsoft.com/office/drawing/2014/main" id="{D3D812D7-F111-4862-AFEC-6CC10A6E3DC3}"/>
              </a:ext>
            </a:extLst>
          </p:cNvPr>
          <p:cNvSpPr>
            <a:spLocks xmlns:a="http://schemas.openxmlformats.org/drawingml/2006/main" noGrp="1"/>
          </p:cNvSpPr>
          <p:nvPr/>
        </p:nvSpPr>
        <p:spPr>
          <a:xfrm xmlns:a="http://schemas.openxmlformats.org/drawingml/2006/main">
            <a:off x="742950" y="1257300"/>
            <a:ext cx="1000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i="0">
                <a:solidFill>
                  <a:srgbClr val="6A6054"/>
                </a:solidFill>
                <a:latin typeface="Avenir Next"/>
                <a:ea typeface="Avenir Next"/>
                <a:cs typeface="Avenir Next"/>
              </a:defRPr>
            </a:pPr>
            <a:r>
              <a:rPr sz="1350" b="0" i="0">
                <a:solidFill>
                  <a:srgbClr val="6A6054"/>
                </a:solidFill>
                <a:latin typeface="Avenir Next"/>
                <a:ea typeface="Avenir Next"/>
                <a:cs typeface="Avenir Next"/>
              </a:rPr>
              <a:t>Each scene changes what the viewer knows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5574578ec9694865"/>
          <a:srcRect xmlns:a="http://schemas.openxmlformats.org/drawingml/2006/main" l="0" t="23995" r="0" b="23995"/>
          <a:stretch xmlns:a="http://schemas.openxmlformats.org/drawingml/2006/main">
            <a:fillRect l="0" t="0" r="0" b="0"/>
          </a:stretch>
        </p:blipFill>
        <p:spPr>
          <a:xfrm xmlns:a="http://schemas.openxmlformats.org/drawingml/2006/main">
            <a:off x="723900" y="1962150"/>
            <a:ext cx="10744200" cy="2095500"/>
          </a:xfrm>
          <a:prstGeom xmlns:a="http://schemas.openxmlformats.org/drawingml/2006/main" prst="roundRect">
            <a:avLst>
              <a:gd name="adj" fmla="val 5455"/>
            </a:avLst>
          </a:prstGeom>
        </p:spPr>
      </p:pic>
      <p:sp>
        <p:nvSpPr>
          <p:cNvPr id="4" name="">
            <a:extLst xmlns:a="http://schemas.openxmlformats.org/drawingml/2006/main">
              <a:ext uri="{FF2B5EF4-FFF2-40B4-BE49-F238E27FC236}">
                <a16:creationId xmlns:a16="http://schemas.microsoft.com/office/drawing/2014/main" id="{5F83F447-CC50-4DC8-A6E2-7D416DD4408E}"/>
              </a:ext>
            </a:extLst>
          </p:cNvPr>
          <p:cNvSpPr>
            <a:spLocks xmlns:a="http://schemas.openxmlformats.org/drawingml/2006/main" noGrp="1"/>
          </p:cNvSpPr>
          <p:nvPr/>
        </p:nvSpPr>
        <p:spPr>
          <a:xfrm xmlns:a="http://schemas.openxmlformats.org/drawingml/2006/main">
            <a:off x="838200" y="2095500"/>
            <a:ext cx="2324100" cy="266700"/>
          </a:xfrm>
          <a:prstGeom xmlns:a="http://schemas.openxmlformats.org/drawingml/2006/main" prst="roundRect">
            <a:avLst>
              <a:gd name="adj" fmla="val 28571"/>
            </a:avLst>
          </a:prstGeom>
          <a:solidFill xmlns:a="http://schemas.openxmlformats.org/drawingml/2006/main">
            <a:srgbClr val="2B241A"/>
          </a:solidFill>
          <a:ln xmlns:a="http://schemas.openxmlformats.org/drawingml/2006/main" w="14288">
            <a:solidFill>
              <a:srgbClr val="2B241A"/>
            </a:solidFill>
          </a:ln>
        </p:spPr>
      </p:sp>
      <p:sp>
        <p:nvSpPr>
          <p:cNvPr id="5" name="">
            <a:extLst xmlns:a="http://schemas.openxmlformats.org/drawingml/2006/main">
              <a:ext uri="{FF2B5EF4-FFF2-40B4-BE49-F238E27FC236}">
                <a16:creationId xmlns:a16="http://schemas.microsoft.com/office/drawing/2014/main" id="{73D516AE-527D-40F9-9BF5-05E960123E40}"/>
              </a:ext>
            </a:extLst>
          </p:cNvPr>
          <p:cNvSpPr>
            <a:spLocks xmlns:a="http://schemas.openxmlformats.org/drawingml/2006/main" noGrp="1"/>
          </p:cNvSpPr>
          <p:nvPr/>
        </p:nvSpPr>
        <p:spPr>
          <a:xfrm xmlns:a="http://schemas.openxmlformats.org/drawingml/2006/main">
            <a:off x="838200" y="2095500"/>
            <a:ext cx="2324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750" b="1" i="0">
                <a:solidFill>
                  <a:srgbClr val="FFFDF8"/>
                </a:solidFill>
                <a:latin typeface="Menlo"/>
                <a:ea typeface="Menlo"/>
                <a:cs typeface="Menlo"/>
              </a:defRPr>
            </a:pPr>
            <a:r>
              <a:rPr sz="750" b="1" i="0">
                <a:solidFill>
                  <a:srgbClr val="FFFDF8"/>
                </a:solidFill>
                <a:latin typeface="Menlo"/>
                <a:ea typeface="Menlo"/>
                <a:cs typeface="Menlo"/>
              </a:rPr>
              <a:t>01  HOOK  0–2.5s</a:t>
            </a:r>
          </a:p>
        </p:txBody>
      </p:sp>
      <p:sp>
        <p:nvSpPr>
          <p:cNvPr id="6" name="">
            <a:extLst xmlns:a="http://schemas.openxmlformats.org/drawingml/2006/main">
              <a:ext uri="{FF2B5EF4-FFF2-40B4-BE49-F238E27FC236}">
                <a16:creationId xmlns:a16="http://schemas.microsoft.com/office/drawing/2014/main" id="{DDE003D8-E5B1-4BED-9720-EC21F2DE870C}"/>
              </a:ext>
            </a:extLst>
          </p:cNvPr>
          <p:cNvSpPr>
            <a:spLocks xmlns:a="http://schemas.openxmlformats.org/drawingml/2006/main" noGrp="1"/>
          </p:cNvSpPr>
          <p:nvPr/>
        </p:nvSpPr>
        <p:spPr>
          <a:xfrm xmlns:a="http://schemas.openxmlformats.org/drawingml/2006/main">
            <a:off x="4514850" y="2095500"/>
            <a:ext cx="2324100" cy="266700"/>
          </a:xfrm>
          <a:prstGeom xmlns:a="http://schemas.openxmlformats.org/drawingml/2006/main" prst="roundRect">
            <a:avLst>
              <a:gd name="adj" fmla="val 28571"/>
            </a:avLst>
          </a:prstGeom>
          <a:solidFill xmlns:a="http://schemas.openxmlformats.org/drawingml/2006/main">
            <a:srgbClr val="2B241A"/>
          </a:solidFill>
          <a:ln xmlns:a="http://schemas.openxmlformats.org/drawingml/2006/main" w="14288">
            <a:solidFill>
              <a:srgbClr val="2B241A"/>
            </a:solidFill>
          </a:ln>
        </p:spPr>
      </p:sp>
      <p:sp>
        <p:nvSpPr>
          <p:cNvPr id="7" name="">
            <a:extLst xmlns:a="http://schemas.openxmlformats.org/drawingml/2006/main">
              <a:ext uri="{FF2B5EF4-FFF2-40B4-BE49-F238E27FC236}">
                <a16:creationId xmlns:a16="http://schemas.microsoft.com/office/drawing/2014/main" id="{5C842F79-F06E-4EB8-B3DA-770F559E0B3D}"/>
              </a:ext>
            </a:extLst>
          </p:cNvPr>
          <p:cNvSpPr>
            <a:spLocks xmlns:a="http://schemas.openxmlformats.org/drawingml/2006/main" noGrp="1"/>
          </p:cNvSpPr>
          <p:nvPr/>
        </p:nvSpPr>
        <p:spPr>
          <a:xfrm xmlns:a="http://schemas.openxmlformats.org/drawingml/2006/main">
            <a:off x="4514850" y="2095500"/>
            <a:ext cx="2324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750" b="1" i="0">
                <a:solidFill>
                  <a:srgbClr val="FFFDF8"/>
                </a:solidFill>
                <a:latin typeface="Menlo"/>
                <a:ea typeface="Menlo"/>
                <a:cs typeface="Menlo"/>
              </a:defRPr>
            </a:pPr>
            <a:r>
              <a:rPr sz="750" b="1" i="0">
                <a:solidFill>
                  <a:srgbClr val="FFFDF8"/>
                </a:solidFill>
                <a:latin typeface="Menlo"/>
                <a:ea typeface="Menlo"/>
                <a:cs typeface="Menlo"/>
              </a:rPr>
              <a:t>02  </a:t>
            </a:r>
            <a:r>
              <a:rPr sz="750" b="1" i="0">
                <a:solidFill>
                  <a:srgbClr val="FFFDF8"/>
                </a:solidFill>
                <a:latin typeface="Menlo"/>
                <a:ea typeface="Menlo"/>
                <a:cs typeface="Menlo"/>
              </a:rPr>
              <a:t>PRODUCT SET</a:t>
            </a:r>
            <a:r>
              <a:rPr sz="750" b="1" i="0">
                <a:solidFill>
                  <a:srgbClr val="FFFDF8"/>
                </a:solidFill>
                <a:latin typeface="Menlo"/>
                <a:ea typeface="Menlo"/>
                <a:cs typeface="Menlo"/>
              </a:rPr>
              <a:t>  2.5–5.2s</a:t>
            </a:r>
          </a:p>
        </p:txBody>
      </p:sp>
      <p:sp>
        <p:nvSpPr>
          <p:cNvPr id="8" name="">
            <a:extLst xmlns:a="http://schemas.openxmlformats.org/drawingml/2006/main">
              <a:ext uri="{FF2B5EF4-FFF2-40B4-BE49-F238E27FC236}">
                <a16:creationId xmlns:a16="http://schemas.microsoft.com/office/drawing/2014/main" id="{D4271671-8EAE-41A3-8C4D-EA36638AFCE6}"/>
              </a:ext>
            </a:extLst>
          </p:cNvPr>
          <p:cNvSpPr>
            <a:spLocks xmlns:a="http://schemas.openxmlformats.org/drawingml/2006/main" noGrp="1"/>
          </p:cNvSpPr>
          <p:nvPr/>
        </p:nvSpPr>
        <p:spPr>
          <a:xfrm xmlns:a="http://schemas.openxmlformats.org/drawingml/2006/main">
            <a:off x="8191500" y="2095500"/>
            <a:ext cx="2324100" cy="266700"/>
          </a:xfrm>
          <a:prstGeom xmlns:a="http://schemas.openxmlformats.org/drawingml/2006/main" prst="roundRect">
            <a:avLst>
              <a:gd name="adj" fmla="val 28571"/>
            </a:avLst>
          </a:prstGeom>
          <a:solidFill xmlns:a="http://schemas.openxmlformats.org/drawingml/2006/main">
            <a:srgbClr val="2B241A"/>
          </a:solidFill>
          <a:ln xmlns:a="http://schemas.openxmlformats.org/drawingml/2006/main" w="14288">
            <a:solidFill>
              <a:srgbClr val="2B241A"/>
            </a:solidFill>
          </a:ln>
        </p:spPr>
      </p:sp>
      <p:sp>
        <p:nvSpPr>
          <p:cNvPr id="9" name="">
            <a:extLst xmlns:a="http://schemas.openxmlformats.org/drawingml/2006/main">
              <a:ext uri="{FF2B5EF4-FFF2-40B4-BE49-F238E27FC236}">
                <a16:creationId xmlns:a16="http://schemas.microsoft.com/office/drawing/2014/main" id="{2B8FE8D5-5FE5-46EF-989E-DD41417686AD}"/>
              </a:ext>
            </a:extLst>
          </p:cNvPr>
          <p:cNvSpPr>
            <a:spLocks xmlns:a="http://schemas.openxmlformats.org/drawingml/2006/main" noGrp="1"/>
          </p:cNvSpPr>
          <p:nvPr/>
        </p:nvSpPr>
        <p:spPr>
          <a:xfrm xmlns:a="http://schemas.openxmlformats.org/drawingml/2006/main">
            <a:off x="8191500" y="2095500"/>
            <a:ext cx="2324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750" b="1" i="0">
                <a:solidFill>
                  <a:srgbClr val="FFFDF8"/>
                </a:solidFill>
                <a:latin typeface="Menlo"/>
                <a:ea typeface="Menlo"/>
                <a:cs typeface="Menlo"/>
              </a:defRPr>
            </a:pPr>
            <a:r>
              <a:rPr sz="750" b="1" i="0">
                <a:solidFill>
                  <a:srgbClr val="FFFDF8"/>
                </a:solidFill>
                <a:latin typeface="Menlo"/>
                <a:ea typeface="Menlo"/>
                <a:cs typeface="Menlo"/>
              </a:rPr>
              <a:t>03  PAYOFF  5.2–8s</a:t>
            </a:r>
          </a:p>
        </p:txBody>
      </p:sp>
      <p:sp>
        <p:nvSpPr>
          <p:cNvPr id="10" name="">
            <a:extLst xmlns:a="http://schemas.openxmlformats.org/drawingml/2006/main">
              <a:ext uri="{FF2B5EF4-FFF2-40B4-BE49-F238E27FC236}">
                <a16:creationId xmlns:a16="http://schemas.microsoft.com/office/drawing/2014/main" id="{3E9DCEE2-CF5F-4790-A02E-50CAD651D5C1}"/>
              </a:ext>
            </a:extLst>
          </p:cNvPr>
          <p:cNvSpPr>
            <a:spLocks xmlns:a="http://schemas.openxmlformats.org/drawingml/2006/main" noGrp="1"/>
          </p:cNvSpPr>
          <p:nvPr/>
        </p:nvSpPr>
        <p:spPr>
          <a:xfrm xmlns:a="http://schemas.openxmlformats.org/drawingml/2006/main">
            <a:off x="723900" y="4743450"/>
            <a:ext cx="10744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00" b="1" i="0">
                <a:solidFill>
                  <a:srgbClr val="2B241A"/>
                </a:solidFill>
                <a:latin typeface="Georgia"/>
                <a:ea typeface="Georgia"/>
                <a:cs typeface="Georgia"/>
              </a:defRPr>
            </a:pPr>
            <a:r>
              <a:rPr sz="1800" b="1" i="0">
                <a:solidFill>
                  <a:srgbClr val="2B241A"/>
                </a:solidFill>
                <a:latin typeface="Georgia"/>
                <a:ea typeface="Georgia"/>
                <a:cs typeface="Georgia"/>
              </a:rPr>
              <a:t>Detail earns attention · product provides information · collection lands the promise</a:t>
            </a:r>
          </a:p>
        </p:txBody>
      </p:sp>
    </p:spTree>
    <p:extLst>
      <p:ext uri="{BB962C8B-B14F-4D97-AF65-F5344CB8AC3E}">
        <p14:creationId xmlns:p14="http://schemas.microsoft.com/office/powerpoint/2010/main" val="957516323"/>
      </p:ext>
    </p:extLst>
  </p:cSld>
</p:sld>
</file>

<file path=ppt/slides/slide13.xml><?xml version="1.0" encoding="utf-8"?>
<p:sld xmlns:p="http://schemas.openxmlformats.org/presentationml/2006/main">
  <p:cSld>
    <p:bg>
      <p:bgPr>
        <a:solidFill xmlns:a="http://schemas.openxmlformats.org/drawingml/2006/main">
          <a:srgbClr val="F5EDDD"/>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432AF81-96EC-446B-B396-C1C6E1E64AF9}"/>
              </a:ext>
            </a:extLst>
          </p:cNvPr>
          <p:cNvSpPr>
            <a:spLocks xmlns:a="http://schemas.openxmlformats.org/drawingml/2006/main" noGrp="1"/>
          </p:cNvSpPr>
          <p:nvPr/>
        </p:nvSpPr>
        <p:spPr>
          <a:xfrm xmlns:a="http://schemas.openxmlformats.org/drawingml/2006/main">
            <a:off x="723900" y="514350"/>
            <a:ext cx="10744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3000" b="1" i="0">
                <a:solidFill>
                  <a:srgbClr val="2B241A"/>
                </a:solidFill>
                <a:latin typeface="Georgia"/>
                <a:ea typeface="Georgia"/>
                <a:cs typeface="Georgia"/>
              </a:defRPr>
            </a:pPr>
            <a:r>
              <a:rPr sz="3000" b="1" i="0">
                <a:solidFill>
                  <a:srgbClr val="2B241A"/>
                </a:solidFill>
                <a:latin typeface="Georgia"/>
                <a:ea typeface="Georgia"/>
                <a:cs typeface="Georgia"/>
              </a:rPr>
              <a:t>Build 5: replace the three scenes</a:t>
            </a:r>
          </a:p>
        </p:txBody>
      </p:sp>
      <p:sp>
        <p:nvSpPr>
          <p:cNvPr id="2" name="">
            <a:extLst xmlns:a="http://schemas.openxmlformats.org/drawingml/2006/main">
              <a:ext uri="{FF2B5EF4-FFF2-40B4-BE49-F238E27FC236}">
                <a16:creationId xmlns:a16="http://schemas.microsoft.com/office/drawing/2014/main" id="{EEFA5602-3457-4085-9607-BBEC4F5E3DE7}"/>
              </a:ext>
            </a:extLst>
          </p:cNvPr>
          <p:cNvSpPr>
            <a:spLocks xmlns:a="http://schemas.openxmlformats.org/drawingml/2006/main" noGrp="1"/>
          </p:cNvSpPr>
          <p:nvPr/>
        </p:nvSpPr>
        <p:spPr>
          <a:xfrm xmlns:a="http://schemas.openxmlformats.org/drawingml/2006/main">
            <a:off x="742950" y="1257300"/>
            <a:ext cx="1000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i="0">
                <a:solidFill>
                  <a:srgbClr val="6A6054"/>
                </a:solidFill>
                <a:latin typeface="Avenir Next"/>
                <a:ea typeface="Avenir Next"/>
                <a:cs typeface="Avenir Next"/>
              </a:defRPr>
            </a:pPr>
            <a:r>
              <a:rPr sz="1350" b="0" i="0">
                <a:solidFill>
                  <a:srgbClr val="6A6054"/>
                </a:solidFill>
                <a:latin typeface="Avenir Next"/>
                <a:ea typeface="Avenir Next"/>
                <a:cs typeface="Avenir Next"/>
              </a:rPr>
              <a:t>Use Flow, a free editor, or the prepared 9:16 loop</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7eb9e14e81ff440a"/>
          <a:srcRect xmlns:a="http://schemas.openxmlformats.org/drawingml/2006/main" l="0" t="24232" r="0" b="24232"/>
          <a:stretch xmlns:a="http://schemas.openxmlformats.org/drawingml/2006/main">
            <a:fillRect l="0" t="0" r="0" b="0"/>
          </a:stretch>
        </p:blipFill>
        <p:spPr>
          <a:xfrm xmlns:a="http://schemas.openxmlformats.org/drawingml/2006/main">
            <a:off x="723900" y="1771650"/>
            <a:ext cx="10744200" cy="2076450"/>
          </a:xfrm>
          <a:prstGeom xmlns:a="http://schemas.openxmlformats.org/drawingml/2006/main" prst="roundRect">
            <a:avLst>
              <a:gd name="adj" fmla="val 5505"/>
            </a:avLst>
          </a:prstGeom>
        </p:spPr>
      </p:pic>
      <p:sp>
        <p:nvSpPr>
          <p:cNvPr id="4" name="">
            <a:extLst xmlns:a="http://schemas.openxmlformats.org/drawingml/2006/main">
              <a:ext uri="{FF2B5EF4-FFF2-40B4-BE49-F238E27FC236}">
                <a16:creationId xmlns:a16="http://schemas.microsoft.com/office/drawing/2014/main" id="{99F839B6-B581-438B-9D71-E0ED4845196E}"/>
              </a:ext>
            </a:extLst>
          </p:cNvPr>
          <p:cNvSpPr>
            <a:spLocks xmlns:a="http://schemas.openxmlformats.org/drawingml/2006/main" noGrp="1"/>
          </p:cNvSpPr>
          <p:nvPr/>
        </p:nvSpPr>
        <p:spPr>
          <a:xfrm xmlns:a="http://schemas.openxmlformats.org/drawingml/2006/main">
            <a:off x="723900" y="4114800"/>
            <a:ext cx="10744200" cy="1162050"/>
          </a:xfrm>
          <a:prstGeom xmlns:a="http://schemas.openxmlformats.org/drawingml/2006/main" prst="roundRect">
            <a:avLst>
              <a:gd name="adj" fmla="val 6557"/>
            </a:avLst>
          </a:prstGeom>
          <a:solidFill xmlns:a="http://schemas.openxmlformats.org/drawingml/2006/main">
            <a:srgbClr val="2B241A"/>
          </a:solidFill>
          <a:ln xmlns:a="http://schemas.openxmlformats.org/drawingml/2006/main" w="14288">
            <a:solidFill>
              <a:srgbClr val="2B241A"/>
            </a:solidFill>
          </a:ln>
        </p:spPr>
      </p:sp>
      <p:sp>
        <p:nvSpPr>
          <p:cNvPr id="5" name="">
            <a:extLst xmlns:a="http://schemas.openxmlformats.org/drawingml/2006/main">
              <a:ext uri="{FF2B5EF4-FFF2-40B4-BE49-F238E27FC236}">
                <a16:creationId xmlns:a16="http://schemas.microsoft.com/office/drawing/2014/main" id="{21140C47-8DE8-44B6-8F90-933F53476A4E}"/>
              </a:ext>
            </a:extLst>
          </p:cNvPr>
          <p:cNvSpPr>
            <a:spLocks xmlns:a="http://schemas.openxmlformats.org/drawingml/2006/main" noGrp="1"/>
          </p:cNvSpPr>
          <p:nvPr/>
        </p:nvSpPr>
        <p:spPr>
          <a:xfrm xmlns:a="http://schemas.openxmlformats.org/drawingml/2006/main">
            <a:off x="1009650" y="4248150"/>
            <a:ext cx="101727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0" i="0">
                <a:solidFill>
                  <a:srgbClr val="FFFDF8"/>
                </a:solidFill>
                <a:latin typeface="Menlo"/>
                <a:ea typeface="Menlo"/>
                <a:cs typeface="Menlo"/>
              </a:defRPr>
            </a:pPr>
            <a:r>
              <a:rPr sz="1200" b="0" i="0">
                <a:solidFill>
                  <a:srgbClr val="FFFDF8"/>
                </a:solidFill>
                <a:latin typeface="Menlo"/>
                <a:ea typeface="Menlo"/>
                <a:cs typeface="Menlo"/>
              </a:rPr>
              <a:t>Read STORE-KIT.md. Use product-family.png and the chosen social image. Create a silent 1080 × 1920 sequence lasting 6–8 seconds: hook, product, payoff. Use the approved lines and exact product name and price. Do not add products, claims, spinning objects, or extra scenes.</a:t>
            </a:r>
          </a:p>
        </p:txBody>
      </p:sp>
      <p:sp>
        <p:nvSpPr>
          <p:cNvPr id="6" name="">
            <a:extLst xmlns:a="http://schemas.openxmlformats.org/drawingml/2006/main">
              <a:ext uri="{FF2B5EF4-FFF2-40B4-BE49-F238E27FC236}">
                <a16:creationId xmlns:a16="http://schemas.microsoft.com/office/drawing/2014/main" id="{8F7D0097-37EB-4E40-B856-B03C91AF0589}"/>
              </a:ext>
            </a:extLst>
          </p:cNvPr>
          <p:cNvSpPr>
            <a:spLocks xmlns:a="http://schemas.openxmlformats.org/drawingml/2006/main" noGrp="1"/>
          </p:cNvSpPr>
          <p:nvPr/>
        </p:nvSpPr>
        <p:spPr>
          <a:xfrm xmlns:a="http://schemas.openxmlformats.org/drawingml/2006/main">
            <a:off x="723900" y="5857875"/>
            <a:ext cx="142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050" b="1" i="0">
                <a:solidFill>
                  <a:srgbClr val="6A6054"/>
                </a:solidFill>
                <a:latin typeface="Menlo"/>
                <a:ea typeface="Menlo"/>
                <a:cs typeface="Menlo"/>
              </a:defRPr>
            </a:pPr>
            <a:r>
              <a:rPr sz="1050" b="1" i="0">
                <a:solidFill>
                  <a:srgbClr val="6A6054"/>
                </a:solidFill>
                <a:latin typeface="Menlo"/>
                <a:ea typeface="Menlo"/>
                <a:cs typeface="Menlo"/>
              </a:rPr>
              <a:t>12 MINUTES</a:t>
            </a:r>
          </a:p>
        </p:txBody>
      </p:sp>
      <p:sp>
        <p:nvSpPr>
          <p:cNvPr id="7" name="">
            <a:extLst xmlns:a="http://schemas.openxmlformats.org/drawingml/2006/main">
              <a:ext uri="{FF2B5EF4-FFF2-40B4-BE49-F238E27FC236}">
                <a16:creationId xmlns:a16="http://schemas.microsoft.com/office/drawing/2014/main" id="{5AE217A0-1AC7-4AFE-92DD-6758614D3818}"/>
              </a:ext>
            </a:extLst>
          </p:cNvPr>
          <p:cNvSpPr>
            <a:spLocks xmlns:a="http://schemas.openxmlformats.org/drawingml/2006/main" noGrp="1"/>
          </p:cNvSpPr>
          <p:nvPr/>
        </p:nvSpPr>
        <p:spPr>
          <a:xfrm xmlns:a="http://schemas.openxmlformats.org/drawingml/2006/main">
            <a:off x="2428875" y="5857875"/>
            <a:ext cx="2381250" cy="304800"/>
          </a:xfrm>
          <a:prstGeom xmlns:a="http://schemas.openxmlformats.org/drawingml/2006/main" prst="roundRect">
            <a:avLst>
              <a:gd name="adj" fmla="val 25000"/>
            </a:avLst>
          </a:prstGeom>
          <a:solidFill xmlns:a="http://schemas.openxmlformats.org/drawingml/2006/main">
            <a:srgbClr val="C8DCE8"/>
          </a:solidFill>
          <a:ln xmlns:a="http://schemas.openxmlformats.org/drawingml/2006/main" w="14288">
            <a:solidFill>
              <a:srgbClr val="C8DCE8"/>
            </a:solidFill>
          </a:ln>
        </p:spPr>
      </p:sp>
      <p:sp>
        <p:nvSpPr>
          <p:cNvPr id="8" name="">
            <a:extLst xmlns:a="http://schemas.openxmlformats.org/drawingml/2006/main">
              <a:ext uri="{FF2B5EF4-FFF2-40B4-BE49-F238E27FC236}">
                <a16:creationId xmlns:a16="http://schemas.microsoft.com/office/drawing/2014/main" id="{4A2AC720-A197-40EF-A5B9-9D06843F28FF}"/>
              </a:ext>
            </a:extLst>
          </p:cNvPr>
          <p:cNvSpPr>
            <a:spLocks xmlns:a="http://schemas.openxmlformats.org/drawingml/2006/main" noGrp="1"/>
          </p:cNvSpPr>
          <p:nvPr/>
        </p:nvSpPr>
        <p:spPr>
          <a:xfrm xmlns:a="http://schemas.openxmlformats.org/drawingml/2006/main">
            <a:off x="2428875" y="5857875"/>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975" b="1" i="0">
                <a:solidFill>
                  <a:srgbClr val="2B241A"/>
                </a:solidFill>
                <a:latin typeface="Menlo"/>
                <a:ea typeface="Menlo"/>
                <a:cs typeface="Menlo"/>
              </a:defRPr>
            </a:pPr>
            <a:r>
              <a:rPr sz="975" b="1" i="0">
                <a:solidFill>
                  <a:srgbClr val="2B241A"/>
                </a:solidFill>
                <a:latin typeface="Menlo"/>
                <a:ea typeface="Menlo"/>
                <a:cs typeface="Menlo"/>
              </a:rPr>
              <a:t>WATCH 2 MIN</a:t>
            </a:r>
          </a:p>
        </p:txBody>
      </p:sp>
      <p:sp>
        <p:nvSpPr>
          <p:cNvPr id="9" name="">
            <a:extLst xmlns:a="http://schemas.openxmlformats.org/drawingml/2006/main">
              <a:ext uri="{FF2B5EF4-FFF2-40B4-BE49-F238E27FC236}">
                <a16:creationId xmlns:a16="http://schemas.microsoft.com/office/drawing/2014/main" id="{E449B2D0-0EF6-40E5-8331-5CF8B6EAF563}"/>
              </a:ext>
            </a:extLst>
          </p:cNvPr>
          <p:cNvSpPr>
            <a:spLocks xmlns:a="http://schemas.openxmlformats.org/drawingml/2006/main" noGrp="1"/>
          </p:cNvSpPr>
          <p:nvPr/>
        </p:nvSpPr>
        <p:spPr>
          <a:xfrm xmlns:a="http://schemas.openxmlformats.org/drawingml/2006/main">
            <a:off x="5000625" y="5857875"/>
            <a:ext cx="2381250" cy="304800"/>
          </a:xfrm>
          <a:prstGeom xmlns:a="http://schemas.openxmlformats.org/drawingml/2006/main" prst="roundRect">
            <a:avLst>
              <a:gd name="adj" fmla="val 25000"/>
            </a:avLst>
          </a:prstGeom>
          <a:solidFill xmlns:a="http://schemas.openxmlformats.org/drawingml/2006/main">
            <a:srgbClr val="BDD4BD"/>
          </a:solidFill>
          <a:ln xmlns:a="http://schemas.openxmlformats.org/drawingml/2006/main" w="14288">
            <a:solidFill>
              <a:srgbClr val="BDD4BD"/>
            </a:solidFill>
          </a:ln>
        </p:spPr>
      </p:sp>
      <p:sp>
        <p:nvSpPr>
          <p:cNvPr id="10" name="">
            <a:extLst xmlns:a="http://schemas.openxmlformats.org/drawingml/2006/main">
              <a:ext uri="{FF2B5EF4-FFF2-40B4-BE49-F238E27FC236}">
                <a16:creationId xmlns:a16="http://schemas.microsoft.com/office/drawing/2014/main" id="{319CCE9A-143E-498F-946E-F2DA293B0D96}"/>
              </a:ext>
            </a:extLst>
          </p:cNvPr>
          <p:cNvSpPr>
            <a:spLocks xmlns:a="http://schemas.openxmlformats.org/drawingml/2006/main" noGrp="1"/>
          </p:cNvSpPr>
          <p:nvPr/>
        </p:nvSpPr>
        <p:spPr>
          <a:xfrm xmlns:a="http://schemas.openxmlformats.org/drawingml/2006/main">
            <a:off x="5000625" y="5857875"/>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975" b="1" i="0">
                <a:solidFill>
                  <a:srgbClr val="2B241A"/>
                </a:solidFill>
                <a:latin typeface="Menlo"/>
                <a:ea typeface="Menlo"/>
                <a:cs typeface="Menlo"/>
              </a:defRPr>
            </a:pPr>
            <a:r>
              <a:rPr sz="975" b="1" i="0">
                <a:solidFill>
                  <a:srgbClr val="2B241A"/>
                </a:solidFill>
                <a:latin typeface="Menlo"/>
                <a:ea typeface="Menlo"/>
                <a:cs typeface="Menlo"/>
              </a:rPr>
              <a:t>BUILD 8 MIN</a:t>
            </a:r>
          </a:p>
        </p:txBody>
      </p:sp>
      <p:sp>
        <p:nvSpPr>
          <p:cNvPr id="11" name="">
            <a:extLst xmlns:a="http://schemas.openxmlformats.org/drawingml/2006/main">
              <a:ext uri="{FF2B5EF4-FFF2-40B4-BE49-F238E27FC236}">
                <a16:creationId xmlns:a16="http://schemas.microsoft.com/office/drawing/2014/main" id="{9B8B371A-DB13-4C9F-B7B4-6547E01CB225}"/>
              </a:ext>
            </a:extLst>
          </p:cNvPr>
          <p:cNvSpPr>
            <a:spLocks xmlns:a="http://schemas.openxmlformats.org/drawingml/2006/main" noGrp="1"/>
          </p:cNvSpPr>
          <p:nvPr/>
        </p:nvSpPr>
        <p:spPr>
          <a:xfrm xmlns:a="http://schemas.openxmlformats.org/drawingml/2006/main">
            <a:off x="7572375" y="5857875"/>
            <a:ext cx="2381250" cy="304800"/>
          </a:xfrm>
          <a:prstGeom xmlns:a="http://schemas.openxmlformats.org/drawingml/2006/main" prst="roundRect">
            <a:avLst>
              <a:gd name="adj" fmla="val 25000"/>
            </a:avLst>
          </a:prstGeom>
          <a:solidFill xmlns:a="http://schemas.openxmlformats.org/drawingml/2006/main">
            <a:srgbClr val="EEC7C2"/>
          </a:solidFill>
          <a:ln xmlns:a="http://schemas.openxmlformats.org/drawingml/2006/main" w="14288">
            <a:solidFill>
              <a:srgbClr val="EEC7C2"/>
            </a:solidFill>
          </a:ln>
        </p:spPr>
      </p:sp>
      <p:sp>
        <p:nvSpPr>
          <p:cNvPr id="12" name="">
            <a:extLst xmlns:a="http://schemas.openxmlformats.org/drawingml/2006/main">
              <a:ext uri="{FF2B5EF4-FFF2-40B4-BE49-F238E27FC236}">
                <a16:creationId xmlns:a16="http://schemas.microsoft.com/office/drawing/2014/main" id="{E7A986D3-EEF9-476F-A4CA-65628B82FCF0}"/>
              </a:ext>
            </a:extLst>
          </p:cNvPr>
          <p:cNvSpPr>
            <a:spLocks xmlns:a="http://schemas.openxmlformats.org/drawingml/2006/main" noGrp="1"/>
          </p:cNvSpPr>
          <p:nvPr/>
        </p:nvSpPr>
        <p:spPr>
          <a:xfrm xmlns:a="http://schemas.openxmlformats.org/drawingml/2006/main">
            <a:off x="7572375" y="5857875"/>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975" b="1" i="0">
                <a:solidFill>
                  <a:srgbClr val="2B241A"/>
                </a:solidFill>
                <a:latin typeface="Menlo"/>
                <a:ea typeface="Menlo"/>
                <a:cs typeface="Menlo"/>
              </a:defRPr>
            </a:pPr>
            <a:r>
              <a:rPr sz="975" b="1" i="0">
                <a:solidFill>
                  <a:srgbClr val="2B241A"/>
                </a:solidFill>
                <a:latin typeface="Menlo"/>
                <a:ea typeface="Menlo"/>
                <a:cs typeface="Menlo"/>
              </a:rPr>
              <a:t>CHECK 2 MIN</a:t>
            </a:r>
          </a:p>
        </p:txBody>
      </p:sp>
    </p:spTree>
    <p:extLst>
      <p:ext uri="{BB962C8B-B14F-4D97-AF65-F5344CB8AC3E}">
        <p14:creationId xmlns:p14="http://schemas.microsoft.com/office/powerpoint/2010/main" val="1512905017"/>
      </p:ext>
    </p:extLst>
  </p:cSld>
</p:sld>
</file>

<file path=ppt/slides/slide14.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780D7DF8-28C7-4B4B-9441-FD9FF98F2149}"/>
              </a:ext>
            </a:extLst>
          </p:cNvPr>
          <p:cNvSpPr>
            <a:spLocks xmlns:a="http://schemas.openxmlformats.org/drawingml/2006/main" noGrp="1"/>
          </p:cNvSpPr>
          <p:nvPr/>
        </p:nvSpPr>
        <p:spPr>
          <a:xfrm xmlns:a="http://schemas.openxmlformats.org/drawingml/2006/main">
            <a:off x="723900" y="514350"/>
            <a:ext cx="10744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3000" b="1" i="0">
                <a:solidFill>
                  <a:srgbClr val="2B241A"/>
                </a:solidFill>
                <a:latin typeface="Georgia"/>
                <a:ea typeface="Georgia"/>
                <a:cs typeface="Georgia"/>
              </a:defRPr>
            </a:pPr>
            <a:r>
              <a:rPr sz="3000" b="1" i="0">
                <a:solidFill>
                  <a:srgbClr val="2B241A"/>
                </a:solidFill>
                <a:latin typeface="Georgia"/>
                <a:ea typeface="Georgia"/>
                <a:cs typeface="Georgia"/>
              </a:rPr>
              <a:t>Check the system, then repair one mismatch</a:t>
            </a:r>
          </a:p>
        </p:txBody>
      </p:sp>
      <p:sp>
        <p:nvSpPr>
          <p:cNvPr id="2" name="">
            <a:extLst xmlns:a="http://schemas.openxmlformats.org/drawingml/2006/main">
              <a:ext uri="{FF2B5EF4-FFF2-40B4-BE49-F238E27FC236}">
                <a16:creationId xmlns:a16="http://schemas.microsoft.com/office/drawing/2014/main" id="{CB03543B-F427-45FF-BC26-32985D6B874F}"/>
              </a:ext>
            </a:extLst>
          </p:cNvPr>
          <p:cNvSpPr>
            <a:spLocks xmlns:a="http://schemas.openxmlformats.org/drawingml/2006/main" noGrp="1"/>
          </p:cNvSpPr>
          <p:nvPr/>
        </p:nvSpPr>
        <p:spPr>
          <a:xfrm xmlns:a="http://schemas.openxmlformats.org/drawingml/2006/main">
            <a:off x="742950" y="1257300"/>
            <a:ext cx="1000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i="0">
                <a:solidFill>
                  <a:srgbClr val="6A6054"/>
                </a:solidFill>
                <a:latin typeface="Avenir Next"/>
                <a:ea typeface="Avenir Next"/>
                <a:cs typeface="Avenir Next"/>
              </a:defRPr>
            </a:pPr>
            <a:r>
              <a:rPr sz="1350" b="0" i="0">
                <a:solidFill>
                  <a:srgbClr val="6A6054"/>
                </a:solidFill>
                <a:latin typeface="Avenir Next"/>
                <a:ea typeface="Avenir Next"/>
                <a:cs typeface="Avenir Next"/>
              </a:rPr>
              <a:t>Compare every artifact with STORE-KIT.md and product-family.png</a:t>
            </a:r>
          </a:p>
        </p:txBody>
      </p:sp>
      <p:sp>
        <p:nvSpPr>
          <p:cNvPr id="3" name="">
            <a:extLst xmlns:a="http://schemas.openxmlformats.org/drawingml/2006/main">
              <a:ext uri="{FF2B5EF4-FFF2-40B4-BE49-F238E27FC236}">
                <a16:creationId xmlns:a16="http://schemas.microsoft.com/office/drawing/2014/main" id="{2EDBCF28-709E-4D48-B2DE-CE83DF077C32}"/>
              </a:ext>
            </a:extLst>
          </p:cNvPr>
          <p:cNvSpPr>
            <a:spLocks xmlns:a="http://schemas.openxmlformats.org/drawingml/2006/main" noGrp="1"/>
          </p:cNvSpPr>
          <p:nvPr/>
        </p:nvSpPr>
        <p:spPr>
          <a:xfrm xmlns:a="http://schemas.openxmlformats.org/drawingml/2006/main">
            <a:off x="819150" y="1828800"/>
            <a:ext cx="400050" cy="400050"/>
          </a:xfrm>
          <a:prstGeom xmlns:a="http://schemas.openxmlformats.org/drawingml/2006/main" prst="roundRect">
            <a:avLst>
              <a:gd name="adj" fmla="val 19048"/>
            </a:avLst>
          </a:prstGeom>
          <a:solidFill xmlns:a="http://schemas.openxmlformats.org/drawingml/2006/main">
            <a:srgbClr val="315E82"/>
          </a:solidFill>
          <a:ln xmlns:a="http://schemas.openxmlformats.org/drawingml/2006/main" w="14288">
            <a:solidFill>
              <a:srgbClr val="315E82"/>
            </a:solidFill>
          </a:ln>
        </p:spPr>
      </p:sp>
      <p:sp>
        <p:nvSpPr>
          <p:cNvPr id="4" name="">
            <a:extLst xmlns:a="http://schemas.openxmlformats.org/drawingml/2006/main">
              <a:ext uri="{FF2B5EF4-FFF2-40B4-BE49-F238E27FC236}">
                <a16:creationId xmlns:a16="http://schemas.microsoft.com/office/drawing/2014/main" id="{E761B43D-C424-49E3-974C-53997DFBF27B}"/>
              </a:ext>
            </a:extLst>
          </p:cNvPr>
          <p:cNvSpPr>
            <a:spLocks xmlns:a="http://schemas.openxmlformats.org/drawingml/2006/main" noGrp="1"/>
          </p:cNvSpPr>
          <p:nvPr/>
        </p:nvSpPr>
        <p:spPr>
          <a:xfrm xmlns:a="http://schemas.openxmlformats.org/drawingml/2006/main">
            <a:off x="819150" y="181927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1" i="0">
                <a:solidFill>
                  <a:srgbClr val="FFFDF8"/>
                </a:solidFill>
                <a:latin typeface="Menlo"/>
                <a:ea typeface="Menlo"/>
                <a:cs typeface="Menlo"/>
              </a:defRPr>
            </a:pPr>
            <a:r>
              <a:rPr sz="1200" b="1" i="0">
                <a:solidFill>
                  <a:srgbClr val="FFFDF8"/>
                </a:solidFill>
                <a:latin typeface="Menlo"/>
                <a:ea typeface="Menlo"/>
                <a:cs typeface="Menlo"/>
              </a:rPr>
              <a:t>1</a:t>
            </a:r>
          </a:p>
        </p:txBody>
      </p:sp>
      <p:sp>
        <p:nvSpPr>
          <p:cNvPr id="5" name="">
            <a:extLst xmlns:a="http://schemas.openxmlformats.org/drawingml/2006/main">
              <a:ext uri="{FF2B5EF4-FFF2-40B4-BE49-F238E27FC236}">
                <a16:creationId xmlns:a16="http://schemas.microsoft.com/office/drawing/2014/main" id="{413D182A-F930-496C-BC44-BD96170E1BDD}"/>
              </a:ext>
            </a:extLst>
          </p:cNvPr>
          <p:cNvSpPr>
            <a:spLocks xmlns:a="http://schemas.openxmlformats.org/drawingml/2006/main" noGrp="1"/>
          </p:cNvSpPr>
          <p:nvPr/>
        </p:nvSpPr>
        <p:spPr>
          <a:xfrm xmlns:a="http://schemas.openxmlformats.org/drawingml/2006/main">
            <a:off x="1428750" y="1790700"/>
            <a:ext cx="180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050" b="1" i="0">
                <a:solidFill>
                  <a:srgbClr val="315E82"/>
                </a:solidFill>
                <a:latin typeface="Menlo"/>
                <a:ea typeface="Menlo"/>
                <a:cs typeface="Menlo"/>
              </a:defRPr>
            </a:pPr>
            <a:r>
              <a:rPr sz="1050" b="1" i="0">
                <a:solidFill>
                  <a:srgbClr val="315E82"/>
                </a:solidFill>
                <a:latin typeface="Menlo"/>
                <a:ea typeface="Menlo"/>
                <a:cs typeface="Menlo"/>
              </a:rPr>
              <a:t>PROMISE</a:t>
            </a:r>
          </a:p>
        </p:txBody>
      </p:sp>
      <p:sp>
        <p:nvSpPr>
          <p:cNvPr id="6" name="">
            <a:extLst xmlns:a="http://schemas.openxmlformats.org/drawingml/2006/main">
              <a:ext uri="{FF2B5EF4-FFF2-40B4-BE49-F238E27FC236}">
                <a16:creationId xmlns:a16="http://schemas.microsoft.com/office/drawing/2014/main" id="{9F07C5FF-20CF-4BE6-8879-346A5DA4FFE9}"/>
              </a:ext>
            </a:extLst>
          </p:cNvPr>
          <p:cNvSpPr>
            <a:spLocks xmlns:a="http://schemas.openxmlformats.org/drawingml/2006/main" noGrp="1"/>
          </p:cNvSpPr>
          <p:nvPr/>
        </p:nvSpPr>
        <p:spPr>
          <a:xfrm xmlns:a="http://schemas.openxmlformats.org/drawingml/2006/main">
            <a:off x="3276600" y="1790700"/>
            <a:ext cx="7620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500" b="1" i="0">
                <a:solidFill>
                  <a:srgbClr val="2B241A"/>
                </a:solidFill>
                <a:latin typeface="Avenir Next"/>
                <a:ea typeface="Avenir Next"/>
                <a:cs typeface="Avenir Next"/>
              </a:defRPr>
            </a:pPr>
            <a:r>
              <a:rPr sz="1500" b="1" i="0">
                <a:solidFill>
                  <a:srgbClr val="2B241A"/>
                </a:solidFill>
                <a:latin typeface="Avenir Next"/>
                <a:ea typeface="Avenir Next"/>
                <a:cs typeface="Avenir Next"/>
              </a:rPr>
              <a:t>Same core idea</a:t>
            </a:r>
          </a:p>
        </p:txBody>
      </p:sp>
      <p:sp>
        <p:nvSpPr>
          <p:cNvPr id="7" name="">
            <a:extLst xmlns:a="http://schemas.openxmlformats.org/drawingml/2006/main">
              <a:ext uri="{FF2B5EF4-FFF2-40B4-BE49-F238E27FC236}">
                <a16:creationId xmlns:a16="http://schemas.microsoft.com/office/drawing/2014/main" id="{ECB8A19D-60FB-4FF3-9D0D-D56327BD50EE}"/>
              </a:ext>
            </a:extLst>
          </p:cNvPr>
          <p:cNvSpPr>
            <a:spLocks xmlns:a="http://schemas.openxmlformats.org/drawingml/2006/main" noGrp="1"/>
          </p:cNvSpPr>
          <p:nvPr/>
        </p:nvSpPr>
        <p:spPr>
          <a:xfrm xmlns:a="http://schemas.openxmlformats.org/drawingml/2006/main">
            <a:off x="819150" y="2533650"/>
            <a:ext cx="400050" cy="400050"/>
          </a:xfrm>
          <a:prstGeom xmlns:a="http://schemas.openxmlformats.org/drawingml/2006/main" prst="roundRect">
            <a:avLst>
              <a:gd name="adj" fmla="val 19048"/>
            </a:avLst>
          </a:prstGeom>
          <a:solidFill xmlns:a="http://schemas.openxmlformats.org/drawingml/2006/main">
            <a:srgbClr val="315E82"/>
          </a:solidFill>
          <a:ln xmlns:a="http://schemas.openxmlformats.org/drawingml/2006/main" w="14288">
            <a:solidFill>
              <a:srgbClr val="315E82"/>
            </a:solidFill>
          </a:ln>
        </p:spPr>
      </p:sp>
      <p:sp>
        <p:nvSpPr>
          <p:cNvPr id="8" name="">
            <a:extLst xmlns:a="http://schemas.openxmlformats.org/drawingml/2006/main">
              <a:ext uri="{FF2B5EF4-FFF2-40B4-BE49-F238E27FC236}">
                <a16:creationId xmlns:a16="http://schemas.microsoft.com/office/drawing/2014/main" id="{1E2075E1-07F6-449F-B0A8-65C50EAF5AD5}"/>
              </a:ext>
            </a:extLst>
          </p:cNvPr>
          <p:cNvSpPr>
            <a:spLocks xmlns:a="http://schemas.openxmlformats.org/drawingml/2006/main" noGrp="1"/>
          </p:cNvSpPr>
          <p:nvPr/>
        </p:nvSpPr>
        <p:spPr>
          <a:xfrm xmlns:a="http://schemas.openxmlformats.org/drawingml/2006/main">
            <a:off x="819150" y="252412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1" i="0">
                <a:solidFill>
                  <a:srgbClr val="FFFDF8"/>
                </a:solidFill>
                <a:latin typeface="Menlo"/>
                <a:ea typeface="Menlo"/>
                <a:cs typeface="Menlo"/>
              </a:defRPr>
            </a:pPr>
            <a:r>
              <a:rPr sz="1200" b="1" i="0">
                <a:solidFill>
                  <a:srgbClr val="FFFDF8"/>
                </a:solidFill>
                <a:latin typeface="Menlo"/>
                <a:ea typeface="Menlo"/>
                <a:cs typeface="Menlo"/>
              </a:rPr>
              <a:t>2</a:t>
            </a:r>
          </a:p>
        </p:txBody>
      </p:sp>
      <p:sp>
        <p:nvSpPr>
          <p:cNvPr id="9" name="">
            <a:extLst xmlns:a="http://schemas.openxmlformats.org/drawingml/2006/main">
              <a:ext uri="{FF2B5EF4-FFF2-40B4-BE49-F238E27FC236}">
                <a16:creationId xmlns:a16="http://schemas.microsoft.com/office/drawing/2014/main" id="{57755DE2-43D1-4264-A9D0-98FE0864FB07}"/>
              </a:ext>
            </a:extLst>
          </p:cNvPr>
          <p:cNvSpPr>
            <a:spLocks xmlns:a="http://schemas.openxmlformats.org/drawingml/2006/main" noGrp="1"/>
          </p:cNvSpPr>
          <p:nvPr/>
        </p:nvSpPr>
        <p:spPr>
          <a:xfrm xmlns:a="http://schemas.openxmlformats.org/drawingml/2006/main">
            <a:off x="1428750" y="2495550"/>
            <a:ext cx="180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050" b="1" i="0">
                <a:solidFill>
                  <a:srgbClr val="315E82"/>
                </a:solidFill>
                <a:latin typeface="Menlo"/>
                <a:ea typeface="Menlo"/>
                <a:cs typeface="Menlo"/>
              </a:defRPr>
            </a:pPr>
            <a:r>
              <a:rPr sz="1050" b="1" i="0">
                <a:solidFill>
                  <a:srgbClr val="315E82"/>
                </a:solidFill>
                <a:latin typeface="Menlo"/>
                <a:ea typeface="Menlo"/>
                <a:cs typeface="Menlo"/>
              </a:rPr>
              <a:t>PRODUCT SET</a:t>
            </a:r>
          </a:p>
        </p:txBody>
      </p:sp>
      <p:sp>
        <p:nvSpPr>
          <p:cNvPr id="10" name="">
            <a:extLst xmlns:a="http://schemas.openxmlformats.org/drawingml/2006/main">
              <a:ext uri="{FF2B5EF4-FFF2-40B4-BE49-F238E27FC236}">
                <a16:creationId xmlns:a16="http://schemas.microsoft.com/office/drawing/2014/main" id="{ED9CABD4-8952-464B-8E3C-2EC3405C7852}"/>
              </a:ext>
            </a:extLst>
          </p:cNvPr>
          <p:cNvSpPr>
            <a:spLocks xmlns:a="http://schemas.openxmlformats.org/drawingml/2006/main" noGrp="1"/>
          </p:cNvSpPr>
          <p:nvPr/>
        </p:nvSpPr>
        <p:spPr>
          <a:xfrm xmlns:a="http://schemas.openxmlformats.org/drawingml/2006/main">
            <a:off x="3276600" y="2495550"/>
            <a:ext cx="7620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500" b="1" i="0">
                <a:solidFill>
                  <a:srgbClr val="2B241A"/>
                </a:solidFill>
                <a:latin typeface="Avenir Next"/>
                <a:ea typeface="Avenir Next"/>
                <a:cs typeface="Avenir Next"/>
              </a:defRPr>
            </a:pPr>
            <a:r>
              <a:rPr sz="1500" b="1" i="0">
                <a:solidFill>
                  <a:srgbClr val="2B241A"/>
                </a:solidFill>
                <a:latin typeface="Avenir Next"/>
                <a:ea typeface="Avenir Next"/>
                <a:cs typeface="Avenir Next"/>
              </a:rPr>
              <a:t>Same names, prices, shapes, colours, materials</a:t>
            </a:r>
          </a:p>
        </p:txBody>
      </p:sp>
      <p:sp>
        <p:nvSpPr>
          <p:cNvPr id="11" name="">
            <a:extLst xmlns:a="http://schemas.openxmlformats.org/drawingml/2006/main">
              <a:ext uri="{FF2B5EF4-FFF2-40B4-BE49-F238E27FC236}">
                <a16:creationId xmlns:a16="http://schemas.microsoft.com/office/drawing/2014/main" id="{3862062C-71D5-40E9-8972-3ECC01B02551}"/>
              </a:ext>
            </a:extLst>
          </p:cNvPr>
          <p:cNvSpPr>
            <a:spLocks xmlns:a="http://schemas.openxmlformats.org/drawingml/2006/main" noGrp="1"/>
          </p:cNvSpPr>
          <p:nvPr/>
        </p:nvSpPr>
        <p:spPr>
          <a:xfrm xmlns:a="http://schemas.openxmlformats.org/drawingml/2006/main">
            <a:off x="819150" y="3238500"/>
            <a:ext cx="400050" cy="400050"/>
          </a:xfrm>
          <a:prstGeom xmlns:a="http://schemas.openxmlformats.org/drawingml/2006/main" prst="roundRect">
            <a:avLst>
              <a:gd name="adj" fmla="val 19048"/>
            </a:avLst>
          </a:prstGeom>
          <a:solidFill xmlns:a="http://schemas.openxmlformats.org/drawingml/2006/main">
            <a:srgbClr val="315E82"/>
          </a:solidFill>
          <a:ln xmlns:a="http://schemas.openxmlformats.org/drawingml/2006/main" w="14288">
            <a:solidFill>
              <a:srgbClr val="315E82"/>
            </a:solidFill>
          </a:ln>
        </p:spPr>
      </p:sp>
      <p:sp>
        <p:nvSpPr>
          <p:cNvPr id="12" name="">
            <a:extLst xmlns:a="http://schemas.openxmlformats.org/drawingml/2006/main">
              <a:ext uri="{FF2B5EF4-FFF2-40B4-BE49-F238E27FC236}">
                <a16:creationId xmlns:a16="http://schemas.microsoft.com/office/drawing/2014/main" id="{32161C45-2F27-4952-A697-819A7B9D7787}"/>
              </a:ext>
            </a:extLst>
          </p:cNvPr>
          <p:cNvSpPr>
            <a:spLocks xmlns:a="http://schemas.openxmlformats.org/drawingml/2006/main" noGrp="1"/>
          </p:cNvSpPr>
          <p:nvPr/>
        </p:nvSpPr>
        <p:spPr>
          <a:xfrm xmlns:a="http://schemas.openxmlformats.org/drawingml/2006/main">
            <a:off x="819150" y="322897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1" i="0">
                <a:solidFill>
                  <a:srgbClr val="FFFDF8"/>
                </a:solidFill>
                <a:latin typeface="Menlo"/>
                <a:ea typeface="Menlo"/>
                <a:cs typeface="Menlo"/>
              </a:defRPr>
            </a:pPr>
            <a:r>
              <a:rPr sz="1200" b="1" i="0">
                <a:solidFill>
                  <a:srgbClr val="FFFDF8"/>
                </a:solidFill>
                <a:latin typeface="Menlo"/>
                <a:ea typeface="Menlo"/>
                <a:cs typeface="Menlo"/>
              </a:rPr>
              <a:t>3</a:t>
            </a:r>
          </a:p>
        </p:txBody>
      </p:sp>
      <p:sp>
        <p:nvSpPr>
          <p:cNvPr id="13" name="">
            <a:extLst xmlns:a="http://schemas.openxmlformats.org/drawingml/2006/main">
              <a:ext uri="{FF2B5EF4-FFF2-40B4-BE49-F238E27FC236}">
                <a16:creationId xmlns:a16="http://schemas.microsoft.com/office/drawing/2014/main" id="{B8846ED8-1CF5-43AA-B5D4-11BEB865BAE0}"/>
              </a:ext>
            </a:extLst>
          </p:cNvPr>
          <p:cNvSpPr>
            <a:spLocks xmlns:a="http://schemas.openxmlformats.org/drawingml/2006/main" noGrp="1"/>
          </p:cNvSpPr>
          <p:nvPr/>
        </p:nvSpPr>
        <p:spPr>
          <a:xfrm xmlns:a="http://schemas.openxmlformats.org/drawingml/2006/main">
            <a:off x="1428750" y="3200400"/>
            <a:ext cx="180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050" b="1" i="0">
                <a:solidFill>
                  <a:srgbClr val="315E82"/>
                </a:solidFill>
                <a:latin typeface="Menlo"/>
                <a:ea typeface="Menlo"/>
                <a:cs typeface="Menlo"/>
              </a:defRPr>
            </a:pPr>
            <a:r>
              <a:rPr sz="1050" b="1" i="0">
                <a:solidFill>
                  <a:srgbClr val="315E82"/>
                </a:solidFill>
                <a:latin typeface="Menlo"/>
                <a:ea typeface="Menlo"/>
                <a:cs typeface="Menlo"/>
              </a:rPr>
              <a:t>DIRECTION</a:t>
            </a:r>
          </a:p>
        </p:txBody>
      </p:sp>
      <p:sp>
        <p:nvSpPr>
          <p:cNvPr id="14" name="">
            <a:extLst xmlns:a="http://schemas.openxmlformats.org/drawingml/2006/main">
              <a:ext uri="{FF2B5EF4-FFF2-40B4-BE49-F238E27FC236}">
                <a16:creationId xmlns:a16="http://schemas.microsoft.com/office/drawing/2014/main" id="{BD286D52-2128-41A8-9613-262BD7E56CC2}"/>
              </a:ext>
            </a:extLst>
          </p:cNvPr>
          <p:cNvSpPr>
            <a:spLocks xmlns:a="http://schemas.openxmlformats.org/drawingml/2006/main" noGrp="1"/>
          </p:cNvSpPr>
          <p:nvPr/>
        </p:nvSpPr>
        <p:spPr>
          <a:xfrm xmlns:a="http://schemas.openxmlformats.org/drawingml/2006/main">
            <a:off x="3276600" y="3200400"/>
            <a:ext cx="7620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500" b="1" i="0">
                <a:solidFill>
                  <a:srgbClr val="2B241A"/>
                </a:solidFill>
                <a:latin typeface="Avenir Next"/>
                <a:ea typeface="Avenir Next"/>
                <a:cs typeface="Avenir Next"/>
              </a:defRPr>
            </a:pPr>
            <a:r>
              <a:rPr sz="1500" b="1" i="0">
                <a:solidFill>
                  <a:srgbClr val="2B241A"/>
                </a:solidFill>
                <a:latin typeface="Avenir Next"/>
                <a:ea typeface="Avenir Next"/>
                <a:cs typeface="Avenir Next"/>
              </a:rPr>
              <a:t>Same palette, type, light, composition, pace</a:t>
            </a:r>
          </a:p>
        </p:txBody>
      </p:sp>
      <p:sp>
        <p:nvSpPr>
          <p:cNvPr id="15" name="">
            <a:extLst xmlns:a="http://schemas.openxmlformats.org/drawingml/2006/main">
              <a:ext uri="{FF2B5EF4-FFF2-40B4-BE49-F238E27FC236}">
                <a16:creationId xmlns:a16="http://schemas.microsoft.com/office/drawing/2014/main" id="{9112652D-73EB-40A6-94B0-EEE43BE21217}"/>
              </a:ext>
            </a:extLst>
          </p:cNvPr>
          <p:cNvSpPr>
            <a:spLocks xmlns:a="http://schemas.openxmlformats.org/drawingml/2006/main" noGrp="1"/>
          </p:cNvSpPr>
          <p:nvPr/>
        </p:nvSpPr>
        <p:spPr>
          <a:xfrm xmlns:a="http://schemas.openxmlformats.org/drawingml/2006/main">
            <a:off x="819150" y="3943350"/>
            <a:ext cx="400050" cy="400050"/>
          </a:xfrm>
          <a:prstGeom xmlns:a="http://schemas.openxmlformats.org/drawingml/2006/main" prst="roundRect">
            <a:avLst>
              <a:gd name="adj" fmla="val 19048"/>
            </a:avLst>
          </a:prstGeom>
          <a:solidFill xmlns:a="http://schemas.openxmlformats.org/drawingml/2006/main">
            <a:srgbClr val="C9473D"/>
          </a:solidFill>
          <a:ln xmlns:a="http://schemas.openxmlformats.org/drawingml/2006/main" w="14288">
            <a:solidFill>
              <a:srgbClr val="C9473D"/>
            </a:solidFill>
          </a:ln>
        </p:spPr>
      </p:sp>
      <p:sp>
        <p:nvSpPr>
          <p:cNvPr id="16" name="">
            <a:extLst xmlns:a="http://schemas.openxmlformats.org/drawingml/2006/main">
              <a:ext uri="{FF2B5EF4-FFF2-40B4-BE49-F238E27FC236}">
                <a16:creationId xmlns:a16="http://schemas.microsoft.com/office/drawing/2014/main" id="{E5EC41BE-764C-41D6-8816-48575BFBDABA}"/>
              </a:ext>
            </a:extLst>
          </p:cNvPr>
          <p:cNvSpPr>
            <a:spLocks xmlns:a="http://schemas.openxmlformats.org/drawingml/2006/main" noGrp="1"/>
          </p:cNvSpPr>
          <p:nvPr/>
        </p:nvSpPr>
        <p:spPr>
          <a:xfrm xmlns:a="http://schemas.openxmlformats.org/drawingml/2006/main">
            <a:off x="819150" y="393382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1" i="0">
                <a:solidFill>
                  <a:srgbClr val="FFFDF8"/>
                </a:solidFill>
                <a:latin typeface="Menlo"/>
                <a:ea typeface="Menlo"/>
                <a:cs typeface="Menlo"/>
              </a:defRPr>
            </a:pPr>
            <a:r>
              <a:rPr sz="1200" b="1" i="0">
                <a:solidFill>
                  <a:srgbClr val="FFFDF8"/>
                </a:solidFill>
                <a:latin typeface="Menlo"/>
                <a:ea typeface="Menlo"/>
                <a:cs typeface="Menlo"/>
              </a:rPr>
              <a:t>4</a:t>
            </a:r>
          </a:p>
        </p:txBody>
      </p:sp>
      <p:sp>
        <p:nvSpPr>
          <p:cNvPr id="17" name="">
            <a:extLst xmlns:a="http://schemas.openxmlformats.org/drawingml/2006/main">
              <a:ext uri="{FF2B5EF4-FFF2-40B4-BE49-F238E27FC236}">
                <a16:creationId xmlns:a16="http://schemas.microsoft.com/office/drawing/2014/main" id="{CAEC6F00-5A0E-434F-846B-932FD1CA0496}"/>
              </a:ext>
            </a:extLst>
          </p:cNvPr>
          <p:cNvSpPr>
            <a:spLocks xmlns:a="http://schemas.openxmlformats.org/drawingml/2006/main" noGrp="1"/>
          </p:cNvSpPr>
          <p:nvPr/>
        </p:nvSpPr>
        <p:spPr>
          <a:xfrm xmlns:a="http://schemas.openxmlformats.org/drawingml/2006/main">
            <a:off x="1428750" y="3905250"/>
            <a:ext cx="180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050" b="1" i="0">
                <a:solidFill>
                  <a:srgbClr val="C9473D"/>
                </a:solidFill>
                <a:latin typeface="Menlo"/>
                <a:ea typeface="Menlo"/>
                <a:cs typeface="Menlo"/>
              </a:defRPr>
            </a:pPr>
            <a:r>
              <a:rPr sz="1050" b="1" i="0">
                <a:solidFill>
                  <a:srgbClr val="C9473D"/>
                </a:solidFill>
                <a:latin typeface="Menlo"/>
                <a:ea typeface="Menlo"/>
                <a:cs typeface="Menlo"/>
              </a:rPr>
              <a:t>TRUTH</a:t>
            </a:r>
          </a:p>
        </p:txBody>
      </p:sp>
      <p:sp>
        <p:nvSpPr>
          <p:cNvPr id="18" name="">
            <a:extLst xmlns:a="http://schemas.openxmlformats.org/drawingml/2006/main">
              <a:ext uri="{FF2B5EF4-FFF2-40B4-BE49-F238E27FC236}">
                <a16:creationId xmlns:a16="http://schemas.microsoft.com/office/drawing/2014/main" id="{FCEF0765-162E-45F8-B131-5597AF6434DC}"/>
              </a:ext>
            </a:extLst>
          </p:cNvPr>
          <p:cNvSpPr>
            <a:spLocks xmlns:a="http://schemas.openxmlformats.org/drawingml/2006/main" noGrp="1"/>
          </p:cNvSpPr>
          <p:nvPr/>
        </p:nvSpPr>
        <p:spPr>
          <a:xfrm xmlns:a="http://schemas.openxmlformats.org/drawingml/2006/main">
            <a:off x="3276600" y="3905250"/>
            <a:ext cx="7620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500" b="1" i="0">
                <a:solidFill>
                  <a:srgbClr val="2B241A"/>
                </a:solidFill>
                <a:latin typeface="Avenir Next"/>
                <a:ea typeface="Avenir Next"/>
                <a:cs typeface="Avenir Next"/>
              </a:defRPr>
            </a:pPr>
            <a:r>
              <a:rPr sz="1500" b="1" i="0">
                <a:solidFill>
                  <a:srgbClr val="2B241A"/>
                </a:solidFill>
                <a:latin typeface="Avenir Next"/>
                <a:ea typeface="Avenir Next"/>
                <a:cs typeface="Avenir Next"/>
              </a:rPr>
              <a:t>No invented products or unsupported claims</a:t>
            </a:r>
          </a:p>
        </p:txBody>
      </p:sp>
      <p:sp>
        <p:nvSpPr>
          <p:cNvPr id="19" name="">
            <a:extLst xmlns:a="http://schemas.openxmlformats.org/drawingml/2006/main">
              <a:ext uri="{FF2B5EF4-FFF2-40B4-BE49-F238E27FC236}">
                <a16:creationId xmlns:a16="http://schemas.microsoft.com/office/drawing/2014/main" id="{696D0AC4-EF2A-42DF-BDB1-206E47800AF3}"/>
              </a:ext>
            </a:extLst>
          </p:cNvPr>
          <p:cNvSpPr>
            <a:spLocks xmlns:a="http://schemas.openxmlformats.org/drawingml/2006/main" noGrp="1"/>
          </p:cNvSpPr>
          <p:nvPr/>
        </p:nvSpPr>
        <p:spPr>
          <a:xfrm xmlns:a="http://schemas.openxmlformats.org/drawingml/2006/main">
            <a:off x="819150" y="4648200"/>
            <a:ext cx="400050" cy="400050"/>
          </a:xfrm>
          <a:prstGeom xmlns:a="http://schemas.openxmlformats.org/drawingml/2006/main" prst="roundRect">
            <a:avLst>
              <a:gd name="adj" fmla="val 19048"/>
            </a:avLst>
          </a:prstGeom>
          <a:solidFill xmlns:a="http://schemas.openxmlformats.org/drawingml/2006/main">
            <a:srgbClr val="315E82"/>
          </a:solidFill>
          <a:ln xmlns:a="http://schemas.openxmlformats.org/drawingml/2006/main" w="14288">
            <a:solidFill>
              <a:srgbClr val="315E82"/>
            </a:solidFill>
          </a:ln>
        </p:spPr>
      </p:sp>
      <p:sp>
        <p:nvSpPr>
          <p:cNvPr id="20" name="">
            <a:extLst xmlns:a="http://schemas.openxmlformats.org/drawingml/2006/main">
              <a:ext uri="{FF2B5EF4-FFF2-40B4-BE49-F238E27FC236}">
                <a16:creationId xmlns:a16="http://schemas.microsoft.com/office/drawing/2014/main" id="{95853E2E-41B8-4A84-B37A-0725F43BEF89}"/>
              </a:ext>
            </a:extLst>
          </p:cNvPr>
          <p:cNvSpPr>
            <a:spLocks xmlns:a="http://schemas.openxmlformats.org/drawingml/2006/main" noGrp="1"/>
          </p:cNvSpPr>
          <p:nvPr/>
        </p:nvSpPr>
        <p:spPr>
          <a:xfrm xmlns:a="http://schemas.openxmlformats.org/drawingml/2006/main">
            <a:off x="819150" y="463867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1" i="0">
                <a:solidFill>
                  <a:srgbClr val="FFFDF8"/>
                </a:solidFill>
                <a:latin typeface="Menlo"/>
                <a:ea typeface="Menlo"/>
                <a:cs typeface="Menlo"/>
              </a:defRPr>
            </a:pPr>
            <a:r>
              <a:rPr sz="1200" b="1" i="0">
                <a:solidFill>
                  <a:srgbClr val="FFFDF8"/>
                </a:solidFill>
                <a:latin typeface="Menlo"/>
                <a:ea typeface="Menlo"/>
                <a:cs typeface="Menlo"/>
              </a:rPr>
              <a:t>5</a:t>
            </a:r>
          </a:p>
        </p:txBody>
      </p:sp>
      <p:sp>
        <p:nvSpPr>
          <p:cNvPr id="21" name="">
            <a:extLst xmlns:a="http://schemas.openxmlformats.org/drawingml/2006/main">
              <a:ext uri="{FF2B5EF4-FFF2-40B4-BE49-F238E27FC236}">
                <a16:creationId xmlns:a16="http://schemas.microsoft.com/office/drawing/2014/main" id="{01DD11FE-248E-4650-BF9B-FB8097AF48AB}"/>
              </a:ext>
            </a:extLst>
          </p:cNvPr>
          <p:cNvSpPr>
            <a:spLocks xmlns:a="http://schemas.openxmlformats.org/drawingml/2006/main" noGrp="1"/>
          </p:cNvSpPr>
          <p:nvPr/>
        </p:nvSpPr>
        <p:spPr>
          <a:xfrm xmlns:a="http://schemas.openxmlformats.org/drawingml/2006/main">
            <a:off x="1428750" y="4610100"/>
            <a:ext cx="180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050" b="1" i="0">
                <a:solidFill>
                  <a:srgbClr val="315E82"/>
                </a:solidFill>
                <a:latin typeface="Menlo"/>
                <a:ea typeface="Menlo"/>
                <a:cs typeface="Menlo"/>
              </a:defRPr>
            </a:pPr>
            <a:r>
              <a:rPr sz="1050" b="1" i="0">
                <a:solidFill>
                  <a:srgbClr val="315E82"/>
                </a:solidFill>
                <a:latin typeface="Menlo"/>
                <a:ea typeface="Menlo"/>
                <a:cs typeface="Menlo"/>
              </a:rPr>
              <a:t>ACTION</a:t>
            </a:r>
          </a:p>
        </p:txBody>
      </p:sp>
      <p:sp>
        <p:nvSpPr>
          <p:cNvPr id="22" name="">
            <a:extLst xmlns:a="http://schemas.openxmlformats.org/drawingml/2006/main">
              <a:ext uri="{FF2B5EF4-FFF2-40B4-BE49-F238E27FC236}">
                <a16:creationId xmlns:a16="http://schemas.microsoft.com/office/drawing/2014/main" id="{163DBCA5-FA8B-4BB6-B1AC-FC02197D30D4}"/>
              </a:ext>
            </a:extLst>
          </p:cNvPr>
          <p:cNvSpPr>
            <a:spLocks xmlns:a="http://schemas.openxmlformats.org/drawingml/2006/main" noGrp="1"/>
          </p:cNvSpPr>
          <p:nvPr/>
        </p:nvSpPr>
        <p:spPr>
          <a:xfrm xmlns:a="http://schemas.openxmlformats.org/drawingml/2006/main">
            <a:off x="3276600" y="4610100"/>
            <a:ext cx="7620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500" b="1" i="0">
                <a:solidFill>
                  <a:srgbClr val="2B241A"/>
                </a:solidFill>
                <a:latin typeface="Avenir Next"/>
                <a:ea typeface="Avenir Next"/>
                <a:cs typeface="Avenir Next"/>
              </a:defRPr>
            </a:pPr>
            <a:r>
              <a:rPr sz="1500" b="1" i="0">
                <a:solidFill>
                  <a:srgbClr val="2B241A"/>
                </a:solidFill>
                <a:latin typeface="Avenir Next"/>
                <a:ea typeface="Avenir Next"/>
                <a:cs typeface="Avenir Next"/>
              </a:rPr>
              <a:t>Clear next step</a:t>
            </a:r>
          </a:p>
        </p:txBody>
      </p:sp>
      <p:sp>
        <p:nvSpPr>
          <p:cNvPr id="23" name="">
            <a:extLst xmlns:a="http://schemas.openxmlformats.org/drawingml/2006/main">
              <a:ext uri="{FF2B5EF4-FFF2-40B4-BE49-F238E27FC236}">
                <a16:creationId xmlns:a16="http://schemas.microsoft.com/office/drawing/2014/main" id="{DCC80327-7B84-4792-9FA9-97E5267558BB}"/>
              </a:ext>
            </a:extLst>
          </p:cNvPr>
          <p:cNvSpPr>
            <a:spLocks xmlns:a="http://schemas.openxmlformats.org/drawingml/2006/main" noGrp="1"/>
          </p:cNvSpPr>
          <p:nvPr/>
        </p:nvSpPr>
        <p:spPr>
          <a:xfrm xmlns:a="http://schemas.openxmlformats.org/drawingml/2006/main">
            <a:off x="723900" y="5857875"/>
            <a:ext cx="142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050" b="1" i="0">
                <a:solidFill>
                  <a:srgbClr val="6A6054"/>
                </a:solidFill>
                <a:latin typeface="Menlo"/>
                <a:ea typeface="Menlo"/>
                <a:cs typeface="Menlo"/>
              </a:defRPr>
            </a:pPr>
            <a:r>
              <a:rPr sz="1050" b="1" i="0">
                <a:solidFill>
                  <a:srgbClr val="6A6054"/>
                </a:solidFill>
                <a:latin typeface="Menlo"/>
                <a:ea typeface="Menlo"/>
                <a:cs typeface="Menlo"/>
              </a:rPr>
              <a:t>10 MINUTES</a:t>
            </a:r>
          </a:p>
        </p:txBody>
      </p:sp>
      <p:sp>
        <p:nvSpPr>
          <p:cNvPr id="24" name="">
            <a:extLst xmlns:a="http://schemas.openxmlformats.org/drawingml/2006/main">
              <a:ext uri="{FF2B5EF4-FFF2-40B4-BE49-F238E27FC236}">
                <a16:creationId xmlns:a16="http://schemas.microsoft.com/office/drawing/2014/main" id="{9661FF71-7918-4DEB-B81E-2ACF4C53FAD7}"/>
              </a:ext>
            </a:extLst>
          </p:cNvPr>
          <p:cNvSpPr>
            <a:spLocks xmlns:a="http://schemas.openxmlformats.org/drawingml/2006/main" noGrp="1"/>
          </p:cNvSpPr>
          <p:nvPr/>
        </p:nvSpPr>
        <p:spPr>
          <a:xfrm xmlns:a="http://schemas.openxmlformats.org/drawingml/2006/main">
            <a:off x="2428875" y="5857875"/>
            <a:ext cx="2381250" cy="304800"/>
          </a:xfrm>
          <a:prstGeom xmlns:a="http://schemas.openxmlformats.org/drawingml/2006/main" prst="roundRect">
            <a:avLst>
              <a:gd name="adj" fmla="val 25000"/>
            </a:avLst>
          </a:prstGeom>
          <a:solidFill xmlns:a="http://schemas.openxmlformats.org/drawingml/2006/main">
            <a:srgbClr val="C8DCE8"/>
          </a:solidFill>
          <a:ln xmlns:a="http://schemas.openxmlformats.org/drawingml/2006/main" w="14288">
            <a:solidFill>
              <a:srgbClr val="C8DCE8"/>
            </a:solidFill>
          </a:ln>
        </p:spPr>
      </p:sp>
      <p:sp>
        <p:nvSpPr>
          <p:cNvPr id="25" name="">
            <a:extLst xmlns:a="http://schemas.openxmlformats.org/drawingml/2006/main">
              <a:ext uri="{FF2B5EF4-FFF2-40B4-BE49-F238E27FC236}">
                <a16:creationId xmlns:a16="http://schemas.microsoft.com/office/drawing/2014/main" id="{9224EBC7-7421-4D70-8F8F-6A5D2EE53815}"/>
              </a:ext>
            </a:extLst>
          </p:cNvPr>
          <p:cNvSpPr>
            <a:spLocks xmlns:a="http://schemas.openxmlformats.org/drawingml/2006/main" noGrp="1"/>
          </p:cNvSpPr>
          <p:nvPr/>
        </p:nvSpPr>
        <p:spPr>
          <a:xfrm xmlns:a="http://schemas.openxmlformats.org/drawingml/2006/main">
            <a:off x="2428875" y="5857875"/>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975" b="1" i="0">
                <a:solidFill>
                  <a:srgbClr val="2B241A"/>
                </a:solidFill>
                <a:latin typeface="Menlo"/>
                <a:ea typeface="Menlo"/>
                <a:cs typeface="Menlo"/>
              </a:defRPr>
            </a:pPr>
            <a:r>
              <a:rPr sz="975" b="1" i="0">
                <a:solidFill>
                  <a:srgbClr val="2B241A"/>
                </a:solidFill>
                <a:latin typeface="Menlo"/>
                <a:ea typeface="Menlo"/>
                <a:cs typeface="Menlo"/>
              </a:rPr>
              <a:t>WATCH 2 MIN</a:t>
            </a:r>
          </a:p>
        </p:txBody>
      </p:sp>
      <p:sp>
        <p:nvSpPr>
          <p:cNvPr id="26" name="">
            <a:extLst xmlns:a="http://schemas.openxmlformats.org/drawingml/2006/main">
              <a:ext uri="{FF2B5EF4-FFF2-40B4-BE49-F238E27FC236}">
                <a16:creationId xmlns:a16="http://schemas.microsoft.com/office/drawing/2014/main" id="{7115E52A-079F-415B-8ECE-9AD6776EF756}"/>
              </a:ext>
            </a:extLst>
          </p:cNvPr>
          <p:cNvSpPr>
            <a:spLocks xmlns:a="http://schemas.openxmlformats.org/drawingml/2006/main" noGrp="1"/>
          </p:cNvSpPr>
          <p:nvPr/>
        </p:nvSpPr>
        <p:spPr>
          <a:xfrm xmlns:a="http://schemas.openxmlformats.org/drawingml/2006/main">
            <a:off x="5000625" y="5857875"/>
            <a:ext cx="2381250" cy="304800"/>
          </a:xfrm>
          <a:prstGeom xmlns:a="http://schemas.openxmlformats.org/drawingml/2006/main" prst="roundRect">
            <a:avLst>
              <a:gd name="adj" fmla="val 25000"/>
            </a:avLst>
          </a:prstGeom>
          <a:solidFill xmlns:a="http://schemas.openxmlformats.org/drawingml/2006/main">
            <a:srgbClr val="BDD4BD"/>
          </a:solidFill>
          <a:ln xmlns:a="http://schemas.openxmlformats.org/drawingml/2006/main" w="14288">
            <a:solidFill>
              <a:srgbClr val="BDD4BD"/>
            </a:solidFill>
          </a:ln>
        </p:spPr>
      </p:sp>
      <p:sp>
        <p:nvSpPr>
          <p:cNvPr id="27" name="">
            <a:extLst xmlns:a="http://schemas.openxmlformats.org/drawingml/2006/main">
              <a:ext uri="{FF2B5EF4-FFF2-40B4-BE49-F238E27FC236}">
                <a16:creationId xmlns:a16="http://schemas.microsoft.com/office/drawing/2014/main" id="{4E5D9C1F-17CA-4E5E-BBF5-41E1BE172AF6}"/>
              </a:ext>
            </a:extLst>
          </p:cNvPr>
          <p:cNvSpPr>
            <a:spLocks xmlns:a="http://schemas.openxmlformats.org/drawingml/2006/main" noGrp="1"/>
          </p:cNvSpPr>
          <p:nvPr/>
        </p:nvSpPr>
        <p:spPr>
          <a:xfrm xmlns:a="http://schemas.openxmlformats.org/drawingml/2006/main">
            <a:off x="5000625" y="5857875"/>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975" b="1" i="0">
                <a:solidFill>
                  <a:srgbClr val="2B241A"/>
                </a:solidFill>
                <a:latin typeface="Menlo"/>
                <a:ea typeface="Menlo"/>
                <a:cs typeface="Menlo"/>
              </a:defRPr>
            </a:pPr>
            <a:r>
              <a:rPr sz="975" b="1" i="0">
                <a:solidFill>
                  <a:srgbClr val="2B241A"/>
                </a:solidFill>
                <a:latin typeface="Menlo"/>
                <a:ea typeface="Menlo"/>
                <a:cs typeface="Menlo"/>
              </a:rPr>
              <a:t>BUILD 6 MIN</a:t>
            </a:r>
          </a:p>
        </p:txBody>
      </p:sp>
      <p:sp>
        <p:nvSpPr>
          <p:cNvPr id="28" name="">
            <a:extLst xmlns:a="http://schemas.openxmlformats.org/drawingml/2006/main">
              <a:ext uri="{FF2B5EF4-FFF2-40B4-BE49-F238E27FC236}">
                <a16:creationId xmlns:a16="http://schemas.microsoft.com/office/drawing/2014/main" id="{134201C7-9BB2-469F-B982-E0BD4A330D43}"/>
              </a:ext>
            </a:extLst>
          </p:cNvPr>
          <p:cNvSpPr>
            <a:spLocks xmlns:a="http://schemas.openxmlformats.org/drawingml/2006/main" noGrp="1"/>
          </p:cNvSpPr>
          <p:nvPr/>
        </p:nvSpPr>
        <p:spPr>
          <a:xfrm xmlns:a="http://schemas.openxmlformats.org/drawingml/2006/main">
            <a:off x="7572375" y="5857875"/>
            <a:ext cx="2381250" cy="304800"/>
          </a:xfrm>
          <a:prstGeom xmlns:a="http://schemas.openxmlformats.org/drawingml/2006/main" prst="roundRect">
            <a:avLst>
              <a:gd name="adj" fmla="val 25000"/>
            </a:avLst>
          </a:prstGeom>
          <a:solidFill xmlns:a="http://schemas.openxmlformats.org/drawingml/2006/main">
            <a:srgbClr val="EEC7C2"/>
          </a:solidFill>
          <a:ln xmlns:a="http://schemas.openxmlformats.org/drawingml/2006/main" w="14288">
            <a:solidFill>
              <a:srgbClr val="EEC7C2"/>
            </a:solidFill>
          </a:ln>
        </p:spPr>
      </p:sp>
      <p:sp>
        <p:nvSpPr>
          <p:cNvPr id="29" name="">
            <a:extLst xmlns:a="http://schemas.openxmlformats.org/drawingml/2006/main">
              <a:ext uri="{FF2B5EF4-FFF2-40B4-BE49-F238E27FC236}">
                <a16:creationId xmlns:a16="http://schemas.microsoft.com/office/drawing/2014/main" id="{31E00BC1-B278-4D3D-BFB8-95BC099F5793}"/>
              </a:ext>
            </a:extLst>
          </p:cNvPr>
          <p:cNvSpPr>
            <a:spLocks xmlns:a="http://schemas.openxmlformats.org/drawingml/2006/main" noGrp="1"/>
          </p:cNvSpPr>
          <p:nvPr/>
        </p:nvSpPr>
        <p:spPr>
          <a:xfrm xmlns:a="http://schemas.openxmlformats.org/drawingml/2006/main">
            <a:off x="7572375" y="5857875"/>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975" b="1" i="0">
                <a:solidFill>
                  <a:srgbClr val="2B241A"/>
                </a:solidFill>
                <a:latin typeface="Menlo"/>
                <a:ea typeface="Menlo"/>
                <a:cs typeface="Menlo"/>
              </a:defRPr>
            </a:pPr>
            <a:r>
              <a:rPr sz="975" b="1" i="0">
                <a:solidFill>
                  <a:srgbClr val="2B241A"/>
                </a:solidFill>
                <a:latin typeface="Menlo"/>
                <a:ea typeface="Menlo"/>
                <a:cs typeface="Menlo"/>
              </a:rPr>
              <a:t>CHECK 2 MIN</a:t>
            </a:r>
          </a:p>
        </p:txBody>
      </p:sp>
    </p:spTree>
    <p:extLst>
      <p:ext uri="{BB962C8B-B14F-4D97-AF65-F5344CB8AC3E}">
        <p14:creationId xmlns:p14="http://schemas.microsoft.com/office/powerpoint/2010/main" val="2041829172"/>
      </p:ext>
    </p:extLst>
  </p:cSld>
</p:sld>
</file>

<file path=ppt/slides/slide15.xml><?xml version="1.0" encoding="utf-8"?>
<p:sld xmlns:p="http://schemas.openxmlformats.org/presentationml/2006/main">
  <p:cSld>
    <p:bg>
      <p:bgPr>
        <a:solidFill xmlns:a="http://schemas.openxmlformats.org/drawingml/2006/main">
          <a:srgbClr val="2B241A"/>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1CCB6CD-1B22-46A6-8735-7F2803046366}"/>
              </a:ext>
            </a:extLst>
          </p:cNvPr>
          <p:cNvSpPr>
            <a:spLocks xmlns:a="http://schemas.openxmlformats.org/drawingml/2006/main" noGrp="1"/>
          </p:cNvSpPr>
          <p:nvPr/>
        </p:nvSpPr>
        <p:spPr>
          <a:xfrm xmlns:a="http://schemas.openxmlformats.org/drawingml/2006/main">
            <a:off x="723900" y="590550"/>
            <a:ext cx="10744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3600" b="1" i="0">
                <a:solidFill>
                  <a:srgbClr val="FFFDF8"/>
                </a:solidFill>
                <a:latin typeface="Georgia"/>
                <a:ea typeface="Georgia"/>
                <a:cs typeface="Georgia"/>
              </a:defRPr>
            </a:pPr>
            <a:r>
              <a:rPr sz="3600" b="1" i="0">
                <a:solidFill>
                  <a:srgbClr val="FFFDF8"/>
                </a:solidFill>
                <a:latin typeface="Georgia"/>
                <a:ea typeface="Georgia"/>
                <a:cs typeface="Georgia"/>
              </a:rPr>
              <a:t>Show the system working</a:t>
            </a:r>
          </a:p>
        </p:txBody>
      </p:sp>
      <p:sp>
        <p:nvSpPr>
          <p:cNvPr id="2" name="">
            <a:extLst xmlns:a="http://schemas.openxmlformats.org/drawingml/2006/main">
              <a:ext uri="{FF2B5EF4-FFF2-40B4-BE49-F238E27FC236}">
                <a16:creationId xmlns:a16="http://schemas.microsoft.com/office/drawing/2014/main" id="{3AE7FE5F-C0CC-4C1F-9C5E-BA72EDD45ED6}"/>
              </a:ext>
            </a:extLst>
          </p:cNvPr>
          <p:cNvSpPr>
            <a:spLocks xmlns:a="http://schemas.openxmlformats.org/drawingml/2006/main" noGrp="1"/>
          </p:cNvSpPr>
          <p:nvPr/>
        </p:nvSpPr>
        <p:spPr>
          <a:xfrm xmlns:a="http://schemas.openxmlformats.org/drawingml/2006/main">
            <a:off x="742950" y="1381125"/>
            <a:ext cx="10744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575" b="0" i="0">
                <a:solidFill>
                  <a:srgbClr val="C8DCE8"/>
                </a:solidFill>
                <a:latin typeface="Avenir Next"/>
                <a:ea typeface="Avenir Next"/>
                <a:cs typeface="Avenir Next"/>
              </a:defRPr>
            </a:pPr>
            <a:r>
              <a:rPr sz="1575" b="0" i="0">
                <a:solidFill>
                  <a:srgbClr val="C8DCE8"/>
                </a:solidFill>
                <a:latin typeface="Avenir Next"/>
                <a:ea typeface="Avenir Next"/>
                <a:cs typeface="Avenir Next"/>
              </a:rPr>
              <a:t>A 30-second share</a:t>
            </a:r>
          </a:p>
        </p:txBody>
      </p:sp>
      <p:sp>
        <p:nvSpPr>
          <p:cNvPr id="3" name="">
            <a:extLst xmlns:a="http://schemas.openxmlformats.org/drawingml/2006/main">
              <a:ext uri="{FF2B5EF4-FFF2-40B4-BE49-F238E27FC236}">
                <a16:creationId xmlns:a16="http://schemas.microsoft.com/office/drawing/2014/main" id="{1DE88680-FFEB-4D43-AE7B-29202FAD558E}"/>
              </a:ext>
            </a:extLst>
          </p:cNvPr>
          <p:cNvSpPr>
            <a:spLocks xmlns:a="http://schemas.openxmlformats.org/drawingml/2006/main" noGrp="1"/>
          </p:cNvSpPr>
          <p:nvPr/>
        </p:nvSpPr>
        <p:spPr>
          <a:xfrm xmlns:a="http://schemas.openxmlformats.org/drawingml/2006/main">
            <a:off x="781050" y="2152650"/>
            <a:ext cx="5524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275" b="1" i="0">
                <a:solidFill>
                  <a:srgbClr val="C9473D"/>
                </a:solidFill>
                <a:latin typeface="Menlo"/>
                <a:ea typeface="Menlo"/>
                <a:cs typeface="Menlo"/>
              </a:defRPr>
            </a:pPr>
            <a:r>
              <a:rPr sz="1275" b="1" i="0">
                <a:solidFill>
                  <a:srgbClr val="C9473D"/>
                </a:solidFill>
                <a:latin typeface="Menlo"/>
                <a:ea typeface="Menlo"/>
                <a:cs typeface="Menlo"/>
              </a:rPr>
              <a:t>01</a:t>
            </a:r>
          </a:p>
        </p:txBody>
      </p:sp>
      <p:sp>
        <p:nvSpPr>
          <p:cNvPr id="4" name="">
            <a:extLst xmlns:a="http://schemas.openxmlformats.org/drawingml/2006/main">
              <a:ext uri="{FF2B5EF4-FFF2-40B4-BE49-F238E27FC236}">
                <a16:creationId xmlns:a16="http://schemas.microsoft.com/office/drawing/2014/main" id="{E4441C90-56A8-4104-A1F8-A8228D470214}"/>
              </a:ext>
            </a:extLst>
          </p:cNvPr>
          <p:cNvSpPr>
            <a:spLocks xmlns:a="http://schemas.openxmlformats.org/drawingml/2006/main" noGrp="1"/>
          </p:cNvSpPr>
          <p:nvPr/>
        </p:nvSpPr>
        <p:spPr>
          <a:xfrm xmlns:a="http://schemas.openxmlformats.org/drawingml/2006/main">
            <a:off x="1524000" y="2152650"/>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125" b="1" i="0">
                <a:solidFill>
                  <a:srgbClr val="C8DCE8"/>
                </a:solidFill>
                <a:latin typeface="Menlo"/>
                <a:ea typeface="Menlo"/>
                <a:cs typeface="Menlo"/>
              </a:defRPr>
            </a:pPr>
            <a:r>
              <a:rPr sz="1125" b="1" i="0">
                <a:solidFill>
                  <a:srgbClr val="C8DCE8"/>
                </a:solidFill>
                <a:latin typeface="Menlo"/>
                <a:ea typeface="Menlo"/>
                <a:cs typeface="Menlo"/>
              </a:rPr>
              <a:t>IDEA</a:t>
            </a:r>
          </a:p>
        </p:txBody>
      </p:sp>
      <p:sp>
        <p:nvSpPr>
          <p:cNvPr id="5" name="">
            <a:extLst xmlns:a="http://schemas.openxmlformats.org/drawingml/2006/main">
              <a:ext uri="{FF2B5EF4-FFF2-40B4-BE49-F238E27FC236}">
                <a16:creationId xmlns:a16="http://schemas.microsoft.com/office/drawing/2014/main" id="{939EBD46-E11A-44EA-A3C5-4C2ADD2A1A9A}"/>
              </a:ext>
            </a:extLst>
          </p:cNvPr>
          <p:cNvSpPr>
            <a:spLocks xmlns:a="http://schemas.openxmlformats.org/drawingml/2006/main" noGrp="1"/>
          </p:cNvSpPr>
          <p:nvPr/>
        </p:nvSpPr>
        <p:spPr>
          <a:xfrm xmlns:a="http://schemas.openxmlformats.org/drawingml/2006/main">
            <a:off x="3714750" y="2124075"/>
            <a:ext cx="723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1" i="0">
                <a:solidFill>
                  <a:srgbClr val="FFFDF8"/>
                </a:solidFill>
                <a:latin typeface="Avenir Next"/>
                <a:ea typeface="Avenir Next"/>
                <a:cs typeface="Avenir Next"/>
              </a:defRPr>
            </a:pPr>
            <a:r>
              <a:rPr sz="1875" b="1" i="0">
                <a:solidFill>
                  <a:srgbClr val="FFFDF8"/>
                </a:solidFill>
                <a:latin typeface="Avenir Next"/>
                <a:ea typeface="Avenir Next"/>
                <a:cs typeface="Avenir Next"/>
              </a:rPr>
              <a:t>One sentence from STORE-KIT.md</a:t>
            </a:r>
          </a:p>
        </p:txBody>
      </p:sp>
      <p:sp>
        <p:nvSpPr>
          <p:cNvPr id="6" name="">
            <a:extLst xmlns:a="http://schemas.openxmlformats.org/drawingml/2006/main">
              <a:ext uri="{FF2B5EF4-FFF2-40B4-BE49-F238E27FC236}">
                <a16:creationId xmlns:a16="http://schemas.microsoft.com/office/drawing/2014/main" id="{11FCFFCB-CE46-434E-A181-07407573B4A7}"/>
              </a:ext>
            </a:extLst>
          </p:cNvPr>
          <p:cNvSpPr>
            <a:spLocks xmlns:a="http://schemas.openxmlformats.org/drawingml/2006/main" noGrp="1"/>
          </p:cNvSpPr>
          <p:nvPr/>
        </p:nvSpPr>
        <p:spPr>
          <a:xfrm xmlns:a="http://schemas.openxmlformats.org/drawingml/2006/main">
            <a:off x="781050" y="3048000"/>
            <a:ext cx="5524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275" b="1" i="0">
                <a:solidFill>
                  <a:srgbClr val="C9473D"/>
                </a:solidFill>
                <a:latin typeface="Menlo"/>
                <a:ea typeface="Menlo"/>
                <a:cs typeface="Menlo"/>
              </a:defRPr>
            </a:pPr>
            <a:r>
              <a:rPr sz="1275" b="1" i="0">
                <a:solidFill>
                  <a:srgbClr val="C9473D"/>
                </a:solidFill>
                <a:latin typeface="Menlo"/>
                <a:ea typeface="Menlo"/>
                <a:cs typeface="Menlo"/>
              </a:rPr>
              <a:t>02</a:t>
            </a:r>
          </a:p>
        </p:txBody>
      </p:sp>
      <p:sp>
        <p:nvSpPr>
          <p:cNvPr id="7" name="">
            <a:extLst xmlns:a="http://schemas.openxmlformats.org/drawingml/2006/main">
              <a:ext uri="{FF2B5EF4-FFF2-40B4-BE49-F238E27FC236}">
                <a16:creationId xmlns:a16="http://schemas.microsoft.com/office/drawing/2014/main" id="{A5424871-D660-4889-A787-E2CF60301B4B}"/>
              </a:ext>
            </a:extLst>
          </p:cNvPr>
          <p:cNvSpPr>
            <a:spLocks xmlns:a="http://schemas.openxmlformats.org/drawingml/2006/main" noGrp="1"/>
          </p:cNvSpPr>
          <p:nvPr/>
        </p:nvSpPr>
        <p:spPr>
          <a:xfrm xmlns:a="http://schemas.openxmlformats.org/drawingml/2006/main">
            <a:off x="1524000" y="3048000"/>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125" b="1" i="0">
                <a:solidFill>
                  <a:srgbClr val="C8DCE8"/>
                </a:solidFill>
                <a:latin typeface="Menlo"/>
                <a:ea typeface="Menlo"/>
                <a:cs typeface="Menlo"/>
              </a:defRPr>
            </a:pPr>
            <a:r>
              <a:rPr sz="1125" b="1" i="0">
                <a:solidFill>
                  <a:srgbClr val="C8DCE8"/>
                </a:solidFill>
                <a:latin typeface="Menlo"/>
                <a:ea typeface="Menlo"/>
                <a:cs typeface="Menlo"/>
              </a:rPr>
              <a:t>OUTPUTS</a:t>
            </a:r>
          </a:p>
        </p:txBody>
      </p:sp>
      <p:sp>
        <p:nvSpPr>
          <p:cNvPr id="8" name="">
            <a:extLst xmlns:a="http://schemas.openxmlformats.org/drawingml/2006/main">
              <a:ext uri="{FF2B5EF4-FFF2-40B4-BE49-F238E27FC236}">
                <a16:creationId xmlns:a16="http://schemas.microsoft.com/office/drawing/2014/main" id="{928064D2-37EB-4F9D-990A-FA916B5A9407}"/>
              </a:ext>
            </a:extLst>
          </p:cNvPr>
          <p:cNvSpPr>
            <a:spLocks xmlns:a="http://schemas.openxmlformats.org/drawingml/2006/main" noGrp="1"/>
          </p:cNvSpPr>
          <p:nvPr/>
        </p:nvSpPr>
        <p:spPr>
          <a:xfrm xmlns:a="http://schemas.openxmlformats.org/drawingml/2006/main">
            <a:off x="3714750" y="3019425"/>
            <a:ext cx="723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1" i="0">
                <a:solidFill>
                  <a:srgbClr val="FFFDF8"/>
                </a:solidFill>
                <a:latin typeface="Avenir Next"/>
                <a:ea typeface="Avenir Next"/>
                <a:cs typeface="Avenir Next"/>
              </a:defRPr>
            </a:pPr>
            <a:r>
              <a:rPr sz="1875" b="1" i="0">
                <a:solidFill>
                  <a:srgbClr val="FFFDF8"/>
                </a:solidFill>
                <a:latin typeface="Avenir Next"/>
                <a:ea typeface="Avenir Next"/>
                <a:cs typeface="Avenir Next"/>
              </a:rPr>
              <a:t>Website, social image, video</a:t>
            </a:r>
          </a:p>
        </p:txBody>
      </p:sp>
      <p:sp>
        <p:nvSpPr>
          <p:cNvPr id="9" name="">
            <a:extLst xmlns:a="http://schemas.openxmlformats.org/drawingml/2006/main">
              <a:ext uri="{FF2B5EF4-FFF2-40B4-BE49-F238E27FC236}">
                <a16:creationId xmlns:a16="http://schemas.microsoft.com/office/drawing/2014/main" id="{CD172A1F-26D8-4C2D-B24C-9BFE6BA00DD7}"/>
              </a:ext>
            </a:extLst>
          </p:cNvPr>
          <p:cNvSpPr>
            <a:spLocks xmlns:a="http://schemas.openxmlformats.org/drawingml/2006/main" noGrp="1"/>
          </p:cNvSpPr>
          <p:nvPr/>
        </p:nvSpPr>
        <p:spPr>
          <a:xfrm xmlns:a="http://schemas.openxmlformats.org/drawingml/2006/main">
            <a:off x="781050" y="3943350"/>
            <a:ext cx="5524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275" b="1" i="0">
                <a:solidFill>
                  <a:srgbClr val="C9473D"/>
                </a:solidFill>
                <a:latin typeface="Menlo"/>
                <a:ea typeface="Menlo"/>
                <a:cs typeface="Menlo"/>
              </a:defRPr>
            </a:pPr>
            <a:r>
              <a:rPr sz="1275" b="1" i="0">
                <a:solidFill>
                  <a:srgbClr val="C9473D"/>
                </a:solidFill>
                <a:latin typeface="Menlo"/>
                <a:ea typeface="Menlo"/>
                <a:cs typeface="Menlo"/>
              </a:rPr>
              <a:t>03</a:t>
            </a:r>
          </a:p>
        </p:txBody>
      </p:sp>
      <p:sp>
        <p:nvSpPr>
          <p:cNvPr id="10" name="">
            <a:extLst xmlns:a="http://schemas.openxmlformats.org/drawingml/2006/main">
              <a:ext uri="{FF2B5EF4-FFF2-40B4-BE49-F238E27FC236}">
                <a16:creationId xmlns:a16="http://schemas.microsoft.com/office/drawing/2014/main" id="{0D716786-3B17-4E15-BB39-F395FF0C8475}"/>
              </a:ext>
            </a:extLst>
          </p:cNvPr>
          <p:cNvSpPr>
            <a:spLocks xmlns:a="http://schemas.openxmlformats.org/drawingml/2006/main" noGrp="1"/>
          </p:cNvSpPr>
          <p:nvPr/>
        </p:nvSpPr>
        <p:spPr>
          <a:xfrm xmlns:a="http://schemas.openxmlformats.org/drawingml/2006/main">
            <a:off x="1524000" y="3943350"/>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125" b="1" i="0">
                <a:solidFill>
                  <a:srgbClr val="C8DCE8"/>
                </a:solidFill>
                <a:latin typeface="Menlo"/>
                <a:ea typeface="Menlo"/>
                <a:cs typeface="Menlo"/>
              </a:defRPr>
            </a:pPr>
            <a:r>
              <a:rPr sz="1125" b="1" i="0">
                <a:solidFill>
                  <a:srgbClr val="C8DCE8"/>
                </a:solidFill>
                <a:latin typeface="Menlo"/>
                <a:ea typeface="Menlo"/>
                <a:cs typeface="Menlo"/>
              </a:rPr>
              <a:t>JUDGMENT</a:t>
            </a:r>
          </a:p>
        </p:txBody>
      </p:sp>
      <p:sp>
        <p:nvSpPr>
          <p:cNvPr id="11" name="">
            <a:extLst xmlns:a="http://schemas.openxmlformats.org/drawingml/2006/main">
              <a:ext uri="{FF2B5EF4-FFF2-40B4-BE49-F238E27FC236}">
                <a16:creationId xmlns:a16="http://schemas.microsoft.com/office/drawing/2014/main" id="{7F04377A-3186-4A97-9EC7-2C5669969331}"/>
              </a:ext>
            </a:extLst>
          </p:cNvPr>
          <p:cNvSpPr>
            <a:spLocks xmlns:a="http://schemas.openxmlformats.org/drawingml/2006/main" noGrp="1"/>
          </p:cNvSpPr>
          <p:nvPr/>
        </p:nvSpPr>
        <p:spPr>
          <a:xfrm xmlns:a="http://schemas.openxmlformats.org/drawingml/2006/main">
            <a:off x="3714750" y="3914775"/>
            <a:ext cx="723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1" i="0">
                <a:solidFill>
                  <a:srgbClr val="FFFDF8"/>
                </a:solidFill>
                <a:latin typeface="Avenir Next"/>
                <a:ea typeface="Avenir Next"/>
                <a:cs typeface="Avenir Next"/>
              </a:defRPr>
            </a:pPr>
            <a:r>
              <a:rPr sz="1875" b="1" i="0">
                <a:solidFill>
                  <a:srgbClr val="FFFDF8"/>
                </a:solidFill>
                <a:latin typeface="Avenir Next"/>
                <a:ea typeface="Avenir Next"/>
                <a:cs typeface="Avenir Next"/>
              </a:rPr>
              <a:t>One choice that improved the set</a:t>
            </a:r>
          </a:p>
        </p:txBody>
      </p:sp>
      <p:sp>
        <p:nvSpPr>
          <p:cNvPr id="12" name="">
            <a:extLst xmlns:a="http://schemas.openxmlformats.org/drawingml/2006/main">
              <a:ext uri="{FF2B5EF4-FFF2-40B4-BE49-F238E27FC236}">
                <a16:creationId xmlns:a16="http://schemas.microsoft.com/office/drawing/2014/main" id="{A025F515-4729-4A9C-8CB1-0E0F1E94877E}"/>
              </a:ext>
            </a:extLst>
          </p:cNvPr>
          <p:cNvSpPr>
            <a:spLocks xmlns:a="http://schemas.openxmlformats.org/drawingml/2006/main" noGrp="1"/>
          </p:cNvSpPr>
          <p:nvPr/>
        </p:nvSpPr>
        <p:spPr>
          <a:xfrm xmlns:a="http://schemas.openxmlformats.org/drawingml/2006/main">
            <a:off x="723900" y="4972050"/>
            <a:ext cx="10744200" cy="876300"/>
          </a:xfrm>
          <a:prstGeom xmlns:a="http://schemas.openxmlformats.org/drawingml/2006/main" prst="roundRect">
            <a:avLst>
              <a:gd name="adj" fmla="val 8696"/>
            </a:avLst>
          </a:prstGeom>
          <a:solidFill xmlns:a="http://schemas.openxmlformats.org/drawingml/2006/main">
            <a:srgbClr val="F5EDDD"/>
          </a:solidFill>
          <a:ln xmlns:a="http://schemas.openxmlformats.org/drawingml/2006/main" w="14288">
            <a:solidFill>
              <a:srgbClr val="F5EDDD"/>
            </a:solidFill>
          </a:ln>
        </p:spPr>
      </p:sp>
      <p:sp>
        <p:nvSpPr>
          <p:cNvPr id="13" name="">
            <a:extLst xmlns:a="http://schemas.openxmlformats.org/drawingml/2006/main">
              <a:ext uri="{FF2B5EF4-FFF2-40B4-BE49-F238E27FC236}">
                <a16:creationId xmlns:a16="http://schemas.microsoft.com/office/drawing/2014/main" id="{52D7F61D-63AA-4EB6-9833-7A29D0CB877B}"/>
              </a:ext>
            </a:extLst>
          </p:cNvPr>
          <p:cNvSpPr>
            <a:spLocks xmlns:a="http://schemas.openxmlformats.org/drawingml/2006/main" noGrp="1"/>
          </p:cNvSpPr>
          <p:nvPr/>
        </p:nvSpPr>
        <p:spPr>
          <a:xfrm xmlns:a="http://schemas.openxmlformats.org/drawingml/2006/main">
            <a:off x="952500" y="5105400"/>
            <a:ext cx="1028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1" i="0">
                <a:solidFill>
                  <a:srgbClr val="2B241A"/>
                </a:solidFill>
                <a:latin typeface="Menlo"/>
                <a:ea typeface="Menlo"/>
                <a:cs typeface="Menlo"/>
              </a:defRPr>
            </a:pPr>
            <a:r>
              <a:rPr sz="1200" b="1" i="0">
                <a:solidFill>
                  <a:srgbClr val="2B241A"/>
                </a:solidFill>
                <a:latin typeface="Menlo"/>
                <a:ea typeface="Menlo"/>
                <a:cs typeface="Menlo"/>
              </a:rPr>
              <a:t>SUBMIT  Store Kit  ·  reference  ·  website  ·  social  ·  video  ·  check</a:t>
            </a:r>
          </a:p>
        </p:txBody>
      </p:sp>
    </p:spTree>
    <p:extLst>
      <p:ext uri="{BB962C8B-B14F-4D97-AF65-F5344CB8AC3E}">
        <p14:creationId xmlns:p14="http://schemas.microsoft.com/office/powerpoint/2010/main" val="154581273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2026-09-25T07:41:28.8150000Z</dcterms:created>
  <dcterms:modified xsi:type="dcterms:W3CDTF">2026-09-25T07:41:28.8150000Z</dcterms:modified>
</coreProperties>
</file>